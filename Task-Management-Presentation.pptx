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2370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Say: Today I'll walk you through my Week 3 and Week 4 project — a full-stack Task Management System built with Spring Boot, JWT security, Role-Based Access Control, and deployed live on Render.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agenda overview. Tell them: We'll start with the tech stack, then walk through what I built in Week 3, what I added in Week 4, and end with a live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tech stack. Highlight: Spring Boot for the backend API, Spring Security + JWT for authentication, H2 for local dev and MySQL for production, and Swagger for API documentation.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was about building the foundation. JWT auth, full CRUD for tasks, and a clean frontend UI. The app already had role enums but they weren't enforced yet — that came in Week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added the advanced features. The biggest ones are RBAC — where roles are now actually enforced, not just stored — and the Admin Panel where you can manage users from the UI. Also added overdue detection, email notifications, Swagger docs, and deployed to Render.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access control table. Key point: regular users can only see their own tasks. Only admins can view all tasks, assign tasks, and manage users. This is enforced with @PreAuthorize annotations on every endpoint.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deployed live on Render using Docker. Every push to GitHub triggers an automatic redeploy. The free tier is good enough for demo purposes. Show the live URL to evaluators.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of endpoints. Auth is public. Task endpoints require a JWT token. Admin endpoints require ROLE_ADMIN. The overdue endpoint is new in Week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Spring Boot layered architecture. Each layer has a clear responsibility. Files marked W4 are new in Week 4. The security layer handles JWT filtering for every request.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directly to the evaluation criteria from HR. Technical implementation is covered by RBAC, notifications, and deployment. Code quality shows in the architecture and validation. Documentation is the Swagger UI and README.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live demo. Open the browser, go to the live URL, register a new user, create a task with a past due date to show overdue badge, then log in as admin to show the admin panel. Open Swagger UI as the final wow factor.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1B4F9C">
              <a:alpha val="25000"/>
            </a:srgbClr>
          </a:solidFill>
          <a:ln w="12700">
            <a:solidFill>
              <a:srgbClr val="1B4F9C">
                <a:alpha val="25000"/>
              </a:srgbClr>
            </a:solidFill>
            <a:prstDash val="solid"/>
          </a:ln>
        </p:spPr>
      </p:sp>
      <p:sp>
        <p:nvSpPr>
          <p:cNvPr id="3" name="Shape 1"/>
          <p:cNvSpPr/>
          <p:nvPr/>
        </p:nvSpPr>
        <p:spPr>
          <a:xfrm>
            <a:off x="-914400" y="2286000"/>
            <a:ext cx="3200400" cy="3200400"/>
          </a:xfrm>
          <a:prstGeom prst="ellipse">
            <a:avLst/>
          </a:prstGeom>
          <a:solidFill>
            <a:srgbClr val="0EA5E9">
              <a:alpha val="20000"/>
            </a:srgbClr>
          </a:solidFill>
          <a:ln w="12700">
            <a:solidFill>
              <a:srgbClr val="0EA5E9">
                <a:alpha val="20000"/>
              </a:srgbClr>
            </a:solidFill>
            <a:prstDash val="solid"/>
          </a:ln>
        </p:spPr>
      </p:sp>
      <p:sp>
        <p:nvSpPr>
          <p:cNvPr id="4" name="Text 2"/>
          <p:cNvSpPr/>
          <p:nvPr/>
        </p:nvSpPr>
        <p:spPr>
          <a:xfrm>
            <a:off x="548640" y="1097280"/>
            <a:ext cx="8046720" cy="457200"/>
          </a:xfrm>
          <a:prstGeom prst="rect">
            <a:avLst/>
          </a:prstGeom>
          <a:noFill/>
          <a:ln/>
        </p:spPr>
        <p:txBody>
          <a:bodyPr wrap="square" rtlCol="0" anchor="ctr"/>
          <a:lstStyle/>
          <a:p>
            <a:pPr marL="0" indent="0" algn="l">
              <a:buNone/>
            </a:pPr>
            <a:r>
              <a:rPr lang="en-US" sz="1300" b="1" kern="0" spc="400" dirty="0">
                <a:solidFill>
                  <a:srgbClr val="0EA5E9"/>
                </a:solidFill>
              </a:rPr>
              <a:t>TASK MANAGEMENT SYSTEM</a:t>
            </a:r>
            <a:endParaRPr lang="en-US" sz="1300" dirty="0"/>
          </a:p>
        </p:txBody>
      </p:sp>
      <p:sp>
        <p:nvSpPr>
          <p:cNvPr id="5" name="Text 3"/>
          <p:cNvSpPr/>
          <p:nvPr/>
        </p:nvSpPr>
        <p:spPr>
          <a:xfrm>
            <a:off x="548640" y="1600200"/>
            <a:ext cx="7315200" cy="1005840"/>
          </a:xfrm>
          <a:prstGeom prst="rect">
            <a:avLst/>
          </a:prstGeom>
          <a:noFill/>
          <a:ln/>
        </p:spPr>
        <p:txBody>
          <a:bodyPr wrap="square" rtlCol="0" anchor="ctr"/>
          <a:lstStyle/>
          <a:p>
            <a:pPr marL="0" indent="0" algn="l">
              <a:buNone/>
            </a:pPr>
            <a:r>
              <a:rPr lang="en-US" sz="4800" b="1" dirty="0">
                <a:solidFill>
                  <a:srgbClr val="FFFFFF"/>
                </a:solidFill>
              </a:rPr>
              <a:t>Week 3 + Week 4</a:t>
            </a:r>
            <a:endParaRPr lang="en-US" sz="4800" dirty="0"/>
          </a:p>
        </p:txBody>
      </p:sp>
      <p:sp>
        <p:nvSpPr>
          <p:cNvPr id="6" name="Text 4"/>
          <p:cNvSpPr/>
          <p:nvPr/>
        </p:nvSpPr>
        <p:spPr>
          <a:xfrm>
            <a:off x="548640" y="2651760"/>
            <a:ext cx="7315200" cy="457200"/>
          </a:xfrm>
          <a:prstGeom prst="rect">
            <a:avLst/>
          </a:prstGeom>
          <a:noFill/>
          <a:ln/>
        </p:spPr>
        <p:txBody>
          <a:bodyPr wrap="square" rtlCol="0" anchor="ctr"/>
          <a:lstStyle/>
          <a:p>
            <a:pPr marL="0" indent="0" algn="l">
              <a:buNone/>
            </a:pPr>
            <a:r>
              <a:rPr lang="en-US" sz="1800" dirty="0">
                <a:solidFill>
                  <a:srgbClr val="94A3B8"/>
                </a:solidFill>
              </a:rPr>
              <a:t>Final Project Presentation</a:t>
            </a:r>
            <a:endParaRPr lang="en-US" sz="1800" dirty="0"/>
          </a:p>
        </p:txBody>
      </p:sp>
      <p:sp>
        <p:nvSpPr>
          <p:cNvPr id="7" name="Shape 5"/>
          <p:cNvSpPr/>
          <p:nvPr/>
        </p:nvSpPr>
        <p:spPr>
          <a:xfrm>
            <a:off x="548640" y="3246120"/>
            <a:ext cx="2286000" cy="45720"/>
          </a:xfrm>
          <a:prstGeom prst="rect">
            <a:avLst/>
          </a:prstGeom>
          <a:solidFill>
            <a:srgbClr val="0EA5E9"/>
          </a:solidFill>
          <a:ln w="12700">
            <a:solidFill>
              <a:srgbClr val="0EA5E9"/>
            </a:solidFill>
            <a:prstDash val="solid"/>
          </a:ln>
        </p:spPr>
      </p:sp>
      <p:sp>
        <p:nvSpPr>
          <p:cNvPr id="8" name="Text 6"/>
          <p:cNvSpPr/>
          <p:nvPr/>
        </p:nvSpPr>
        <p:spPr>
          <a:xfrm>
            <a:off x="548640" y="3429000"/>
            <a:ext cx="7315200" cy="822960"/>
          </a:xfrm>
          <a:prstGeom prst="rect">
            <a:avLst/>
          </a:prstGeom>
          <a:noFill/>
          <a:ln/>
        </p:spPr>
        <p:txBody>
          <a:bodyPr wrap="square" rtlCol="0" anchor="ctr"/>
          <a:lstStyle/>
          <a:p>
            <a:pPr marL="0" indent="0" algn="l">
              <a:buNone/>
            </a:pPr>
            <a:r>
              <a:rPr lang="en-US" sz="1400" b="1" dirty="0">
                <a:solidFill>
                  <a:srgbClr val="94A3B8"/>
                </a:solidFill>
              </a:rPr>
              <a:t>Jeevan Kumar Gujja</a:t>
            </a:r>
          </a:p>
          <a:p>
            <a:pPr marL="0" indent="0" algn="l">
              <a:buNone/>
            </a:pPr>
            <a:r>
              <a:rPr lang="en-US" sz="1400" b="1" dirty="0">
                <a:solidFill>
                  <a:srgbClr val="94A3B8"/>
                </a:solidFill>
              </a:rPr>
              <a:t>jeevan@hashclicksolutions.com</a:t>
            </a:r>
            <a:endParaRPr lang="en-US" sz="1400" dirty="0"/>
          </a:p>
          <a:p>
            <a:pPr marL="0" indent="0" algn="l">
              <a:buNone/>
            </a:pPr>
            <a:r>
              <a:rPr lang="en-US" sz="1400" dirty="0">
                <a:solidFill>
                  <a:srgbClr val="94A3B8"/>
                </a:solidFill>
              </a:rPr>
              <a:t>Java Developer   |  Hashclick Solutions LLC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marL="0" indent="0">
              <a:buNone/>
            </a:pPr>
            <a:r>
              <a:rPr lang="en-US" sz="3200" b="1" dirty="0">
                <a:solidFill>
                  <a:srgbClr val="0A1628"/>
                </a:solidFill>
              </a:rPr>
              <a:t>Agenda</a:t>
            </a:r>
            <a:endParaRPr lang="en-US" sz="3200" dirty="0"/>
          </a:p>
        </p:txBody>
      </p:sp>
      <p:sp>
        <p:nvSpPr>
          <p:cNvPr id="3" name="Shape 1"/>
          <p:cNvSpPr/>
          <p:nvPr/>
        </p:nvSpPr>
        <p:spPr>
          <a:xfrm>
            <a:off x="457200" y="914400"/>
            <a:ext cx="8229600" cy="36576"/>
          </a:xfrm>
          <a:prstGeom prst="rect">
            <a:avLst/>
          </a:prstGeom>
          <a:solidFill>
            <a:srgbClr val="F0F7FF"/>
          </a:solidFill>
          <a:ln w="12700">
            <a:solidFill>
              <a:srgbClr val="F0F7FF"/>
            </a:solidFill>
            <a:prstDash val="solid"/>
          </a:ln>
        </p:spPr>
      </p:sp>
      <p:sp>
        <p:nvSpPr>
          <p:cNvPr id="4" name="Shape 2"/>
          <p:cNvSpPr/>
          <p:nvPr/>
        </p:nvSpPr>
        <p:spPr>
          <a:xfrm>
            <a:off x="457200" y="1051560"/>
            <a:ext cx="8229600" cy="658368"/>
          </a:xfrm>
          <a:prstGeom prst="roundRect">
            <a:avLst>
              <a:gd name="adj" fmla="val 11111"/>
            </a:avLst>
          </a:prstGeom>
          <a:solidFill>
            <a:srgbClr val="F0F7FF"/>
          </a:solidFill>
          <a:ln w="12700">
            <a:solidFill>
              <a:srgbClr val="E2E8F0"/>
            </a:solidFill>
            <a:prstDash val="solid"/>
          </a:ln>
        </p:spPr>
      </p:sp>
      <p:sp>
        <p:nvSpPr>
          <p:cNvPr id="5" name="Shape 3"/>
          <p:cNvSpPr/>
          <p:nvPr/>
        </p:nvSpPr>
        <p:spPr>
          <a:xfrm>
            <a:off x="566928" y="1161288"/>
            <a:ext cx="438912" cy="438912"/>
          </a:xfrm>
          <a:prstGeom prst="roundRect">
            <a:avLst>
              <a:gd name="adj" fmla="val 12500"/>
            </a:avLst>
          </a:prstGeom>
          <a:solidFill>
            <a:srgbClr val="1B4F9C"/>
          </a:solidFill>
          <a:ln w="12700">
            <a:solidFill>
              <a:srgbClr val="1B4F9C"/>
            </a:solidFill>
            <a:prstDash val="solid"/>
          </a:ln>
        </p:spPr>
      </p:sp>
      <p:sp>
        <p:nvSpPr>
          <p:cNvPr id="6" name="Text 4"/>
          <p:cNvSpPr/>
          <p:nvPr/>
        </p:nvSpPr>
        <p:spPr>
          <a:xfrm>
            <a:off x="566928" y="1161288"/>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7" name="Text 5"/>
          <p:cNvSpPr/>
          <p:nvPr/>
        </p:nvSpPr>
        <p:spPr>
          <a:xfrm>
            <a:off x="1115568" y="1124712"/>
            <a:ext cx="4114800" cy="256032"/>
          </a:xfrm>
          <a:prstGeom prst="rect">
            <a:avLst/>
          </a:prstGeom>
          <a:noFill/>
          <a:ln/>
        </p:spPr>
        <p:txBody>
          <a:bodyPr wrap="square" lIns="0" tIns="0" rIns="0" bIns="0" rtlCol="0" anchor="ctr"/>
          <a:lstStyle/>
          <a:p>
            <a:pPr marL="0" indent="0">
              <a:buNone/>
            </a:pPr>
            <a:r>
              <a:rPr lang="en-US" sz="1300" b="1" dirty="0">
                <a:solidFill>
                  <a:srgbClr val="1E293B"/>
                </a:solidFill>
              </a:rPr>
              <a:t>Project Overview</a:t>
            </a:r>
            <a:endParaRPr lang="en-US" sz="1300" dirty="0"/>
          </a:p>
        </p:txBody>
      </p:sp>
      <p:sp>
        <p:nvSpPr>
          <p:cNvPr id="8" name="Text 6"/>
          <p:cNvSpPr/>
          <p:nvPr/>
        </p:nvSpPr>
        <p:spPr>
          <a:xfrm>
            <a:off x="1115568" y="1380744"/>
            <a:ext cx="5029200" cy="219456"/>
          </a:xfrm>
          <a:prstGeom prst="rect">
            <a:avLst/>
          </a:prstGeom>
          <a:noFill/>
          <a:ln/>
        </p:spPr>
        <p:txBody>
          <a:bodyPr wrap="square" lIns="0" tIns="0" rIns="0" bIns="0" rtlCol="0" anchor="ctr"/>
          <a:lstStyle/>
          <a:p>
            <a:pPr marL="0" indent="0">
              <a:buNone/>
            </a:pPr>
            <a:r>
              <a:rPr lang="en-US" sz="1100" dirty="0">
                <a:solidFill>
                  <a:srgbClr val="64748B"/>
                </a:solidFill>
              </a:rPr>
              <a:t>Tech stack &amp; architecture</a:t>
            </a:r>
            <a:endParaRPr lang="en-US" sz="1100" dirty="0"/>
          </a:p>
        </p:txBody>
      </p:sp>
      <p:sp>
        <p:nvSpPr>
          <p:cNvPr id="9" name="Shape 7"/>
          <p:cNvSpPr/>
          <p:nvPr/>
        </p:nvSpPr>
        <p:spPr>
          <a:xfrm>
            <a:off x="457200" y="1819656"/>
            <a:ext cx="8229600" cy="658368"/>
          </a:xfrm>
          <a:prstGeom prst="roundRect">
            <a:avLst>
              <a:gd name="adj" fmla="val 11111"/>
            </a:avLst>
          </a:prstGeom>
          <a:solidFill>
            <a:srgbClr val="F8FAFC"/>
          </a:solidFill>
          <a:ln w="12700">
            <a:solidFill>
              <a:srgbClr val="E2E8F0"/>
            </a:solidFill>
            <a:prstDash val="solid"/>
          </a:ln>
        </p:spPr>
      </p:sp>
      <p:sp>
        <p:nvSpPr>
          <p:cNvPr id="10" name="Shape 8"/>
          <p:cNvSpPr/>
          <p:nvPr/>
        </p:nvSpPr>
        <p:spPr>
          <a:xfrm>
            <a:off x="566928" y="1929384"/>
            <a:ext cx="438912" cy="438912"/>
          </a:xfrm>
          <a:prstGeom prst="roundRect">
            <a:avLst>
              <a:gd name="adj" fmla="val 12500"/>
            </a:avLst>
          </a:prstGeom>
          <a:solidFill>
            <a:srgbClr val="1B4F9C"/>
          </a:solidFill>
          <a:ln w="12700">
            <a:solidFill>
              <a:srgbClr val="1B4F9C"/>
            </a:solidFill>
            <a:prstDash val="solid"/>
          </a:ln>
        </p:spPr>
      </p:sp>
      <p:sp>
        <p:nvSpPr>
          <p:cNvPr id="11" name="Text 9"/>
          <p:cNvSpPr/>
          <p:nvPr/>
        </p:nvSpPr>
        <p:spPr>
          <a:xfrm>
            <a:off x="566928" y="1929384"/>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2" name="Text 10"/>
          <p:cNvSpPr/>
          <p:nvPr/>
        </p:nvSpPr>
        <p:spPr>
          <a:xfrm>
            <a:off x="1115568" y="1892808"/>
            <a:ext cx="4114800" cy="256032"/>
          </a:xfrm>
          <a:prstGeom prst="rect">
            <a:avLst/>
          </a:prstGeom>
          <a:noFill/>
          <a:ln/>
        </p:spPr>
        <p:txBody>
          <a:bodyPr wrap="square" lIns="0" tIns="0" rIns="0" bIns="0" rtlCol="0" anchor="ctr"/>
          <a:lstStyle/>
          <a:p>
            <a:pPr marL="0" indent="0">
              <a:buNone/>
            </a:pPr>
            <a:r>
              <a:rPr lang="en-US" sz="1300" b="1" dirty="0">
                <a:solidFill>
                  <a:srgbClr val="1E293B"/>
                </a:solidFill>
              </a:rPr>
              <a:t>Week 3 — Core Features</a:t>
            </a:r>
            <a:endParaRPr lang="en-US" sz="1300" dirty="0"/>
          </a:p>
        </p:txBody>
      </p:sp>
      <p:sp>
        <p:nvSpPr>
          <p:cNvPr id="13" name="Text 11"/>
          <p:cNvSpPr/>
          <p:nvPr/>
        </p:nvSpPr>
        <p:spPr>
          <a:xfrm>
            <a:off x="1115568" y="2148840"/>
            <a:ext cx="5029200" cy="219456"/>
          </a:xfrm>
          <a:prstGeom prst="rect">
            <a:avLst/>
          </a:prstGeom>
          <a:noFill/>
          <a:ln/>
        </p:spPr>
        <p:txBody>
          <a:bodyPr wrap="square" lIns="0" tIns="0" rIns="0" bIns="0" rtlCol="0" anchor="ctr"/>
          <a:lstStyle/>
          <a:p>
            <a:pPr marL="0" indent="0">
              <a:buNone/>
            </a:pPr>
            <a:r>
              <a:rPr lang="en-US" sz="1100" dirty="0">
                <a:solidFill>
                  <a:srgbClr val="64748B"/>
                </a:solidFill>
              </a:rPr>
              <a:t>JWT auth, Task CRUD, Frontend UI</a:t>
            </a:r>
            <a:endParaRPr lang="en-US" sz="1100" dirty="0"/>
          </a:p>
        </p:txBody>
      </p:sp>
      <p:sp>
        <p:nvSpPr>
          <p:cNvPr id="14" name="Shape 12"/>
          <p:cNvSpPr/>
          <p:nvPr/>
        </p:nvSpPr>
        <p:spPr>
          <a:xfrm>
            <a:off x="457200" y="2587752"/>
            <a:ext cx="8229600" cy="658368"/>
          </a:xfrm>
          <a:prstGeom prst="roundRect">
            <a:avLst>
              <a:gd name="adj" fmla="val 11111"/>
            </a:avLst>
          </a:prstGeom>
          <a:solidFill>
            <a:srgbClr val="F0F7FF"/>
          </a:solidFill>
          <a:ln w="12700">
            <a:solidFill>
              <a:srgbClr val="E2E8F0"/>
            </a:solidFill>
            <a:prstDash val="solid"/>
          </a:ln>
        </p:spPr>
      </p:sp>
      <p:sp>
        <p:nvSpPr>
          <p:cNvPr id="15" name="Shape 13"/>
          <p:cNvSpPr/>
          <p:nvPr/>
        </p:nvSpPr>
        <p:spPr>
          <a:xfrm>
            <a:off x="566928" y="2697480"/>
            <a:ext cx="438912" cy="438912"/>
          </a:xfrm>
          <a:prstGeom prst="roundRect">
            <a:avLst>
              <a:gd name="adj" fmla="val 12500"/>
            </a:avLst>
          </a:prstGeom>
          <a:solidFill>
            <a:srgbClr val="1B4F9C"/>
          </a:solidFill>
          <a:ln w="12700">
            <a:solidFill>
              <a:srgbClr val="1B4F9C"/>
            </a:solidFill>
            <a:prstDash val="solid"/>
          </a:ln>
        </p:spPr>
      </p:sp>
      <p:sp>
        <p:nvSpPr>
          <p:cNvPr id="16" name="Text 14"/>
          <p:cNvSpPr/>
          <p:nvPr/>
        </p:nvSpPr>
        <p:spPr>
          <a:xfrm>
            <a:off x="566928" y="2697480"/>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7" name="Text 15"/>
          <p:cNvSpPr/>
          <p:nvPr/>
        </p:nvSpPr>
        <p:spPr>
          <a:xfrm>
            <a:off x="1115568" y="2660904"/>
            <a:ext cx="4114800" cy="256032"/>
          </a:xfrm>
          <a:prstGeom prst="rect">
            <a:avLst/>
          </a:prstGeom>
          <a:noFill/>
          <a:ln/>
        </p:spPr>
        <p:txBody>
          <a:bodyPr wrap="square" lIns="0" tIns="0" rIns="0" bIns="0" rtlCol="0" anchor="ctr"/>
          <a:lstStyle/>
          <a:p>
            <a:pPr marL="0" indent="0">
              <a:buNone/>
            </a:pPr>
            <a:r>
              <a:rPr lang="en-US" sz="1300" b="1" dirty="0">
                <a:solidFill>
                  <a:srgbClr val="1E293B"/>
                </a:solidFill>
              </a:rPr>
              <a:t>Week 4 — Advanced Features</a:t>
            </a:r>
            <a:endParaRPr lang="en-US" sz="1300" dirty="0"/>
          </a:p>
        </p:txBody>
      </p:sp>
      <p:sp>
        <p:nvSpPr>
          <p:cNvPr id="18" name="Text 16"/>
          <p:cNvSpPr/>
          <p:nvPr/>
        </p:nvSpPr>
        <p:spPr>
          <a:xfrm>
            <a:off x="1115568" y="2916936"/>
            <a:ext cx="5029200" cy="219456"/>
          </a:xfrm>
          <a:prstGeom prst="rect">
            <a:avLst/>
          </a:prstGeom>
          <a:noFill/>
          <a:ln/>
        </p:spPr>
        <p:txBody>
          <a:bodyPr wrap="square" lIns="0" tIns="0" rIns="0" bIns="0" rtlCol="0" anchor="ctr"/>
          <a:lstStyle/>
          <a:p>
            <a:pPr marL="0" indent="0">
              <a:buNone/>
            </a:pPr>
            <a:r>
              <a:rPr lang="en-US" sz="1100" dirty="0">
                <a:solidFill>
                  <a:srgbClr val="64748B"/>
                </a:solidFill>
              </a:rPr>
              <a:t>RBAC, Notifications, Admin Panel, Swagger</a:t>
            </a:r>
            <a:endParaRPr lang="en-US" sz="1100" dirty="0"/>
          </a:p>
        </p:txBody>
      </p:sp>
      <p:sp>
        <p:nvSpPr>
          <p:cNvPr id="19" name="Shape 17"/>
          <p:cNvSpPr/>
          <p:nvPr/>
        </p:nvSpPr>
        <p:spPr>
          <a:xfrm>
            <a:off x="457200" y="3355848"/>
            <a:ext cx="8229600" cy="658368"/>
          </a:xfrm>
          <a:prstGeom prst="roundRect">
            <a:avLst>
              <a:gd name="adj" fmla="val 11111"/>
            </a:avLst>
          </a:prstGeom>
          <a:solidFill>
            <a:srgbClr val="F8FAFC"/>
          </a:solidFill>
          <a:ln w="12700">
            <a:solidFill>
              <a:srgbClr val="E2E8F0"/>
            </a:solidFill>
            <a:prstDash val="solid"/>
          </a:ln>
        </p:spPr>
      </p:sp>
      <p:sp>
        <p:nvSpPr>
          <p:cNvPr id="20" name="Shape 18"/>
          <p:cNvSpPr/>
          <p:nvPr/>
        </p:nvSpPr>
        <p:spPr>
          <a:xfrm>
            <a:off x="566928" y="3465576"/>
            <a:ext cx="438912" cy="438912"/>
          </a:xfrm>
          <a:prstGeom prst="roundRect">
            <a:avLst>
              <a:gd name="adj" fmla="val 12500"/>
            </a:avLst>
          </a:prstGeom>
          <a:solidFill>
            <a:srgbClr val="1B4F9C"/>
          </a:solidFill>
          <a:ln w="12700">
            <a:solidFill>
              <a:srgbClr val="1B4F9C"/>
            </a:solidFill>
            <a:prstDash val="solid"/>
          </a:ln>
        </p:spPr>
      </p:sp>
      <p:sp>
        <p:nvSpPr>
          <p:cNvPr id="21" name="Text 19"/>
          <p:cNvSpPr/>
          <p:nvPr/>
        </p:nvSpPr>
        <p:spPr>
          <a:xfrm>
            <a:off x="566928" y="3465576"/>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2" name="Text 20"/>
          <p:cNvSpPr/>
          <p:nvPr/>
        </p:nvSpPr>
        <p:spPr>
          <a:xfrm>
            <a:off x="1115568" y="3429000"/>
            <a:ext cx="4114800" cy="256032"/>
          </a:xfrm>
          <a:prstGeom prst="rect">
            <a:avLst/>
          </a:prstGeom>
          <a:noFill/>
          <a:ln/>
        </p:spPr>
        <p:txBody>
          <a:bodyPr wrap="square" lIns="0" tIns="0" rIns="0" bIns="0" rtlCol="0" anchor="ctr"/>
          <a:lstStyle/>
          <a:p>
            <a:pPr marL="0" indent="0">
              <a:buNone/>
            </a:pPr>
            <a:r>
              <a:rPr lang="en-US" sz="1300" b="1" dirty="0">
                <a:solidFill>
                  <a:srgbClr val="1E293B"/>
                </a:solidFill>
              </a:rPr>
              <a:t>Live Deployment</a:t>
            </a:r>
            <a:endParaRPr lang="en-US" sz="1300" dirty="0"/>
          </a:p>
        </p:txBody>
      </p:sp>
      <p:sp>
        <p:nvSpPr>
          <p:cNvPr id="23" name="Text 21"/>
          <p:cNvSpPr/>
          <p:nvPr/>
        </p:nvSpPr>
        <p:spPr>
          <a:xfrm>
            <a:off x="1115568" y="3685032"/>
            <a:ext cx="5029200" cy="219456"/>
          </a:xfrm>
          <a:prstGeom prst="rect">
            <a:avLst/>
          </a:prstGeom>
          <a:noFill/>
          <a:ln/>
        </p:spPr>
        <p:txBody>
          <a:bodyPr wrap="square" lIns="0" tIns="0" rIns="0" bIns="0" rtlCol="0" anchor="ctr"/>
          <a:lstStyle/>
          <a:p>
            <a:pPr marL="0" indent="0">
              <a:buNone/>
            </a:pPr>
            <a:r>
              <a:rPr lang="en-US" sz="1100" dirty="0">
                <a:solidFill>
                  <a:srgbClr val="64748B"/>
                </a:solidFill>
              </a:rPr>
              <a:t>Render cloud deployment + live demo</a:t>
            </a:r>
            <a:endParaRPr lang="en-US" sz="1100" dirty="0"/>
          </a:p>
        </p:txBody>
      </p:sp>
      <p:sp>
        <p:nvSpPr>
          <p:cNvPr id="24" name="Shape 22"/>
          <p:cNvSpPr/>
          <p:nvPr/>
        </p:nvSpPr>
        <p:spPr>
          <a:xfrm>
            <a:off x="457200" y="4123944"/>
            <a:ext cx="8229600" cy="658368"/>
          </a:xfrm>
          <a:prstGeom prst="roundRect">
            <a:avLst>
              <a:gd name="adj" fmla="val 11111"/>
            </a:avLst>
          </a:prstGeom>
          <a:solidFill>
            <a:srgbClr val="F0F7FF"/>
          </a:solidFill>
          <a:ln w="12700">
            <a:solidFill>
              <a:srgbClr val="E2E8F0"/>
            </a:solidFill>
            <a:prstDash val="solid"/>
          </a:ln>
        </p:spPr>
      </p:sp>
      <p:sp>
        <p:nvSpPr>
          <p:cNvPr id="25" name="Shape 23"/>
          <p:cNvSpPr/>
          <p:nvPr/>
        </p:nvSpPr>
        <p:spPr>
          <a:xfrm>
            <a:off x="566928" y="4233672"/>
            <a:ext cx="438912" cy="438912"/>
          </a:xfrm>
          <a:prstGeom prst="roundRect">
            <a:avLst>
              <a:gd name="adj" fmla="val 12500"/>
            </a:avLst>
          </a:prstGeom>
          <a:solidFill>
            <a:srgbClr val="1B4F9C"/>
          </a:solidFill>
          <a:ln w="12700">
            <a:solidFill>
              <a:srgbClr val="1B4F9C"/>
            </a:solidFill>
            <a:prstDash val="solid"/>
          </a:ln>
        </p:spPr>
      </p:sp>
      <p:sp>
        <p:nvSpPr>
          <p:cNvPr id="26" name="Text 24"/>
          <p:cNvSpPr/>
          <p:nvPr/>
        </p:nvSpPr>
        <p:spPr>
          <a:xfrm>
            <a:off x="566928" y="4233672"/>
            <a:ext cx="438912" cy="438912"/>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27" name="Text 25"/>
          <p:cNvSpPr/>
          <p:nvPr/>
        </p:nvSpPr>
        <p:spPr>
          <a:xfrm>
            <a:off x="1115568" y="4197096"/>
            <a:ext cx="4114800" cy="256032"/>
          </a:xfrm>
          <a:prstGeom prst="rect">
            <a:avLst/>
          </a:prstGeom>
          <a:noFill/>
          <a:ln/>
        </p:spPr>
        <p:txBody>
          <a:bodyPr wrap="square" lIns="0" tIns="0" rIns="0" bIns="0" rtlCol="0" anchor="ctr"/>
          <a:lstStyle/>
          <a:p>
            <a:pPr marL="0" indent="0">
              <a:buNone/>
            </a:pPr>
            <a:r>
              <a:rPr lang="en-US" sz="1300" b="1" dirty="0">
                <a:solidFill>
                  <a:srgbClr val="1E293B"/>
                </a:solidFill>
              </a:rPr>
              <a:t>API Documentation</a:t>
            </a:r>
            <a:endParaRPr lang="en-US" sz="1300" dirty="0"/>
          </a:p>
        </p:txBody>
      </p:sp>
      <p:sp>
        <p:nvSpPr>
          <p:cNvPr id="28" name="Text 26"/>
          <p:cNvSpPr/>
          <p:nvPr/>
        </p:nvSpPr>
        <p:spPr>
          <a:xfrm>
            <a:off x="1115568" y="4453128"/>
            <a:ext cx="5029200" cy="219456"/>
          </a:xfrm>
          <a:prstGeom prst="rect">
            <a:avLst/>
          </a:prstGeom>
          <a:noFill/>
          <a:ln/>
        </p:spPr>
        <p:txBody>
          <a:bodyPr wrap="square" lIns="0" tIns="0" rIns="0" bIns="0" rtlCol="0" anchor="ctr"/>
          <a:lstStyle/>
          <a:p>
            <a:pPr marL="0" indent="0">
              <a:buNone/>
            </a:pPr>
            <a:r>
              <a:rPr lang="en-US" sz="1100" dirty="0">
                <a:solidFill>
                  <a:srgbClr val="64748B"/>
                </a:solidFill>
              </a:rPr>
              <a:t>Swagger UI walkthrough</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3200" b="1" dirty="0">
                <a:solidFill>
                  <a:srgbClr val="0A1628"/>
                </a:solidFill>
              </a:rPr>
              <a:t>Tech Stack</a:t>
            </a:r>
            <a:endParaRPr lang="en-US" sz="3200" dirty="0"/>
          </a:p>
        </p:txBody>
      </p:sp>
      <p:sp>
        <p:nvSpPr>
          <p:cNvPr id="3" name="Text 1"/>
          <p:cNvSpPr/>
          <p:nvPr/>
        </p:nvSpPr>
        <p:spPr>
          <a:xfrm>
            <a:off x="457200" y="804672"/>
            <a:ext cx="8229600" cy="274320"/>
          </a:xfrm>
          <a:prstGeom prst="rect">
            <a:avLst/>
          </a:prstGeom>
          <a:noFill/>
          <a:ln/>
        </p:spPr>
        <p:txBody>
          <a:bodyPr wrap="square" rtlCol="0" anchor="ctr"/>
          <a:lstStyle/>
          <a:p>
            <a:pPr marL="0" indent="0">
              <a:buNone/>
            </a:pPr>
            <a:r>
              <a:rPr lang="en-US" sz="1300" dirty="0">
                <a:solidFill>
                  <a:srgbClr val="64748B"/>
                </a:solidFill>
              </a:rPr>
              <a:t>Technologies used to build the system</a:t>
            </a:r>
            <a:endParaRPr lang="en-US" sz="1300" dirty="0"/>
          </a:p>
        </p:txBody>
      </p:sp>
      <p:sp>
        <p:nvSpPr>
          <p:cNvPr id="4" name="Shape 2"/>
          <p:cNvSpPr/>
          <p:nvPr/>
        </p:nvSpPr>
        <p:spPr>
          <a:xfrm>
            <a:off x="365760" y="1234440"/>
            <a:ext cx="1920240" cy="1463040"/>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5" name="Shape 3"/>
          <p:cNvSpPr/>
          <p:nvPr/>
        </p:nvSpPr>
        <p:spPr>
          <a:xfrm>
            <a:off x="1005840" y="1417320"/>
            <a:ext cx="640080" cy="640080"/>
          </a:xfrm>
          <a:prstGeom prst="roundRect">
            <a:avLst>
              <a:gd name="adj" fmla="val 11429"/>
            </a:avLst>
          </a:prstGeom>
          <a:solidFill>
            <a:srgbClr val="E84D22"/>
          </a:solidFill>
          <a:ln w="12700">
            <a:solidFill>
              <a:srgbClr val="E84D22"/>
            </a:solidFill>
            <a:prstDash val="solid"/>
          </a:ln>
        </p:spPr>
      </p:sp>
      <p:sp>
        <p:nvSpPr>
          <p:cNvPr id="6" name="Text 4"/>
          <p:cNvSpPr/>
          <p:nvPr/>
        </p:nvSpPr>
        <p:spPr>
          <a:xfrm>
            <a:off x="365760" y="2148840"/>
            <a:ext cx="1920240" cy="274320"/>
          </a:xfrm>
          <a:prstGeom prst="rect">
            <a:avLst/>
          </a:prstGeom>
          <a:noFill/>
          <a:ln/>
        </p:spPr>
        <p:txBody>
          <a:bodyPr wrap="square" lIns="0" tIns="0" rIns="0" bIns="0" rtlCol="0" anchor="ctr"/>
          <a:lstStyle/>
          <a:p>
            <a:pPr marL="0" indent="0" algn="ctr">
              <a:buNone/>
            </a:pPr>
            <a:r>
              <a:rPr lang="en-US" sz="1200" b="1" dirty="0">
                <a:solidFill>
                  <a:srgbClr val="1E293B"/>
                </a:solidFill>
              </a:rPr>
              <a:t>Java 17</a:t>
            </a:r>
            <a:endParaRPr lang="en-US" sz="1200" dirty="0"/>
          </a:p>
        </p:txBody>
      </p:sp>
      <p:sp>
        <p:nvSpPr>
          <p:cNvPr id="7" name="Text 5"/>
          <p:cNvSpPr/>
          <p:nvPr/>
        </p:nvSpPr>
        <p:spPr>
          <a:xfrm>
            <a:off x="365760" y="2404872"/>
            <a:ext cx="1920240" cy="201168"/>
          </a:xfrm>
          <a:prstGeom prst="rect">
            <a:avLst/>
          </a:prstGeom>
          <a:noFill/>
          <a:ln/>
        </p:spPr>
        <p:txBody>
          <a:bodyPr wrap="square" lIns="0" tIns="0" rIns="0" bIns="0" rtlCol="0" anchor="ctr"/>
          <a:lstStyle/>
          <a:p>
            <a:pPr marL="0" indent="0" algn="ctr">
              <a:buNone/>
            </a:pPr>
            <a:r>
              <a:rPr lang="en-US" sz="1000" dirty="0">
                <a:solidFill>
                  <a:srgbClr val="64748B"/>
                </a:solidFill>
              </a:rPr>
              <a:t>Language</a:t>
            </a:r>
            <a:endParaRPr lang="en-US" sz="1000" dirty="0"/>
          </a:p>
        </p:txBody>
      </p:sp>
      <p:sp>
        <p:nvSpPr>
          <p:cNvPr id="8" name="Shape 6"/>
          <p:cNvSpPr/>
          <p:nvPr/>
        </p:nvSpPr>
        <p:spPr>
          <a:xfrm>
            <a:off x="2487168" y="1234440"/>
            <a:ext cx="1920240" cy="1463040"/>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9" name="Shape 7"/>
          <p:cNvSpPr/>
          <p:nvPr/>
        </p:nvSpPr>
        <p:spPr>
          <a:xfrm>
            <a:off x="3127248" y="1417320"/>
            <a:ext cx="640080" cy="640080"/>
          </a:xfrm>
          <a:prstGeom prst="roundRect">
            <a:avLst>
              <a:gd name="adj" fmla="val 11429"/>
            </a:avLst>
          </a:prstGeom>
          <a:solidFill>
            <a:srgbClr val="6DB33F"/>
          </a:solidFill>
          <a:ln w="12700">
            <a:solidFill>
              <a:srgbClr val="6DB33F"/>
            </a:solidFill>
            <a:prstDash val="solid"/>
          </a:ln>
        </p:spPr>
      </p:sp>
      <p:sp>
        <p:nvSpPr>
          <p:cNvPr id="10" name="Text 8"/>
          <p:cNvSpPr/>
          <p:nvPr/>
        </p:nvSpPr>
        <p:spPr>
          <a:xfrm>
            <a:off x="2487168" y="2148840"/>
            <a:ext cx="1920240" cy="274320"/>
          </a:xfrm>
          <a:prstGeom prst="rect">
            <a:avLst/>
          </a:prstGeom>
          <a:noFill/>
          <a:ln/>
        </p:spPr>
        <p:txBody>
          <a:bodyPr wrap="square" lIns="0" tIns="0" rIns="0" bIns="0" rtlCol="0" anchor="ctr"/>
          <a:lstStyle/>
          <a:p>
            <a:pPr marL="0" indent="0" algn="ctr">
              <a:buNone/>
            </a:pPr>
            <a:r>
              <a:rPr lang="en-US" sz="1200" b="1" dirty="0">
                <a:solidFill>
                  <a:srgbClr val="1E293B"/>
                </a:solidFill>
              </a:rPr>
              <a:t>Spring Boot 3</a:t>
            </a:r>
            <a:endParaRPr lang="en-US" sz="1200" dirty="0"/>
          </a:p>
        </p:txBody>
      </p:sp>
      <p:sp>
        <p:nvSpPr>
          <p:cNvPr id="11" name="Text 9"/>
          <p:cNvSpPr/>
          <p:nvPr/>
        </p:nvSpPr>
        <p:spPr>
          <a:xfrm>
            <a:off x="2487168" y="2404872"/>
            <a:ext cx="1920240" cy="201168"/>
          </a:xfrm>
          <a:prstGeom prst="rect">
            <a:avLst/>
          </a:prstGeom>
          <a:noFill/>
          <a:ln/>
        </p:spPr>
        <p:txBody>
          <a:bodyPr wrap="square" lIns="0" tIns="0" rIns="0" bIns="0" rtlCol="0" anchor="ctr"/>
          <a:lstStyle/>
          <a:p>
            <a:pPr marL="0" indent="0" algn="ctr">
              <a:buNone/>
            </a:pPr>
            <a:r>
              <a:rPr lang="en-US" sz="1000" dirty="0">
                <a:solidFill>
                  <a:srgbClr val="64748B"/>
                </a:solidFill>
              </a:rPr>
              <a:t>Framework</a:t>
            </a:r>
            <a:endParaRPr lang="en-US" sz="1000" dirty="0"/>
          </a:p>
        </p:txBody>
      </p:sp>
      <p:sp>
        <p:nvSpPr>
          <p:cNvPr id="12" name="Shape 10"/>
          <p:cNvSpPr/>
          <p:nvPr/>
        </p:nvSpPr>
        <p:spPr>
          <a:xfrm>
            <a:off x="4608576" y="1234440"/>
            <a:ext cx="1920240" cy="1463040"/>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3" name="Shape 11"/>
          <p:cNvSpPr/>
          <p:nvPr/>
        </p:nvSpPr>
        <p:spPr>
          <a:xfrm>
            <a:off x="5248656" y="1417320"/>
            <a:ext cx="640080" cy="640080"/>
          </a:xfrm>
          <a:prstGeom prst="roundRect">
            <a:avLst>
              <a:gd name="adj" fmla="val 11429"/>
            </a:avLst>
          </a:prstGeom>
          <a:solidFill>
            <a:srgbClr val="1B4F9C"/>
          </a:solidFill>
          <a:ln w="12700">
            <a:solidFill>
              <a:srgbClr val="1B4F9C"/>
            </a:solidFill>
            <a:prstDash val="solid"/>
          </a:ln>
        </p:spPr>
      </p:sp>
      <p:sp>
        <p:nvSpPr>
          <p:cNvPr id="14" name="Text 12"/>
          <p:cNvSpPr/>
          <p:nvPr/>
        </p:nvSpPr>
        <p:spPr>
          <a:xfrm>
            <a:off x="4608576" y="2148840"/>
            <a:ext cx="1920240" cy="274320"/>
          </a:xfrm>
          <a:prstGeom prst="rect">
            <a:avLst/>
          </a:prstGeom>
          <a:noFill/>
          <a:ln/>
        </p:spPr>
        <p:txBody>
          <a:bodyPr wrap="square" lIns="0" tIns="0" rIns="0" bIns="0" rtlCol="0" anchor="ctr"/>
          <a:lstStyle/>
          <a:p>
            <a:pPr marL="0" indent="0" algn="ctr">
              <a:buNone/>
            </a:pPr>
            <a:r>
              <a:rPr lang="en-US" sz="1200" b="1" dirty="0">
                <a:solidFill>
                  <a:srgbClr val="1E293B"/>
                </a:solidFill>
              </a:rPr>
              <a:t>Spring Security</a:t>
            </a:r>
            <a:endParaRPr lang="en-US" sz="1200" dirty="0"/>
          </a:p>
        </p:txBody>
      </p:sp>
      <p:sp>
        <p:nvSpPr>
          <p:cNvPr id="15" name="Text 13"/>
          <p:cNvSpPr/>
          <p:nvPr/>
        </p:nvSpPr>
        <p:spPr>
          <a:xfrm>
            <a:off x="4608576" y="2404872"/>
            <a:ext cx="1920240" cy="201168"/>
          </a:xfrm>
          <a:prstGeom prst="rect">
            <a:avLst/>
          </a:prstGeom>
          <a:noFill/>
          <a:ln/>
        </p:spPr>
        <p:txBody>
          <a:bodyPr wrap="square" lIns="0" tIns="0" rIns="0" bIns="0" rtlCol="0" anchor="ctr"/>
          <a:lstStyle/>
          <a:p>
            <a:pPr marL="0" indent="0" algn="ctr">
              <a:buNone/>
            </a:pPr>
            <a:r>
              <a:rPr lang="en-US" sz="1000" dirty="0">
                <a:solidFill>
                  <a:srgbClr val="64748B"/>
                </a:solidFill>
              </a:rPr>
              <a:t>Auth &amp; RBAC</a:t>
            </a:r>
            <a:endParaRPr lang="en-US" sz="1000" dirty="0"/>
          </a:p>
        </p:txBody>
      </p:sp>
      <p:sp>
        <p:nvSpPr>
          <p:cNvPr id="16" name="Shape 14"/>
          <p:cNvSpPr/>
          <p:nvPr/>
        </p:nvSpPr>
        <p:spPr>
          <a:xfrm>
            <a:off x="6729984" y="1234440"/>
            <a:ext cx="1920240" cy="1463040"/>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7" name="Shape 15"/>
          <p:cNvSpPr/>
          <p:nvPr/>
        </p:nvSpPr>
        <p:spPr>
          <a:xfrm>
            <a:off x="7370064" y="1417320"/>
            <a:ext cx="640080" cy="640080"/>
          </a:xfrm>
          <a:prstGeom prst="roundRect">
            <a:avLst>
              <a:gd name="adj" fmla="val 11429"/>
            </a:avLst>
          </a:prstGeom>
          <a:solidFill>
            <a:srgbClr val="F59E0B"/>
          </a:solidFill>
          <a:ln w="12700">
            <a:solidFill>
              <a:srgbClr val="F59E0B"/>
            </a:solidFill>
            <a:prstDash val="solid"/>
          </a:ln>
        </p:spPr>
      </p:sp>
      <p:sp>
        <p:nvSpPr>
          <p:cNvPr id="18" name="Text 16"/>
          <p:cNvSpPr/>
          <p:nvPr/>
        </p:nvSpPr>
        <p:spPr>
          <a:xfrm>
            <a:off x="6729984" y="2148840"/>
            <a:ext cx="1920240" cy="274320"/>
          </a:xfrm>
          <a:prstGeom prst="rect">
            <a:avLst/>
          </a:prstGeom>
          <a:noFill/>
          <a:ln/>
        </p:spPr>
        <p:txBody>
          <a:bodyPr wrap="square" lIns="0" tIns="0" rIns="0" bIns="0" rtlCol="0" anchor="ctr"/>
          <a:lstStyle/>
          <a:p>
            <a:pPr marL="0" indent="0" algn="ctr">
              <a:buNone/>
            </a:pPr>
            <a:r>
              <a:rPr lang="en-US" sz="1200" b="1" dirty="0">
                <a:solidFill>
                  <a:srgbClr val="1E293B"/>
                </a:solidFill>
              </a:rPr>
              <a:t>JWT</a:t>
            </a:r>
            <a:endParaRPr lang="en-US" sz="1200" dirty="0"/>
          </a:p>
        </p:txBody>
      </p:sp>
      <p:sp>
        <p:nvSpPr>
          <p:cNvPr id="19" name="Text 17"/>
          <p:cNvSpPr/>
          <p:nvPr/>
        </p:nvSpPr>
        <p:spPr>
          <a:xfrm>
            <a:off x="6729984" y="2404872"/>
            <a:ext cx="1920240" cy="201168"/>
          </a:xfrm>
          <a:prstGeom prst="rect">
            <a:avLst/>
          </a:prstGeom>
          <a:noFill/>
          <a:ln/>
        </p:spPr>
        <p:txBody>
          <a:bodyPr wrap="square" lIns="0" tIns="0" rIns="0" bIns="0" rtlCol="0" anchor="ctr"/>
          <a:lstStyle/>
          <a:p>
            <a:pPr marL="0" indent="0" algn="ctr">
              <a:buNone/>
            </a:pPr>
            <a:r>
              <a:rPr lang="en-US" sz="1000" dirty="0">
                <a:solidFill>
                  <a:srgbClr val="64748B"/>
                </a:solidFill>
              </a:rPr>
              <a:t>Token Auth</a:t>
            </a:r>
            <a:endParaRPr lang="en-US" sz="1000" dirty="0"/>
          </a:p>
        </p:txBody>
      </p:sp>
      <p:sp>
        <p:nvSpPr>
          <p:cNvPr id="20" name="Shape 18"/>
          <p:cNvSpPr/>
          <p:nvPr/>
        </p:nvSpPr>
        <p:spPr>
          <a:xfrm>
            <a:off x="365760" y="2926080"/>
            <a:ext cx="1920240" cy="1463040"/>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1" name="Shape 19"/>
          <p:cNvSpPr/>
          <p:nvPr/>
        </p:nvSpPr>
        <p:spPr>
          <a:xfrm>
            <a:off x="1005840" y="3108960"/>
            <a:ext cx="640080" cy="640080"/>
          </a:xfrm>
          <a:prstGeom prst="roundRect">
            <a:avLst>
              <a:gd name="adj" fmla="val 11429"/>
            </a:avLst>
          </a:prstGeom>
          <a:solidFill>
            <a:srgbClr val="0074C1"/>
          </a:solidFill>
          <a:ln w="12700">
            <a:solidFill>
              <a:srgbClr val="0074C1"/>
            </a:solidFill>
            <a:prstDash val="solid"/>
          </a:ln>
        </p:spPr>
      </p:sp>
      <p:sp>
        <p:nvSpPr>
          <p:cNvPr id="22" name="Text 20"/>
          <p:cNvSpPr/>
          <p:nvPr/>
        </p:nvSpPr>
        <p:spPr>
          <a:xfrm>
            <a:off x="365760" y="3840480"/>
            <a:ext cx="1920240" cy="274320"/>
          </a:xfrm>
          <a:prstGeom prst="rect">
            <a:avLst/>
          </a:prstGeom>
          <a:noFill/>
          <a:ln/>
        </p:spPr>
        <p:txBody>
          <a:bodyPr wrap="square" lIns="0" tIns="0" rIns="0" bIns="0" rtlCol="0" anchor="ctr"/>
          <a:lstStyle/>
          <a:p>
            <a:pPr marL="0" indent="0" algn="ctr">
              <a:buNone/>
            </a:pPr>
            <a:r>
              <a:rPr lang="en-US" sz="1200" b="1" dirty="0">
                <a:solidFill>
                  <a:srgbClr val="1E293B"/>
                </a:solidFill>
              </a:rPr>
              <a:t>H2 / MySQL</a:t>
            </a:r>
            <a:endParaRPr lang="en-US" sz="1200" dirty="0"/>
          </a:p>
        </p:txBody>
      </p:sp>
      <p:sp>
        <p:nvSpPr>
          <p:cNvPr id="23" name="Text 21"/>
          <p:cNvSpPr/>
          <p:nvPr/>
        </p:nvSpPr>
        <p:spPr>
          <a:xfrm>
            <a:off x="365760" y="4096512"/>
            <a:ext cx="1920240" cy="201168"/>
          </a:xfrm>
          <a:prstGeom prst="rect">
            <a:avLst/>
          </a:prstGeom>
          <a:noFill/>
          <a:ln/>
        </p:spPr>
        <p:txBody>
          <a:bodyPr wrap="square" lIns="0" tIns="0" rIns="0" bIns="0" rtlCol="0" anchor="ctr"/>
          <a:lstStyle/>
          <a:p>
            <a:pPr marL="0" indent="0" algn="ctr">
              <a:buNone/>
            </a:pPr>
            <a:r>
              <a:rPr lang="en-US" sz="1000" dirty="0">
                <a:solidFill>
                  <a:srgbClr val="64748B"/>
                </a:solidFill>
              </a:rPr>
              <a:t>Database</a:t>
            </a:r>
            <a:endParaRPr lang="en-US" sz="1000" dirty="0"/>
          </a:p>
        </p:txBody>
      </p:sp>
      <p:sp>
        <p:nvSpPr>
          <p:cNvPr id="24" name="Shape 22"/>
          <p:cNvSpPr/>
          <p:nvPr/>
        </p:nvSpPr>
        <p:spPr>
          <a:xfrm>
            <a:off x="2487168" y="2926080"/>
            <a:ext cx="1920240" cy="1463040"/>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5" name="Shape 23"/>
          <p:cNvSpPr/>
          <p:nvPr/>
        </p:nvSpPr>
        <p:spPr>
          <a:xfrm>
            <a:off x="3127248" y="3108960"/>
            <a:ext cx="640080" cy="640080"/>
          </a:xfrm>
          <a:prstGeom prst="roundRect">
            <a:avLst>
              <a:gd name="adj" fmla="val 11429"/>
            </a:avLst>
          </a:prstGeom>
          <a:solidFill>
            <a:srgbClr val="59666C"/>
          </a:solidFill>
          <a:ln w="12700">
            <a:solidFill>
              <a:srgbClr val="59666C"/>
            </a:solidFill>
            <a:prstDash val="solid"/>
          </a:ln>
        </p:spPr>
      </p:sp>
      <p:sp>
        <p:nvSpPr>
          <p:cNvPr id="26" name="Text 24"/>
          <p:cNvSpPr/>
          <p:nvPr/>
        </p:nvSpPr>
        <p:spPr>
          <a:xfrm>
            <a:off x="2487168" y="3840480"/>
            <a:ext cx="1920240" cy="274320"/>
          </a:xfrm>
          <a:prstGeom prst="rect">
            <a:avLst/>
          </a:prstGeom>
          <a:noFill/>
          <a:ln/>
        </p:spPr>
        <p:txBody>
          <a:bodyPr wrap="square" lIns="0" tIns="0" rIns="0" bIns="0" rtlCol="0" anchor="ctr"/>
          <a:lstStyle/>
          <a:p>
            <a:pPr marL="0" indent="0" algn="ctr">
              <a:buNone/>
            </a:pPr>
            <a:r>
              <a:rPr lang="en-US" sz="1200" b="1" dirty="0">
                <a:solidFill>
                  <a:srgbClr val="1E293B"/>
                </a:solidFill>
              </a:rPr>
              <a:t>JPA/Hibernate</a:t>
            </a:r>
            <a:endParaRPr lang="en-US" sz="1200" dirty="0"/>
          </a:p>
        </p:txBody>
      </p:sp>
      <p:sp>
        <p:nvSpPr>
          <p:cNvPr id="27" name="Text 25"/>
          <p:cNvSpPr/>
          <p:nvPr/>
        </p:nvSpPr>
        <p:spPr>
          <a:xfrm>
            <a:off x="2487168" y="4096512"/>
            <a:ext cx="1920240" cy="201168"/>
          </a:xfrm>
          <a:prstGeom prst="rect">
            <a:avLst/>
          </a:prstGeom>
          <a:noFill/>
          <a:ln/>
        </p:spPr>
        <p:txBody>
          <a:bodyPr wrap="square" lIns="0" tIns="0" rIns="0" bIns="0" rtlCol="0" anchor="ctr"/>
          <a:lstStyle/>
          <a:p>
            <a:pPr marL="0" indent="0" algn="ctr">
              <a:buNone/>
            </a:pPr>
            <a:r>
              <a:rPr lang="en-US" sz="1000" dirty="0">
                <a:solidFill>
                  <a:srgbClr val="64748B"/>
                </a:solidFill>
              </a:rPr>
              <a:t>ORM</a:t>
            </a:r>
            <a:endParaRPr lang="en-US" sz="1000" dirty="0"/>
          </a:p>
        </p:txBody>
      </p:sp>
      <p:sp>
        <p:nvSpPr>
          <p:cNvPr id="28" name="Shape 26"/>
          <p:cNvSpPr/>
          <p:nvPr/>
        </p:nvSpPr>
        <p:spPr>
          <a:xfrm>
            <a:off x="4608576" y="2926080"/>
            <a:ext cx="1920240" cy="1463040"/>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9" name="Shape 27"/>
          <p:cNvSpPr/>
          <p:nvPr/>
        </p:nvSpPr>
        <p:spPr>
          <a:xfrm>
            <a:off x="5248656" y="3108960"/>
            <a:ext cx="640080" cy="640080"/>
          </a:xfrm>
          <a:prstGeom prst="roundRect">
            <a:avLst>
              <a:gd name="adj" fmla="val 11429"/>
            </a:avLst>
          </a:prstGeom>
          <a:solidFill>
            <a:srgbClr val="85EA2D"/>
          </a:solidFill>
          <a:ln w="12700">
            <a:solidFill>
              <a:srgbClr val="85EA2D"/>
            </a:solidFill>
            <a:prstDash val="solid"/>
          </a:ln>
        </p:spPr>
      </p:sp>
      <p:sp>
        <p:nvSpPr>
          <p:cNvPr id="30" name="Text 28"/>
          <p:cNvSpPr/>
          <p:nvPr/>
        </p:nvSpPr>
        <p:spPr>
          <a:xfrm>
            <a:off x="4608576" y="3840480"/>
            <a:ext cx="1920240" cy="274320"/>
          </a:xfrm>
          <a:prstGeom prst="rect">
            <a:avLst/>
          </a:prstGeom>
          <a:noFill/>
          <a:ln/>
        </p:spPr>
        <p:txBody>
          <a:bodyPr wrap="square" lIns="0" tIns="0" rIns="0" bIns="0" rtlCol="0" anchor="ctr"/>
          <a:lstStyle/>
          <a:p>
            <a:pPr marL="0" indent="0" algn="ctr">
              <a:buNone/>
            </a:pPr>
            <a:r>
              <a:rPr lang="en-US" sz="1200" b="1" dirty="0">
                <a:solidFill>
                  <a:srgbClr val="1E293B"/>
                </a:solidFill>
              </a:rPr>
              <a:t>Swagger UI</a:t>
            </a:r>
            <a:endParaRPr lang="en-US" sz="1200" dirty="0"/>
          </a:p>
        </p:txBody>
      </p:sp>
      <p:sp>
        <p:nvSpPr>
          <p:cNvPr id="31" name="Text 29"/>
          <p:cNvSpPr/>
          <p:nvPr/>
        </p:nvSpPr>
        <p:spPr>
          <a:xfrm>
            <a:off x="4608576" y="4096512"/>
            <a:ext cx="1920240" cy="201168"/>
          </a:xfrm>
          <a:prstGeom prst="rect">
            <a:avLst/>
          </a:prstGeom>
          <a:noFill/>
          <a:ln/>
        </p:spPr>
        <p:txBody>
          <a:bodyPr wrap="square" lIns="0" tIns="0" rIns="0" bIns="0" rtlCol="0" anchor="ctr"/>
          <a:lstStyle/>
          <a:p>
            <a:pPr marL="0" indent="0" algn="ctr">
              <a:buNone/>
            </a:pPr>
            <a:r>
              <a:rPr lang="en-US" sz="1000" dirty="0">
                <a:solidFill>
                  <a:srgbClr val="64748B"/>
                </a:solidFill>
              </a:rPr>
              <a:t>API Docs</a:t>
            </a:r>
            <a:endParaRPr lang="en-US" sz="1000" dirty="0"/>
          </a:p>
        </p:txBody>
      </p:sp>
      <p:sp>
        <p:nvSpPr>
          <p:cNvPr id="32" name="Shape 30"/>
          <p:cNvSpPr/>
          <p:nvPr/>
        </p:nvSpPr>
        <p:spPr>
          <a:xfrm>
            <a:off x="6729984" y="2926080"/>
            <a:ext cx="1920240" cy="1463040"/>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33" name="Shape 31"/>
          <p:cNvSpPr/>
          <p:nvPr/>
        </p:nvSpPr>
        <p:spPr>
          <a:xfrm>
            <a:off x="7370064" y="3108960"/>
            <a:ext cx="640080" cy="640080"/>
          </a:xfrm>
          <a:prstGeom prst="roundRect">
            <a:avLst>
              <a:gd name="adj" fmla="val 11429"/>
            </a:avLst>
          </a:prstGeom>
          <a:solidFill>
            <a:srgbClr val="46E3B7"/>
          </a:solidFill>
          <a:ln w="12700">
            <a:solidFill>
              <a:srgbClr val="46E3B7"/>
            </a:solidFill>
            <a:prstDash val="solid"/>
          </a:ln>
        </p:spPr>
      </p:sp>
      <p:sp>
        <p:nvSpPr>
          <p:cNvPr id="34" name="Text 32"/>
          <p:cNvSpPr/>
          <p:nvPr/>
        </p:nvSpPr>
        <p:spPr>
          <a:xfrm>
            <a:off x="6729984" y="3840480"/>
            <a:ext cx="1920240" cy="274320"/>
          </a:xfrm>
          <a:prstGeom prst="rect">
            <a:avLst/>
          </a:prstGeom>
          <a:noFill/>
          <a:ln/>
        </p:spPr>
        <p:txBody>
          <a:bodyPr wrap="square" lIns="0" tIns="0" rIns="0" bIns="0" rtlCol="0" anchor="ctr"/>
          <a:lstStyle/>
          <a:p>
            <a:pPr marL="0" indent="0" algn="ctr">
              <a:buNone/>
            </a:pPr>
            <a:r>
              <a:rPr lang="en-US" sz="1200" b="1" dirty="0">
                <a:solidFill>
                  <a:srgbClr val="1E293B"/>
                </a:solidFill>
              </a:rPr>
              <a:t>Render</a:t>
            </a:r>
            <a:endParaRPr lang="en-US" sz="1200" dirty="0"/>
          </a:p>
        </p:txBody>
      </p:sp>
      <p:sp>
        <p:nvSpPr>
          <p:cNvPr id="35" name="Text 33"/>
          <p:cNvSpPr/>
          <p:nvPr/>
        </p:nvSpPr>
        <p:spPr>
          <a:xfrm>
            <a:off x="6729984" y="4096512"/>
            <a:ext cx="1920240" cy="201168"/>
          </a:xfrm>
          <a:prstGeom prst="rect">
            <a:avLst/>
          </a:prstGeom>
          <a:noFill/>
          <a:ln/>
        </p:spPr>
        <p:txBody>
          <a:bodyPr wrap="square" lIns="0" tIns="0" rIns="0" bIns="0" rtlCol="0" anchor="ctr"/>
          <a:lstStyle/>
          <a:p>
            <a:pPr marL="0" indent="0" algn="ctr">
              <a:buNone/>
            </a:pPr>
            <a:r>
              <a:rPr lang="en-US" sz="1000" dirty="0">
                <a:solidFill>
                  <a:srgbClr val="64748B"/>
                </a:solidFill>
              </a:rPr>
              <a:t>Deployment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457200"/>
          </a:xfrm>
          <a:prstGeom prst="roundRect">
            <a:avLst>
              <a:gd name="adj" fmla="val 50000"/>
            </a:avLst>
          </a:prstGeom>
          <a:solidFill>
            <a:srgbClr val="1B4F9C"/>
          </a:solidFill>
          <a:ln w="12700">
            <a:solidFill>
              <a:srgbClr val="1B4F9C"/>
            </a:solidFill>
            <a:prstDash val="solid"/>
          </a:ln>
        </p:spPr>
      </p:sp>
      <p:sp>
        <p:nvSpPr>
          <p:cNvPr id="3" name="Text 1"/>
          <p:cNvSpPr/>
          <p:nvPr/>
        </p:nvSpPr>
        <p:spPr>
          <a:xfrm>
            <a:off x="365760" y="228600"/>
            <a:ext cx="2011680" cy="457200"/>
          </a:xfrm>
          <a:prstGeom prst="rect">
            <a:avLst/>
          </a:prstGeom>
          <a:noFill/>
          <a:ln/>
        </p:spPr>
        <p:txBody>
          <a:bodyPr wrap="square" lIns="0" tIns="0" rIns="0" bIns="0" rtlCol="0" anchor="ctr"/>
          <a:lstStyle/>
          <a:p>
            <a:pPr marL="0" indent="0" algn="ctr">
              <a:buNone/>
            </a:pPr>
            <a:r>
              <a:rPr lang="en-US" sz="1300" b="1" dirty="0">
                <a:solidFill>
                  <a:srgbClr val="FFFFFF"/>
                </a:solidFill>
              </a:rPr>
              <a:t>WEEK 3</a:t>
            </a:r>
            <a:endParaRPr lang="en-US" sz="1300" dirty="0"/>
          </a:p>
        </p:txBody>
      </p:sp>
      <p:sp>
        <p:nvSpPr>
          <p:cNvPr id="4" name="Text 2"/>
          <p:cNvSpPr/>
          <p:nvPr/>
        </p:nvSpPr>
        <p:spPr>
          <a:xfrm>
            <a:off x="365760" y="777240"/>
            <a:ext cx="8412480" cy="594360"/>
          </a:xfrm>
          <a:prstGeom prst="rect">
            <a:avLst/>
          </a:prstGeom>
          <a:noFill/>
          <a:ln/>
        </p:spPr>
        <p:txBody>
          <a:bodyPr wrap="square" rtlCol="0" anchor="ctr"/>
          <a:lstStyle/>
          <a:p>
            <a:pPr marL="0" indent="0">
              <a:buNone/>
            </a:pPr>
            <a:r>
              <a:rPr lang="en-US" sz="3000" b="1" dirty="0">
                <a:solidFill>
                  <a:srgbClr val="FFFFFF"/>
                </a:solidFill>
              </a:rPr>
              <a:t>Core Task Management System</a:t>
            </a:r>
            <a:endParaRPr lang="en-US" sz="3000" dirty="0"/>
          </a:p>
        </p:txBody>
      </p:sp>
      <p:sp>
        <p:nvSpPr>
          <p:cNvPr id="5" name="Text 3"/>
          <p:cNvSpPr/>
          <p:nvPr/>
        </p:nvSpPr>
        <p:spPr>
          <a:xfrm>
            <a:off x="365760" y="1389888"/>
            <a:ext cx="8229600" cy="320040"/>
          </a:xfrm>
          <a:prstGeom prst="rect">
            <a:avLst/>
          </a:prstGeom>
          <a:noFill/>
          <a:ln/>
        </p:spPr>
        <p:txBody>
          <a:bodyPr wrap="square" rtlCol="0" anchor="ctr"/>
          <a:lstStyle/>
          <a:p>
            <a:pPr marL="0" indent="0">
              <a:buNone/>
            </a:pPr>
            <a:r>
              <a:rPr lang="en-US" sz="1300" dirty="0">
                <a:solidFill>
                  <a:srgbClr val="94A3B8"/>
                </a:solidFill>
              </a:rPr>
              <a:t>JWT Authentication  •  Task CRUD  •  Frontend UI</a:t>
            </a:r>
            <a:endParaRPr lang="en-US" sz="1300" dirty="0"/>
          </a:p>
        </p:txBody>
      </p:sp>
      <p:sp>
        <p:nvSpPr>
          <p:cNvPr id="6" name="Shape 4"/>
          <p:cNvSpPr/>
          <p:nvPr/>
        </p:nvSpPr>
        <p:spPr>
          <a:xfrm>
            <a:off x="365760" y="1874520"/>
            <a:ext cx="4206240" cy="1325880"/>
          </a:xfrm>
          <a:prstGeom prst="roundRect">
            <a:avLst>
              <a:gd name="adj" fmla="val 6897"/>
            </a:avLst>
          </a:prstGeom>
          <a:solidFill>
            <a:srgbClr val="132040"/>
          </a:solidFill>
          <a:ln w="12700">
            <a:solidFill>
              <a:srgbClr val="1B3A6B"/>
            </a:solidFill>
            <a:prstDash val="solid"/>
          </a:ln>
        </p:spPr>
      </p:sp>
      <p:sp>
        <p:nvSpPr>
          <p:cNvPr id="7" name="Text 5"/>
          <p:cNvSpPr/>
          <p:nvPr/>
        </p:nvSpPr>
        <p:spPr>
          <a:xfrm>
            <a:off x="530352" y="1965960"/>
            <a:ext cx="3840480" cy="274320"/>
          </a:xfrm>
          <a:prstGeom prst="rect">
            <a:avLst/>
          </a:prstGeom>
          <a:noFill/>
          <a:ln/>
        </p:spPr>
        <p:txBody>
          <a:bodyPr wrap="square" lIns="0" tIns="0" rIns="0" bIns="0" rtlCol="0" anchor="ctr"/>
          <a:lstStyle/>
          <a:p>
            <a:pPr marL="0" indent="0">
              <a:buNone/>
            </a:pPr>
            <a:r>
              <a:rPr lang="en-US" sz="1300" b="1" dirty="0">
                <a:solidFill>
                  <a:srgbClr val="0EA5E9"/>
                </a:solidFill>
              </a:rPr>
              <a:t>JWT Authentication</a:t>
            </a:r>
            <a:endParaRPr lang="en-US" sz="1300" dirty="0"/>
          </a:p>
        </p:txBody>
      </p:sp>
      <p:sp>
        <p:nvSpPr>
          <p:cNvPr id="8" name="Text 6"/>
          <p:cNvSpPr/>
          <p:nvPr/>
        </p:nvSpPr>
        <p:spPr>
          <a:xfrm>
            <a:off x="530352" y="2258568"/>
            <a:ext cx="3840480" cy="822960"/>
          </a:xfrm>
          <a:prstGeom prst="rect">
            <a:avLst/>
          </a:prstGeom>
          <a:noFill/>
          <a:ln/>
        </p:spPr>
        <p:txBody>
          <a:bodyPr wrap="square" lIns="0" tIns="0" rIns="0" bIns="0" rtlCol="0" anchor="ctr"/>
          <a:lstStyle/>
          <a:p>
            <a:pPr marL="0" indent="0">
              <a:buNone/>
            </a:pPr>
            <a:r>
              <a:rPr lang="en-US" sz="1100" dirty="0">
                <a:solidFill>
                  <a:srgbClr val="CBD5E1"/>
                </a:solidFill>
              </a:rPr>
              <a:t>User Register &amp; Login</a:t>
            </a:r>
            <a:endParaRPr lang="en-US" sz="1100" dirty="0"/>
          </a:p>
          <a:p>
            <a:pPr marL="0" indent="0">
              <a:buNone/>
            </a:pPr>
            <a:r>
              <a:rPr lang="en-US" sz="1100" dirty="0">
                <a:solidFill>
                  <a:srgbClr val="CBD5E1"/>
                </a:solidFill>
              </a:rPr>
              <a:t>BCrypt password encoding</a:t>
            </a:r>
            <a:endParaRPr lang="en-US" sz="1100" dirty="0"/>
          </a:p>
          <a:p>
            <a:pPr marL="0" indent="0">
              <a:buNone/>
            </a:pPr>
            <a:r>
              <a:rPr lang="en-US" sz="1100" dirty="0">
                <a:solidFill>
                  <a:srgbClr val="CBD5E1"/>
                </a:solidFill>
              </a:rPr>
              <a:t>Token-based stateless auth</a:t>
            </a:r>
            <a:endParaRPr lang="en-US" sz="1100" dirty="0"/>
          </a:p>
        </p:txBody>
      </p:sp>
      <p:sp>
        <p:nvSpPr>
          <p:cNvPr id="9" name="Shape 7"/>
          <p:cNvSpPr/>
          <p:nvPr/>
        </p:nvSpPr>
        <p:spPr>
          <a:xfrm>
            <a:off x="4800600" y="1874520"/>
            <a:ext cx="4206240" cy="1325880"/>
          </a:xfrm>
          <a:prstGeom prst="roundRect">
            <a:avLst>
              <a:gd name="adj" fmla="val 6897"/>
            </a:avLst>
          </a:prstGeom>
          <a:solidFill>
            <a:srgbClr val="132040"/>
          </a:solidFill>
          <a:ln w="12700">
            <a:solidFill>
              <a:srgbClr val="1B3A6B"/>
            </a:solidFill>
            <a:prstDash val="solid"/>
          </a:ln>
        </p:spPr>
      </p:sp>
      <p:sp>
        <p:nvSpPr>
          <p:cNvPr id="10" name="Text 8"/>
          <p:cNvSpPr/>
          <p:nvPr/>
        </p:nvSpPr>
        <p:spPr>
          <a:xfrm>
            <a:off x="4965192" y="1965960"/>
            <a:ext cx="3840480" cy="274320"/>
          </a:xfrm>
          <a:prstGeom prst="rect">
            <a:avLst/>
          </a:prstGeom>
          <a:noFill/>
          <a:ln/>
        </p:spPr>
        <p:txBody>
          <a:bodyPr wrap="square" lIns="0" tIns="0" rIns="0" bIns="0" rtlCol="0" anchor="ctr"/>
          <a:lstStyle/>
          <a:p>
            <a:pPr marL="0" indent="0">
              <a:buNone/>
            </a:pPr>
            <a:r>
              <a:rPr lang="en-US" sz="1300" b="1" dirty="0">
                <a:solidFill>
                  <a:srgbClr val="0EA5E9"/>
                </a:solidFill>
              </a:rPr>
              <a:t>Task CRUD</a:t>
            </a:r>
            <a:endParaRPr lang="en-US" sz="1300" dirty="0"/>
          </a:p>
        </p:txBody>
      </p:sp>
      <p:sp>
        <p:nvSpPr>
          <p:cNvPr id="11" name="Text 9"/>
          <p:cNvSpPr/>
          <p:nvPr/>
        </p:nvSpPr>
        <p:spPr>
          <a:xfrm>
            <a:off x="4965192" y="2258568"/>
            <a:ext cx="3840480" cy="822960"/>
          </a:xfrm>
          <a:prstGeom prst="rect">
            <a:avLst/>
          </a:prstGeom>
          <a:noFill/>
          <a:ln/>
        </p:spPr>
        <p:txBody>
          <a:bodyPr wrap="square" lIns="0" tIns="0" rIns="0" bIns="0" rtlCol="0" anchor="ctr"/>
          <a:lstStyle/>
          <a:p>
            <a:pPr marL="0" indent="0">
              <a:buNone/>
            </a:pPr>
            <a:r>
              <a:rPr lang="en-US" sz="1100" dirty="0">
                <a:solidFill>
                  <a:srgbClr val="CBD5E1"/>
                </a:solidFill>
              </a:rPr>
              <a:t>Create, Read, Update, Delete</a:t>
            </a:r>
            <a:endParaRPr lang="en-US" sz="1100" dirty="0"/>
          </a:p>
          <a:p>
            <a:pPr marL="0" indent="0">
              <a:buNone/>
            </a:pPr>
            <a:r>
              <a:rPr lang="en-US" sz="1100" dirty="0">
                <a:solidFill>
                  <a:srgbClr val="CBD5E1"/>
                </a:solidFill>
              </a:rPr>
              <a:t>Assign tasks to users</a:t>
            </a:r>
            <a:endParaRPr lang="en-US" sz="1100" dirty="0"/>
          </a:p>
          <a:p>
            <a:pPr marL="0" indent="0">
              <a:buNone/>
            </a:pPr>
            <a:r>
              <a:rPr lang="en-US" sz="1100" dirty="0">
                <a:solidFill>
                  <a:srgbClr val="CBD5E1"/>
                </a:solidFill>
              </a:rPr>
              <a:t>Filter by status &amp; priority</a:t>
            </a:r>
            <a:endParaRPr lang="en-US" sz="1100" dirty="0"/>
          </a:p>
        </p:txBody>
      </p:sp>
      <p:sp>
        <p:nvSpPr>
          <p:cNvPr id="12" name="Shape 10"/>
          <p:cNvSpPr/>
          <p:nvPr/>
        </p:nvSpPr>
        <p:spPr>
          <a:xfrm>
            <a:off x="365760" y="3337560"/>
            <a:ext cx="4206240" cy="1325880"/>
          </a:xfrm>
          <a:prstGeom prst="roundRect">
            <a:avLst>
              <a:gd name="adj" fmla="val 6897"/>
            </a:avLst>
          </a:prstGeom>
          <a:solidFill>
            <a:srgbClr val="132040"/>
          </a:solidFill>
          <a:ln w="12700">
            <a:solidFill>
              <a:srgbClr val="1B3A6B"/>
            </a:solidFill>
            <a:prstDash val="solid"/>
          </a:ln>
        </p:spPr>
      </p:sp>
      <p:sp>
        <p:nvSpPr>
          <p:cNvPr id="13" name="Text 11"/>
          <p:cNvSpPr/>
          <p:nvPr/>
        </p:nvSpPr>
        <p:spPr>
          <a:xfrm>
            <a:off x="530352" y="3429000"/>
            <a:ext cx="3840480" cy="274320"/>
          </a:xfrm>
          <a:prstGeom prst="rect">
            <a:avLst/>
          </a:prstGeom>
          <a:noFill/>
          <a:ln/>
        </p:spPr>
        <p:txBody>
          <a:bodyPr wrap="square" lIns="0" tIns="0" rIns="0" bIns="0" rtlCol="0" anchor="ctr"/>
          <a:lstStyle/>
          <a:p>
            <a:pPr marL="0" indent="0">
              <a:buNone/>
            </a:pPr>
            <a:r>
              <a:rPr lang="en-US" sz="1300" b="1" dirty="0">
                <a:solidFill>
                  <a:srgbClr val="0EA5E9"/>
                </a:solidFill>
              </a:rPr>
              <a:t>Data Models</a:t>
            </a:r>
            <a:endParaRPr lang="en-US" sz="1300" dirty="0"/>
          </a:p>
        </p:txBody>
      </p:sp>
      <p:sp>
        <p:nvSpPr>
          <p:cNvPr id="14" name="Text 12"/>
          <p:cNvSpPr/>
          <p:nvPr/>
        </p:nvSpPr>
        <p:spPr>
          <a:xfrm>
            <a:off x="530352" y="3721608"/>
            <a:ext cx="3840480" cy="822960"/>
          </a:xfrm>
          <a:prstGeom prst="rect">
            <a:avLst/>
          </a:prstGeom>
          <a:noFill/>
          <a:ln/>
        </p:spPr>
        <p:txBody>
          <a:bodyPr wrap="square" lIns="0" tIns="0" rIns="0" bIns="0" rtlCol="0" anchor="ctr"/>
          <a:lstStyle/>
          <a:p>
            <a:pPr marL="0" indent="0">
              <a:buNone/>
            </a:pPr>
            <a:r>
              <a:rPr lang="en-US" sz="1100" dirty="0">
                <a:solidFill>
                  <a:srgbClr val="CBD5E1"/>
                </a:solidFill>
              </a:rPr>
              <a:t>User — name, email, role</a:t>
            </a:r>
            <a:endParaRPr lang="en-US" sz="1100" dirty="0"/>
          </a:p>
          <a:p>
            <a:pPr marL="0" indent="0">
              <a:buNone/>
            </a:pPr>
            <a:r>
              <a:rPr lang="en-US" sz="1100" dirty="0">
                <a:solidFill>
                  <a:srgbClr val="CBD5E1"/>
                </a:solidFill>
              </a:rPr>
              <a:t>Task — title, status, priority</a:t>
            </a:r>
            <a:endParaRPr lang="en-US" sz="1100" dirty="0"/>
          </a:p>
          <a:p>
            <a:pPr marL="0" indent="0">
              <a:buNone/>
            </a:pPr>
            <a:r>
              <a:rPr lang="en-US" sz="1100" dirty="0">
                <a:solidFill>
                  <a:srgbClr val="CBD5E1"/>
                </a:solidFill>
              </a:rPr>
              <a:t>Due date &amp; assignment</a:t>
            </a:r>
            <a:endParaRPr lang="en-US" sz="1100" dirty="0"/>
          </a:p>
        </p:txBody>
      </p:sp>
      <p:sp>
        <p:nvSpPr>
          <p:cNvPr id="15" name="Shape 13"/>
          <p:cNvSpPr/>
          <p:nvPr/>
        </p:nvSpPr>
        <p:spPr>
          <a:xfrm>
            <a:off x="4800600" y="3337560"/>
            <a:ext cx="4206240" cy="1325880"/>
          </a:xfrm>
          <a:prstGeom prst="roundRect">
            <a:avLst>
              <a:gd name="adj" fmla="val 6897"/>
            </a:avLst>
          </a:prstGeom>
          <a:solidFill>
            <a:srgbClr val="132040"/>
          </a:solidFill>
          <a:ln w="12700">
            <a:solidFill>
              <a:srgbClr val="1B3A6B"/>
            </a:solidFill>
            <a:prstDash val="solid"/>
          </a:ln>
        </p:spPr>
      </p:sp>
      <p:sp>
        <p:nvSpPr>
          <p:cNvPr id="16" name="Text 14"/>
          <p:cNvSpPr/>
          <p:nvPr/>
        </p:nvSpPr>
        <p:spPr>
          <a:xfrm>
            <a:off x="4965192" y="3429000"/>
            <a:ext cx="3840480" cy="274320"/>
          </a:xfrm>
          <a:prstGeom prst="rect">
            <a:avLst/>
          </a:prstGeom>
          <a:noFill/>
          <a:ln/>
        </p:spPr>
        <p:txBody>
          <a:bodyPr wrap="square" lIns="0" tIns="0" rIns="0" bIns="0" rtlCol="0" anchor="ctr"/>
          <a:lstStyle/>
          <a:p>
            <a:pPr marL="0" indent="0">
              <a:buNone/>
            </a:pPr>
            <a:r>
              <a:rPr lang="en-US" sz="1300" b="1" dirty="0">
                <a:solidFill>
                  <a:srgbClr val="0EA5E9"/>
                </a:solidFill>
              </a:rPr>
              <a:t>Frontend UI</a:t>
            </a:r>
            <a:endParaRPr lang="en-US" sz="1300" dirty="0"/>
          </a:p>
        </p:txBody>
      </p:sp>
      <p:sp>
        <p:nvSpPr>
          <p:cNvPr id="17" name="Text 15"/>
          <p:cNvSpPr/>
          <p:nvPr/>
        </p:nvSpPr>
        <p:spPr>
          <a:xfrm>
            <a:off x="4965192" y="3721608"/>
            <a:ext cx="3840480" cy="822960"/>
          </a:xfrm>
          <a:prstGeom prst="rect">
            <a:avLst/>
          </a:prstGeom>
          <a:noFill/>
          <a:ln/>
        </p:spPr>
        <p:txBody>
          <a:bodyPr wrap="square" lIns="0" tIns="0" rIns="0" bIns="0" rtlCol="0" anchor="ctr"/>
          <a:lstStyle/>
          <a:p>
            <a:pPr marL="0" indent="0">
              <a:buNone/>
            </a:pPr>
            <a:r>
              <a:rPr lang="en-US" sz="1100" dirty="0">
                <a:solidFill>
                  <a:srgbClr val="CBD5E1"/>
                </a:solidFill>
              </a:rPr>
              <a:t>Login / Register page</a:t>
            </a:r>
            <a:endParaRPr lang="en-US" sz="1100" dirty="0"/>
          </a:p>
          <a:p>
            <a:pPr marL="0" indent="0">
              <a:buNone/>
            </a:pPr>
            <a:r>
              <a:rPr lang="en-US" sz="1100" dirty="0">
                <a:solidFill>
                  <a:srgbClr val="CBD5E1"/>
                </a:solidFill>
              </a:rPr>
              <a:t>Task dashboard with stats</a:t>
            </a:r>
            <a:endParaRPr lang="en-US" sz="1100" dirty="0"/>
          </a:p>
          <a:p>
            <a:pPr marL="0" indent="0">
              <a:buNone/>
            </a:pPr>
            <a:r>
              <a:rPr lang="en-US" sz="1100" dirty="0">
                <a:solidFill>
                  <a:srgbClr val="CBD5E1"/>
                </a:solidFill>
              </a:rPr>
              <a:t>Create/Edit modals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28600"/>
            <a:ext cx="2011680" cy="457200"/>
          </a:xfrm>
          <a:prstGeom prst="roundRect">
            <a:avLst>
              <a:gd name="adj" fmla="val 50000"/>
            </a:avLst>
          </a:prstGeom>
          <a:solidFill>
            <a:srgbClr val="0EA5E9"/>
          </a:solidFill>
          <a:ln w="12700">
            <a:solidFill>
              <a:srgbClr val="0EA5E9"/>
            </a:solidFill>
            <a:prstDash val="solid"/>
          </a:ln>
        </p:spPr>
      </p:sp>
      <p:sp>
        <p:nvSpPr>
          <p:cNvPr id="3" name="Text 1"/>
          <p:cNvSpPr/>
          <p:nvPr/>
        </p:nvSpPr>
        <p:spPr>
          <a:xfrm>
            <a:off x="365760" y="228600"/>
            <a:ext cx="2011680" cy="457200"/>
          </a:xfrm>
          <a:prstGeom prst="rect">
            <a:avLst/>
          </a:prstGeom>
          <a:noFill/>
          <a:ln/>
        </p:spPr>
        <p:txBody>
          <a:bodyPr wrap="square" lIns="0" tIns="0" rIns="0" bIns="0" rtlCol="0" anchor="ctr"/>
          <a:lstStyle/>
          <a:p>
            <a:pPr marL="0" indent="0" algn="ctr">
              <a:buNone/>
            </a:pPr>
            <a:r>
              <a:rPr lang="en-US" sz="1300" b="1" dirty="0">
                <a:solidFill>
                  <a:srgbClr val="FFFFFF"/>
                </a:solidFill>
              </a:rPr>
              <a:t>WEEK 4</a:t>
            </a:r>
            <a:endParaRPr lang="en-US" sz="1300" dirty="0"/>
          </a:p>
        </p:txBody>
      </p:sp>
      <p:sp>
        <p:nvSpPr>
          <p:cNvPr id="4" name="Text 2"/>
          <p:cNvSpPr/>
          <p:nvPr/>
        </p:nvSpPr>
        <p:spPr>
          <a:xfrm>
            <a:off x="365760" y="777240"/>
            <a:ext cx="8412480" cy="594360"/>
          </a:xfrm>
          <a:prstGeom prst="rect">
            <a:avLst/>
          </a:prstGeom>
          <a:noFill/>
          <a:ln/>
        </p:spPr>
        <p:txBody>
          <a:bodyPr wrap="square" rtlCol="0" anchor="ctr"/>
          <a:lstStyle/>
          <a:p>
            <a:pPr marL="0" indent="0">
              <a:buNone/>
            </a:pPr>
            <a:r>
              <a:rPr lang="en-US" sz="3000" b="1" dirty="0">
                <a:solidFill>
                  <a:srgbClr val="0A1628"/>
                </a:solidFill>
              </a:rPr>
              <a:t>Advanced Features + Deployment</a:t>
            </a:r>
            <a:endParaRPr lang="en-US" sz="3000" dirty="0"/>
          </a:p>
        </p:txBody>
      </p:sp>
      <p:sp>
        <p:nvSpPr>
          <p:cNvPr id="5" name="Text 3"/>
          <p:cNvSpPr/>
          <p:nvPr/>
        </p:nvSpPr>
        <p:spPr>
          <a:xfrm>
            <a:off x="365760" y="1389888"/>
            <a:ext cx="8229600" cy="320040"/>
          </a:xfrm>
          <a:prstGeom prst="rect">
            <a:avLst/>
          </a:prstGeom>
          <a:noFill/>
          <a:ln/>
        </p:spPr>
        <p:txBody>
          <a:bodyPr wrap="square" rtlCol="0" anchor="ctr"/>
          <a:lstStyle/>
          <a:p>
            <a:pPr marL="0" indent="0">
              <a:buNone/>
            </a:pPr>
            <a:r>
              <a:rPr lang="en-US" sz="1300" dirty="0">
                <a:solidFill>
                  <a:srgbClr val="64748B"/>
                </a:solidFill>
              </a:rPr>
              <a:t>RBAC  •  Notifications  •  Admin Panel  •  Swagger  •  Cloud Deploy</a:t>
            </a:r>
            <a:endParaRPr lang="en-US" sz="1300" dirty="0"/>
          </a:p>
        </p:txBody>
      </p:sp>
      <p:sp>
        <p:nvSpPr>
          <p:cNvPr id="6" name="Shape 4"/>
          <p:cNvSpPr/>
          <p:nvPr/>
        </p:nvSpPr>
        <p:spPr>
          <a:xfrm>
            <a:off x="274320" y="1828800"/>
            <a:ext cx="2743200" cy="1371600"/>
          </a:xfrm>
          <a:prstGeom prst="roundRect">
            <a:avLst>
              <a:gd name="adj" fmla="val 6667"/>
            </a:avLst>
          </a:prstGeom>
          <a:solidFill>
            <a:srgbClr val="F0F7FF"/>
          </a:solidFill>
          <a:ln w="12700">
            <a:solidFill>
              <a:srgbClr val="DBEAFE"/>
            </a:solidFill>
            <a:prstDash val="solid"/>
          </a:ln>
          <a:effectLst>
            <a:outerShdw blurRad="101600" dist="38100" dir="2700000" algn="bl" rotWithShape="0">
              <a:srgbClr val="000000">
                <a:alpha val="12000"/>
              </a:srgbClr>
            </a:outerShdw>
          </a:effectLst>
        </p:spPr>
      </p:sp>
      <p:sp>
        <p:nvSpPr>
          <p:cNvPr id="7" name="Text 5"/>
          <p:cNvSpPr/>
          <p:nvPr/>
        </p:nvSpPr>
        <p:spPr>
          <a:xfrm>
            <a:off x="411480" y="1938528"/>
            <a:ext cx="2468880" cy="320040"/>
          </a:xfrm>
          <a:prstGeom prst="rect">
            <a:avLst/>
          </a:prstGeom>
          <a:noFill/>
          <a:ln/>
        </p:spPr>
        <p:txBody>
          <a:bodyPr wrap="square" lIns="0" tIns="0" rIns="0" bIns="0" rtlCol="0" anchor="ctr"/>
          <a:lstStyle/>
          <a:p>
            <a:pPr marL="0" indent="0">
              <a:buNone/>
            </a:pPr>
            <a:r>
              <a:rPr lang="en-US" sz="1300" b="1" dirty="0">
                <a:solidFill>
                  <a:srgbClr val="1B4F9C"/>
                </a:solidFill>
              </a:rPr>
              <a:t>🔐  RBAC</a:t>
            </a:r>
            <a:endParaRPr lang="en-US" sz="1300" dirty="0"/>
          </a:p>
        </p:txBody>
      </p:sp>
      <p:sp>
        <p:nvSpPr>
          <p:cNvPr id="8" name="Text 6"/>
          <p:cNvSpPr/>
          <p:nvPr/>
        </p:nvSpPr>
        <p:spPr>
          <a:xfrm>
            <a:off x="411480" y="2286000"/>
            <a:ext cx="2468880" cy="777240"/>
          </a:xfrm>
          <a:prstGeom prst="rect">
            <a:avLst/>
          </a:prstGeom>
          <a:noFill/>
          <a:ln/>
        </p:spPr>
        <p:txBody>
          <a:bodyPr wrap="square" lIns="0" tIns="0" rIns="0" bIns="0" rtlCol="0" anchor="ctr"/>
          <a:lstStyle/>
          <a:p>
            <a:pPr marL="0" indent="0">
              <a:buNone/>
            </a:pPr>
            <a:r>
              <a:rPr lang="en-US" sz="1100" dirty="0">
                <a:solidFill>
                  <a:srgbClr val="1E293B"/>
                </a:solidFill>
              </a:rPr>
              <a:t>@PreAuthorize on all endpoints</a:t>
            </a:r>
            <a:endParaRPr lang="en-US" sz="1100" dirty="0"/>
          </a:p>
          <a:p>
            <a:pPr marL="0" indent="0">
              <a:buNone/>
            </a:pPr>
            <a:r>
              <a:rPr lang="en-US" sz="1100" dirty="0">
                <a:solidFill>
                  <a:srgbClr val="1E293B"/>
                </a:solidFill>
              </a:rPr>
              <a:t>ADMIN vs USER access control</a:t>
            </a:r>
            <a:endParaRPr lang="en-US" sz="1100" dirty="0"/>
          </a:p>
        </p:txBody>
      </p:sp>
      <p:sp>
        <p:nvSpPr>
          <p:cNvPr id="9" name="Shape 7"/>
          <p:cNvSpPr/>
          <p:nvPr/>
        </p:nvSpPr>
        <p:spPr>
          <a:xfrm>
            <a:off x="3218688" y="1828800"/>
            <a:ext cx="2743200" cy="1371600"/>
          </a:xfrm>
          <a:prstGeom prst="roundRect">
            <a:avLst>
              <a:gd name="adj" fmla="val 6667"/>
            </a:avLst>
          </a:prstGeom>
          <a:solidFill>
            <a:srgbClr val="F0F7FF"/>
          </a:solidFill>
          <a:ln w="12700">
            <a:solidFill>
              <a:srgbClr val="DBEAFE"/>
            </a:solidFill>
            <a:prstDash val="solid"/>
          </a:ln>
          <a:effectLst>
            <a:outerShdw blurRad="101600" dist="38100" dir="2700000" algn="bl" rotWithShape="0">
              <a:srgbClr val="000000">
                <a:alpha val="12000"/>
              </a:srgbClr>
            </a:outerShdw>
          </a:effectLst>
        </p:spPr>
      </p:sp>
      <p:sp>
        <p:nvSpPr>
          <p:cNvPr id="10" name="Text 8"/>
          <p:cNvSpPr/>
          <p:nvPr/>
        </p:nvSpPr>
        <p:spPr>
          <a:xfrm>
            <a:off x="3355848" y="1938528"/>
            <a:ext cx="2468880" cy="320040"/>
          </a:xfrm>
          <a:prstGeom prst="rect">
            <a:avLst/>
          </a:prstGeom>
          <a:noFill/>
          <a:ln/>
        </p:spPr>
        <p:txBody>
          <a:bodyPr wrap="square" lIns="0" tIns="0" rIns="0" bIns="0" rtlCol="0" anchor="ctr"/>
          <a:lstStyle/>
          <a:p>
            <a:pPr marL="0" indent="0">
              <a:buNone/>
            </a:pPr>
            <a:r>
              <a:rPr lang="en-US" sz="1300" b="1" dirty="0">
                <a:solidFill>
                  <a:srgbClr val="1B4F9C"/>
                </a:solidFill>
              </a:rPr>
              <a:t>👑  Admin Panel</a:t>
            </a:r>
            <a:endParaRPr lang="en-US" sz="1300" dirty="0"/>
          </a:p>
        </p:txBody>
      </p:sp>
      <p:sp>
        <p:nvSpPr>
          <p:cNvPr id="11" name="Text 9"/>
          <p:cNvSpPr/>
          <p:nvPr/>
        </p:nvSpPr>
        <p:spPr>
          <a:xfrm>
            <a:off x="3355848" y="2286000"/>
            <a:ext cx="2468880" cy="777240"/>
          </a:xfrm>
          <a:prstGeom prst="rect">
            <a:avLst/>
          </a:prstGeom>
          <a:noFill/>
          <a:ln/>
        </p:spPr>
        <p:txBody>
          <a:bodyPr wrap="square" lIns="0" tIns="0" rIns="0" bIns="0" rtlCol="0" anchor="ctr"/>
          <a:lstStyle/>
          <a:p>
            <a:pPr marL="0" indent="0">
              <a:buNone/>
            </a:pPr>
            <a:r>
              <a:rPr lang="en-US" sz="1100" dirty="0">
                <a:solidFill>
                  <a:srgbClr val="1E293B"/>
                </a:solidFill>
              </a:rPr>
              <a:t>User management UI</a:t>
            </a:r>
            <a:endParaRPr lang="en-US" sz="1100" dirty="0"/>
          </a:p>
          <a:p>
            <a:pPr marL="0" indent="0">
              <a:buNone/>
            </a:pPr>
            <a:r>
              <a:rPr lang="en-US" sz="1100" dirty="0">
                <a:solidFill>
                  <a:srgbClr val="1E293B"/>
                </a:solidFill>
              </a:rPr>
              <a:t>Promote/demote/delete users</a:t>
            </a:r>
            <a:endParaRPr lang="en-US" sz="1100" dirty="0"/>
          </a:p>
        </p:txBody>
      </p:sp>
      <p:sp>
        <p:nvSpPr>
          <p:cNvPr id="12" name="Shape 10"/>
          <p:cNvSpPr/>
          <p:nvPr/>
        </p:nvSpPr>
        <p:spPr>
          <a:xfrm>
            <a:off x="6163056" y="1828800"/>
            <a:ext cx="2743200" cy="1371600"/>
          </a:xfrm>
          <a:prstGeom prst="roundRect">
            <a:avLst>
              <a:gd name="adj" fmla="val 6667"/>
            </a:avLst>
          </a:prstGeom>
          <a:solidFill>
            <a:srgbClr val="F0F7FF"/>
          </a:solidFill>
          <a:ln w="12700">
            <a:solidFill>
              <a:srgbClr val="DBEAFE"/>
            </a:solidFill>
            <a:prstDash val="solid"/>
          </a:ln>
          <a:effectLst>
            <a:outerShdw blurRad="101600" dist="38100" dir="2700000" algn="bl" rotWithShape="0">
              <a:srgbClr val="000000">
                <a:alpha val="12000"/>
              </a:srgbClr>
            </a:outerShdw>
          </a:effectLst>
        </p:spPr>
      </p:sp>
      <p:sp>
        <p:nvSpPr>
          <p:cNvPr id="13" name="Text 11"/>
          <p:cNvSpPr/>
          <p:nvPr/>
        </p:nvSpPr>
        <p:spPr>
          <a:xfrm>
            <a:off x="6300216" y="1938528"/>
            <a:ext cx="2468880" cy="320040"/>
          </a:xfrm>
          <a:prstGeom prst="rect">
            <a:avLst/>
          </a:prstGeom>
          <a:noFill/>
          <a:ln/>
        </p:spPr>
        <p:txBody>
          <a:bodyPr wrap="square" lIns="0" tIns="0" rIns="0" bIns="0" rtlCol="0" anchor="ctr"/>
          <a:lstStyle/>
          <a:p>
            <a:pPr marL="0" indent="0">
              <a:buNone/>
            </a:pPr>
            <a:r>
              <a:rPr lang="en-US" sz="1300" b="1" dirty="0">
                <a:solidFill>
                  <a:srgbClr val="1B4F9C"/>
                </a:solidFill>
              </a:rPr>
              <a:t>⏰  Overdue Detection</a:t>
            </a:r>
            <a:endParaRPr lang="en-US" sz="1300" dirty="0"/>
          </a:p>
        </p:txBody>
      </p:sp>
      <p:sp>
        <p:nvSpPr>
          <p:cNvPr id="14" name="Text 12"/>
          <p:cNvSpPr/>
          <p:nvPr/>
        </p:nvSpPr>
        <p:spPr>
          <a:xfrm>
            <a:off x="6300216" y="2286000"/>
            <a:ext cx="2468880" cy="777240"/>
          </a:xfrm>
          <a:prstGeom prst="rect">
            <a:avLst/>
          </a:prstGeom>
          <a:noFill/>
          <a:ln/>
        </p:spPr>
        <p:txBody>
          <a:bodyPr wrap="square" lIns="0" tIns="0" rIns="0" bIns="0" rtlCol="0" anchor="ctr"/>
          <a:lstStyle/>
          <a:p>
            <a:pPr marL="0" indent="0">
              <a:buNone/>
            </a:pPr>
            <a:r>
              <a:rPr lang="en-US" sz="1100" dirty="0">
                <a:solidFill>
                  <a:srgbClr val="1E293B"/>
                </a:solidFill>
              </a:rPr>
              <a:t>Overdue badge on task cards</a:t>
            </a:r>
            <a:endParaRPr lang="en-US" sz="1100" dirty="0"/>
          </a:p>
          <a:p>
            <a:pPr marL="0" indent="0">
              <a:buNone/>
            </a:pPr>
            <a:r>
              <a:rPr lang="en-US" sz="1100" dirty="0">
                <a:solidFill>
                  <a:srgbClr val="1E293B"/>
                </a:solidFill>
              </a:rPr>
              <a:t>Daily 8AM alert scheduler</a:t>
            </a:r>
            <a:endParaRPr lang="en-US" sz="1100" dirty="0"/>
          </a:p>
        </p:txBody>
      </p:sp>
      <p:sp>
        <p:nvSpPr>
          <p:cNvPr id="15" name="Shape 13"/>
          <p:cNvSpPr/>
          <p:nvPr/>
        </p:nvSpPr>
        <p:spPr>
          <a:xfrm>
            <a:off x="274320" y="3337560"/>
            <a:ext cx="2743200" cy="1371600"/>
          </a:xfrm>
          <a:prstGeom prst="roundRect">
            <a:avLst>
              <a:gd name="adj" fmla="val 6667"/>
            </a:avLst>
          </a:prstGeom>
          <a:solidFill>
            <a:srgbClr val="F0F7FF"/>
          </a:solidFill>
          <a:ln w="12700">
            <a:solidFill>
              <a:srgbClr val="DBEAFE"/>
            </a:solidFill>
            <a:prstDash val="solid"/>
          </a:ln>
          <a:effectLst>
            <a:outerShdw blurRad="101600" dist="38100" dir="2700000" algn="bl" rotWithShape="0">
              <a:srgbClr val="000000">
                <a:alpha val="12000"/>
              </a:srgbClr>
            </a:outerShdw>
          </a:effectLst>
        </p:spPr>
      </p:sp>
      <p:sp>
        <p:nvSpPr>
          <p:cNvPr id="16" name="Text 14"/>
          <p:cNvSpPr/>
          <p:nvPr/>
        </p:nvSpPr>
        <p:spPr>
          <a:xfrm>
            <a:off x="411480" y="3447288"/>
            <a:ext cx="2468880" cy="320040"/>
          </a:xfrm>
          <a:prstGeom prst="rect">
            <a:avLst/>
          </a:prstGeom>
          <a:noFill/>
          <a:ln/>
        </p:spPr>
        <p:txBody>
          <a:bodyPr wrap="square" lIns="0" tIns="0" rIns="0" bIns="0" rtlCol="0" anchor="ctr"/>
          <a:lstStyle/>
          <a:p>
            <a:pPr marL="0" indent="0">
              <a:buNone/>
            </a:pPr>
            <a:r>
              <a:rPr lang="en-US" sz="1300" b="1" dirty="0">
                <a:solidFill>
                  <a:srgbClr val="1B4F9C"/>
                </a:solidFill>
              </a:rPr>
              <a:t>📧  Notifications</a:t>
            </a:r>
            <a:endParaRPr lang="en-US" sz="1300" dirty="0"/>
          </a:p>
        </p:txBody>
      </p:sp>
      <p:sp>
        <p:nvSpPr>
          <p:cNvPr id="17" name="Text 15"/>
          <p:cNvSpPr/>
          <p:nvPr/>
        </p:nvSpPr>
        <p:spPr>
          <a:xfrm>
            <a:off x="411480" y="3794760"/>
            <a:ext cx="2468880" cy="777240"/>
          </a:xfrm>
          <a:prstGeom prst="rect">
            <a:avLst/>
          </a:prstGeom>
          <a:noFill/>
          <a:ln/>
        </p:spPr>
        <p:txBody>
          <a:bodyPr wrap="square" lIns="0" tIns="0" rIns="0" bIns="0" rtlCol="0" anchor="ctr"/>
          <a:lstStyle/>
          <a:p>
            <a:pPr marL="0" indent="0">
              <a:buNone/>
            </a:pPr>
            <a:r>
              <a:rPr lang="en-US" sz="1100" dirty="0">
                <a:solidFill>
                  <a:srgbClr val="1E293B"/>
                </a:solidFill>
              </a:rPr>
              <a:t>Email on task assignment</a:t>
            </a:r>
            <a:endParaRPr lang="en-US" sz="1100" dirty="0"/>
          </a:p>
          <a:p>
            <a:pPr marL="0" indent="0">
              <a:buNone/>
            </a:pPr>
            <a:r>
              <a:rPr lang="en-US" sz="1100" dirty="0">
                <a:solidFill>
                  <a:srgbClr val="1E293B"/>
                </a:solidFill>
              </a:rPr>
              <a:t>Async non-blocking delivery</a:t>
            </a:r>
            <a:endParaRPr lang="en-US" sz="1100" dirty="0"/>
          </a:p>
        </p:txBody>
      </p:sp>
      <p:sp>
        <p:nvSpPr>
          <p:cNvPr id="18" name="Shape 16"/>
          <p:cNvSpPr/>
          <p:nvPr/>
        </p:nvSpPr>
        <p:spPr>
          <a:xfrm>
            <a:off x="3218688" y="3337560"/>
            <a:ext cx="2743200" cy="1371600"/>
          </a:xfrm>
          <a:prstGeom prst="roundRect">
            <a:avLst>
              <a:gd name="adj" fmla="val 6667"/>
            </a:avLst>
          </a:prstGeom>
          <a:solidFill>
            <a:srgbClr val="F0F7FF"/>
          </a:solidFill>
          <a:ln w="12700">
            <a:solidFill>
              <a:srgbClr val="DBEAFE"/>
            </a:solidFill>
            <a:prstDash val="solid"/>
          </a:ln>
          <a:effectLst>
            <a:outerShdw blurRad="101600" dist="38100" dir="2700000" algn="bl" rotWithShape="0">
              <a:srgbClr val="000000">
                <a:alpha val="12000"/>
              </a:srgbClr>
            </a:outerShdw>
          </a:effectLst>
        </p:spPr>
      </p:sp>
      <p:sp>
        <p:nvSpPr>
          <p:cNvPr id="19" name="Text 17"/>
          <p:cNvSpPr/>
          <p:nvPr/>
        </p:nvSpPr>
        <p:spPr>
          <a:xfrm>
            <a:off x="3355848" y="3447288"/>
            <a:ext cx="2468880" cy="320040"/>
          </a:xfrm>
          <a:prstGeom prst="rect">
            <a:avLst/>
          </a:prstGeom>
          <a:noFill/>
          <a:ln/>
        </p:spPr>
        <p:txBody>
          <a:bodyPr wrap="square" lIns="0" tIns="0" rIns="0" bIns="0" rtlCol="0" anchor="ctr"/>
          <a:lstStyle/>
          <a:p>
            <a:pPr marL="0" indent="0">
              <a:buNone/>
            </a:pPr>
            <a:r>
              <a:rPr lang="en-US" sz="1300" b="1" dirty="0">
                <a:solidFill>
                  <a:srgbClr val="1B4F9C"/>
                </a:solidFill>
              </a:rPr>
              <a:t>📋  Swagger Docs</a:t>
            </a:r>
            <a:endParaRPr lang="en-US" sz="1300" dirty="0"/>
          </a:p>
        </p:txBody>
      </p:sp>
      <p:sp>
        <p:nvSpPr>
          <p:cNvPr id="20" name="Text 18"/>
          <p:cNvSpPr/>
          <p:nvPr/>
        </p:nvSpPr>
        <p:spPr>
          <a:xfrm>
            <a:off x="3355848" y="3794760"/>
            <a:ext cx="2468880" cy="777240"/>
          </a:xfrm>
          <a:prstGeom prst="rect">
            <a:avLst/>
          </a:prstGeom>
          <a:noFill/>
          <a:ln/>
        </p:spPr>
        <p:txBody>
          <a:bodyPr wrap="square" lIns="0" tIns="0" rIns="0" bIns="0" rtlCol="0" anchor="ctr"/>
          <a:lstStyle/>
          <a:p>
            <a:pPr marL="0" indent="0">
              <a:buNone/>
            </a:pPr>
            <a:r>
              <a:rPr lang="en-US" sz="1100" dirty="0">
                <a:solidFill>
                  <a:srgbClr val="1E293B"/>
                </a:solidFill>
              </a:rPr>
              <a:t>Live API docs at /swagger-ui</a:t>
            </a:r>
            <a:endParaRPr lang="en-US" sz="1100" dirty="0"/>
          </a:p>
          <a:p>
            <a:pPr marL="0" indent="0">
              <a:buNone/>
            </a:pPr>
            <a:r>
              <a:rPr lang="en-US" sz="1100" dirty="0">
                <a:solidFill>
                  <a:srgbClr val="1E293B"/>
                </a:solidFill>
              </a:rPr>
              <a:t>JWT auth integrated in UI</a:t>
            </a:r>
            <a:endParaRPr lang="en-US" sz="1100" dirty="0"/>
          </a:p>
        </p:txBody>
      </p:sp>
      <p:sp>
        <p:nvSpPr>
          <p:cNvPr id="21" name="Shape 19"/>
          <p:cNvSpPr/>
          <p:nvPr/>
        </p:nvSpPr>
        <p:spPr>
          <a:xfrm>
            <a:off x="6163056" y="3337560"/>
            <a:ext cx="2743200" cy="1371600"/>
          </a:xfrm>
          <a:prstGeom prst="roundRect">
            <a:avLst>
              <a:gd name="adj" fmla="val 6667"/>
            </a:avLst>
          </a:prstGeom>
          <a:solidFill>
            <a:srgbClr val="F0F7FF"/>
          </a:solidFill>
          <a:ln w="12700">
            <a:solidFill>
              <a:srgbClr val="DBEAFE"/>
            </a:solidFill>
            <a:prstDash val="solid"/>
          </a:ln>
          <a:effectLst>
            <a:outerShdw blurRad="101600" dist="38100" dir="2700000" algn="bl" rotWithShape="0">
              <a:srgbClr val="000000">
                <a:alpha val="12000"/>
              </a:srgbClr>
            </a:outerShdw>
          </a:effectLst>
        </p:spPr>
      </p:sp>
      <p:sp>
        <p:nvSpPr>
          <p:cNvPr id="22" name="Text 20"/>
          <p:cNvSpPr/>
          <p:nvPr/>
        </p:nvSpPr>
        <p:spPr>
          <a:xfrm>
            <a:off x="6300216" y="3447288"/>
            <a:ext cx="2468880" cy="320040"/>
          </a:xfrm>
          <a:prstGeom prst="rect">
            <a:avLst/>
          </a:prstGeom>
          <a:noFill/>
          <a:ln/>
        </p:spPr>
        <p:txBody>
          <a:bodyPr wrap="square" lIns="0" tIns="0" rIns="0" bIns="0" rtlCol="0" anchor="ctr"/>
          <a:lstStyle/>
          <a:p>
            <a:pPr marL="0" indent="0">
              <a:buNone/>
            </a:pPr>
            <a:r>
              <a:rPr lang="en-US" sz="1300" b="1" dirty="0">
                <a:solidFill>
                  <a:srgbClr val="1B4F9C"/>
                </a:solidFill>
              </a:rPr>
              <a:t>🚀  Deployment</a:t>
            </a:r>
            <a:endParaRPr lang="en-US" sz="1300" dirty="0"/>
          </a:p>
        </p:txBody>
      </p:sp>
      <p:sp>
        <p:nvSpPr>
          <p:cNvPr id="23" name="Text 21"/>
          <p:cNvSpPr/>
          <p:nvPr/>
        </p:nvSpPr>
        <p:spPr>
          <a:xfrm>
            <a:off x="6300216" y="3794760"/>
            <a:ext cx="2468880" cy="777240"/>
          </a:xfrm>
          <a:prstGeom prst="rect">
            <a:avLst/>
          </a:prstGeom>
          <a:noFill/>
          <a:ln/>
        </p:spPr>
        <p:txBody>
          <a:bodyPr wrap="square" lIns="0" tIns="0" rIns="0" bIns="0" rtlCol="0" anchor="ctr"/>
          <a:lstStyle/>
          <a:p>
            <a:pPr marL="0" indent="0">
              <a:buNone/>
            </a:pPr>
            <a:r>
              <a:rPr lang="en-US" sz="1100" dirty="0">
                <a:solidFill>
                  <a:srgbClr val="1E293B"/>
                </a:solidFill>
              </a:rPr>
              <a:t>Docker + Render cloud</a:t>
            </a:r>
            <a:endParaRPr lang="en-US" sz="1100" dirty="0"/>
          </a:p>
          <a:p>
            <a:pPr marL="0" indent="0">
              <a:buNone/>
            </a:pPr>
            <a:r>
              <a:rPr lang="en-US" sz="1100" dirty="0">
                <a:solidFill>
                  <a:srgbClr val="1E293B"/>
                </a:solidFill>
              </a:rPr>
              <a:t>Live public URL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0A1628"/>
                </a:solidFill>
              </a:rPr>
              <a:t>Role-Based Access Control</a:t>
            </a:r>
            <a:endParaRPr lang="en-US" sz="3000" dirty="0"/>
          </a:p>
        </p:txBody>
      </p:sp>
      <p:sp>
        <p:nvSpPr>
          <p:cNvPr id="3" name="Text 1"/>
          <p:cNvSpPr/>
          <p:nvPr/>
        </p:nvSpPr>
        <p:spPr>
          <a:xfrm>
            <a:off x="457200" y="804672"/>
            <a:ext cx="8229600" cy="274320"/>
          </a:xfrm>
          <a:prstGeom prst="rect">
            <a:avLst/>
          </a:prstGeom>
          <a:noFill/>
          <a:ln/>
        </p:spPr>
        <p:txBody>
          <a:bodyPr wrap="square" rtlCol="0" anchor="ctr"/>
          <a:lstStyle/>
          <a:p>
            <a:pPr marL="0" indent="0">
              <a:buNone/>
            </a:pPr>
            <a:r>
              <a:rPr lang="en-US" sz="1300" dirty="0">
                <a:solidFill>
                  <a:srgbClr val="64748B"/>
                </a:solidFill>
              </a:rPr>
              <a:t>Who can do what in the system</a:t>
            </a:r>
            <a:endParaRPr lang="en-US" sz="1300" dirty="0"/>
          </a:p>
        </p:txBody>
      </p:sp>
      <p:sp>
        <p:nvSpPr>
          <p:cNvPr id="4" name="Shape 2"/>
          <p:cNvSpPr/>
          <p:nvPr/>
        </p:nvSpPr>
        <p:spPr>
          <a:xfrm>
            <a:off x="365760" y="1188720"/>
            <a:ext cx="8412480" cy="411480"/>
          </a:xfrm>
          <a:prstGeom prst="roundRect">
            <a:avLst/>
          </a:prstGeom>
          <a:solidFill>
            <a:srgbClr val="1B4F9C"/>
          </a:solidFill>
          <a:ln w="12700">
            <a:solidFill>
              <a:srgbClr val="1B4F9C"/>
            </a:solidFill>
            <a:prstDash val="solid"/>
          </a:ln>
        </p:spPr>
      </p:sp>
      <p:sp>
        <p:nvSpPr>
          <p:cNvPr id="5" name="Text 3"/>
          <p:cNvSpPr/>
          <p:nvPr/>
        </p:nvSpPr>
        <p:spPr>
          <a:xfrm>
            <a:off x="457200" y="1188720"/>
            <a:ext cx="5029200" cy="411480"/>
          </a:xfrm>
          <a:prstGeom prst="rect">
            <a:avLst/>
          </a:prstGeom>
          <a:noFill/>
          <a:ln/>
        </p:spPr>
        <p:txBody>
          <a:bodyPr wrap="square" lIns="0" tIns="0" rIns="0" bIns="0" rtlCol="0" anchor="ctr"/>
          <a:lstStyle/>
          <a:p>
            <a:pPr marL="0" indent="0">
              <a:buNone/>
            </a:pPr>
            <a:r>
              <a:rPr lang="en-US" sz="1200" b="1" dirty="0">
                <a:solidFill>
                  <a:srgbClr val="FFFFFF"/>
                </a:solidFill>
              </a:rPr>
              <a:t>Action</a:t>
            </a:r>
            <a:endParaRPr lang="en-US" sz="1200" dirty="0"/>
          </a:p>
        </p:txBody>
      </p:sp>
      <p:sp>
        <p:nvSpPr>
          <p:cNvPr id="6" name="Text 4"/>
          <p:cNvSpPr/>
          <p:nvPr/>
        </p:nvSpPr>
        <p:spPr>
          <a:xfrm>
            <a:off x="5486400" y="1188720"/>
            <a:ext cx="1371600" cy="411480"/>
          </a:xfrm>
          <a:prstGeom prst="rect">
            <a:avLst/>
          </a:prstGeom>
          <a:noFill/>
          <a:ln/>
        </p:spPr>
        <p:txBody>
          <a:bodyPr wrap="square" lIns="0" tIns="0" rIns="0" bIns="0" rtlCol="0" anchor="ctr"/>
          <a:lstStyle/>
          <a:p>
            <a:pPr marL="0" indent="0" algn="ctr">
              <a:buNone/>
            </a:pPr>
            <a:r>
              <a:rPr lang="en-US" sz="1200" b="1" dirty="0">
                <a:solidFill>
                  <a:srgbClr val="FFFFFF"/>
                </a:solidFill>
              </a:rPr>
              <a:t>USER</a:t>
            </a:r>
            <a:endParaRPr lang="en-US" sz="1200" dirty="0"/>
          </a:p>
        </p:txBody>
      </p:sp>
      <p:sp>
        <p:nvSpPr>
          <p:cNvPr id="7" name="Text 5"/>
          <p:cNvSpPr/>
          <p:nvPr/>
        </p:nvSpPr>
        <p:spPr>
          <a:xfrm>
            <a:off x="7132320" y="1188720"/>
            <a:ext cx="1554480" cy="411480"/>
          </a:xfrm>
          <a:prstGeom prst="rect">
            <a:avLst/>
          </a:prstGeom>
          <a:noFill/>
          <a:ln/>
        </p:spPr>
        <p:txBody>
          <a:bodyPr wrap="square" lIns="0" tIns="0" rIns="0" bIns="0" rtlCol="0" anchor="ctr"/>
          <a:lstStyle/>
          <a:p>
            <a:pPr marL="0" indent="0" algn="ctr">
              <a:buNone/>
            </a:pPr>
            <a:r>
              <a:rPr lang="en-US" sz="1200" b="1" dirty="0">
                <a:solidFill>
                  <a:srgbClr val="FFFFFF"/>
                </a:solidFill>
              </a:rPr>
              <a:t>ADMIN</a:t>
            </a:r>
            <a:endParaRPr lang="en-US" sz="1200" dirty="0"/>
          </a:p>
        </p:txBody>
      </p:sp>
      <p:sp>
        <p:nvSpPr>
          <p:cNvPr id="8" name="Shape 6"/>
          <p:cNvSpPr/>
          <p:nvPr/>
        </p:nvSpPr>
        <p:spPr>
          <a:xfrm>
            <a:off x="365760" y="1600200"/>
            <a:ext cx="8412480" cy="457200"/>
          </a:xfrm>
          <a:prstGeom prst="rect">
            <a:avLst/>
          </a:prstGeom>
          <a:solidFill>
            <a:srgbClr val="F0F7FF"/>
          </a:solidFill>
          <a:ln w="12700">
            <a:solidFill>
              <a:srgbClr val="E2E8F0"/>
            </a:solidFill>
            <a:prstDash val="solid"/>
          </a:ln>
        </p:spPr>
      </p:sp>
      <p:sp>
        <p:nvSpPr>
          <p:cNvPr id="9" name="Text 7"/>
          <p:cNvSpPr/>
          <p:nvPr/>
        </p:nvSpPr>
        <p:spPr>
          <a:xfrm>
            <a:off x="502920" y="1600200"/>
            <a:ext cx="4846320" cy="457200"/>
          </a:xfrm>
          <a:prstGeom prst="rect">
            <a:avLst/>
          </a:prstGeom>
          <a:noFill/>
          <a:ln/>
        </p:spPr>
        <p:txBody>
          <a:bodyPr wrap="square" lIns="0" tIns="0" rIns="0" bIns="0" rtlCol="0" anchor="ctr"/>
          <a:lstStyle/>
          <a:p>
            <a:pPr marL="0" indent="0">
              <a:buNone/>
            </a:pPr>
            <a:r>
              <a:rPr lang="en-US" sz="1200" dirty="0">
                <a:solidFill>
                  <a:srgbClr val="1E293B"/>
                </a:solidFill>
              </a:rPr>
              <a:t>Register / Login</a:t>
            </a:r>
            <a:endParaRPr lang="en-US" sz="1200" dirty="0"/>
          </a:p>
        </p:txBody>
      </p:sp>
      <p:sp>
        <p:nvSpPr>
          <p:cNvPr id="10" name="Text 8"/>
          <p:cNvSpPr/>
          <p:nvPr/>
        </p:nvSpPr>
        <p:spPr>
          <a:xfrm>
            <a:off x="5486400" y="1600200"/>
            <a:ext cx="137160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
        <p:nvSpPr>
          <p:cNvPr id="11" name="Text 9"/>
          <p:cNvSpPr/>
          <p:nvPr/>
        </p:nvSpPr>
        <p:spPr>
          <a:xfrm>
            <a:off x="7132320" y="1600200"/>
            <a:ext cx="155448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
        <p:nvSpPr>
          <p:cNvPr id="12" name="Shape 10"/>
          <p:cNvSpPr/>
          <p:nvPr/>
        </p:nvSpPr>
        <p:spPr>
          <a:xfrm>
            <a:off x="365760" y="2057400"/>
            <a:ext cx="8412480" cy="457200"/>
          </a:xfrm>
          <a:prstGeom prst="rect">
            <a:avLst/>
          </a:prstGeom>
          <a:solidFill>
            <a:srgbClr val="F8FAFC"/>
          </a:solidFill>
          <a:ln w="12700">
            <a:solidFill>
              <a:srgbClr val="E2E8F0"/>
            </a:solidFill>
            <a:prstDash val="solid"/>
          </a:ln>
        </p:spPr>
      </p:sp>
      <p:sp>
        <p:nvSpPr>
          <p:cNvPr id="13" name="Text 11"/>
          <p:cNvSpPr/>
          <p:nvPr/>
        </p:nvSpPr>
        <p:spPr>
          <a:xfrm>
            <a:off x="502920" y="2057400"/>
            <a:ext cx="4846320" cy="457200"/>
          </a:xfrm>
          <a:prstGeom prst="rect">
            <a:avLst/>
          </a:prstGeom>
          <a:noFill/>
          <a:ln/>
        </p:spPr>
        <p:txBody>
          <a:bodyPr wrap="square" lIns="0" tIns="0" rIns="0" bIns="0" rtlCol="0" anchor="ctr"/>
          <a:lstStyle/>
          <a:p>
            <a:pPr marL="0" indent="0">
              <a:buNone/>
            </a:pPr>
            <a:r>
              <a:rPr lang="en-US" sz="1200" dirty="0">
                <a:solidFill>
                  <a:srgbClr val="1E293B"/>
                </a:solidFill>
              </a:rPr>
              <a:t>Create &amp; update own tasks</a:t>
            </a:r>
            <a:endParaRPr lang="en-US" sz="1200" dirty="0"/>
          </a:p>
        </p:txBody>
      </p:sp>
      <p:sp>
        <p:nvSpPr>
          <p:cNvPr id="14" name="Text 12"/>
          <p:cNvSpPr/>
          <p:nvPr/>
        </p:nvSpPr>
        <p:spPr>
          <a:xfrm>
            <a:off x="5486400" y="2057400"/>
            <a:ext cx="137160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
        <p:nvSpPr>
          <p:cNvPr id="15" name="Text 13"/>
          <p:cNvSpPr/>
          <p:nvPr/>
        </p:nvSpPr>
        <p:spPr>
          <a:xfrm>
            <a:off x="7132320" y="2057400"/>
            <a:ext cx="155448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
        <p:nvSpPr>
          <p:cNvPr id="16" name="Shape 14"/>
          <p:cNvSpPr/>
          <p:nvPr/>
        </p:nvSpPr>
        <p:spPr>
          <a:xfrm>
            <a:off x="365760" y="2514600"/>
            <a:ext cx="8412480" cy="457200"/>
          </a:xfrm>
          <a:prstGeom prst="rect">
            <a:avLst/>
          </a:prstGeom>
          <a:solidFill>
            <a:srgbClr val="F0F7FF"/>
          </a:solidFill>
          <a:ln w="12700">
            <a:solidFill>
              <a:srgbClr val="E2E8F0"/>
            </a:solidFill>
            <a:prstDash val="solid"/>
          </a:ln>
        </p:spPr>
      </p:sp>
      <p:sp>
        <p:nvSpPr>
          <p:cNvPr id="17" name="Text 15"/>
          <p:cNvSpPr/>
          <p:nvPr/>
        </p:nvSpPr>
        <p:spPr>
          <a:xfrm>
            <a:off x="502920" y="2514600"/>
            <a:ext cx="4846320" cy="457200"/>
          </a:xfrm>
          <a:prstGeom prst="rect">
            <a:avLst/>
          </a:prstGeom>
          <a:noFill/>
          <a:ln/>
        </p:spPr>
        <p:txBody>
          <a:bodyPr wrap="square" lIns="0" tIns="0" rIns="0" bIns="0" rtlCol="0" anchor="ctr"/>
          <a:lstStyle/>
          <a:p>
            <a:pPr marL="0" indent="0">
              <a:buNone/>
            </a:pPr>
            <a:r>
              <a:rPr lang="en-US" sz="1200" dirty="0">
                <a:solidFill>
                  <a:srgbClr val="1E293B"/>
                </a:solidFill>
              </a:rPr>
              <a:t>View own tasks only</a:t>
            </a:r>
            <a:endParaRPr lang="en-US" sz="1200" dirty="0"/>
          </a:p>
        </p:txBody>
      </p:sp>
      <p:sp>
        <p:nvSpPr>
          <p:cNvPr id="18" name="Text 16"/>
          <p:cNvSpPr/>
          <p:nvPr/>
        </p:nvSpPr>
        <p:spPr>
          <a:xfrm>
            <a:off x="5486400" y="2514600"/>
            <a:ext cx="137160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
        <p:nvSpPr>
          <p:cNvPr id="19" name="Text 17"/>
          <p:cNvSpPr/>
          <p:nvPr/>
        </p:nvSpPr>
        <p:spPr>
          <a:xfrm>
            <a:off x="7132320" y="2514600"/>
            <a:ext cx="1554480" cy="45720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20" name="Shape 18"/>
          <p:cNvSpPr/>
          <p:nvPr/>
        </p:nvSpPr>
        <p:spPr>
          <a:xfrm>
            <a:off x="365760" y="2971800"/>
            <a:ext cx="8412480" cy="457200"/>
          </a:xfrm>
          <a:prstGeom prst="rect">
            <a:avLst/>
          </a:prstGeom>
          <a:solidFill>
            <a:srgbClr val="F8FAFC"/>
          </a:solidFill>
          <a:ln w="12700">
            <a:solidFill>
              <a:srgbClr val="E2E8F0"/>
            </a:solidFill>
            <a:prstDash val="solid"/>
          </a:ln>
        </p:spPr>
      </p:sp>
      <p:sp>
        <p:nvSpPr>
          <p:cNvPr id="21" name="Text 19"/>
          <p:cNvSpPr/>
          <p:nvPr/>
        </p:nvSpPr>
        <p:spPr>
          <a:xfrm>
            <a:off x="502920" y="2971800"/>
            <a:ext cx="4846320" cy="457200"/>
          </a:xfrm>
          <a:prstGeom prst="rect">
            <a:avLst/>
          </a:prstGeom>
          <a:noFill/>
          <a:ln/>
        </p:spPr>
        <p:txBody>
          <a:bodyPr wrap="square" lIns="0" tIns="0" rIns="0" bIns="0" rtlCol="0" anchor="ctr"/>
          <a:lstStyle/>
          <a:p>
            <a:pPr marL="0" indent="0">
              <a:buNone/>
            </a:pPr>
            <a:r>
              <a:rPr lang="en-US" sz="1200" dirty="0">
                <a:solidFill>
                  <a:srgbClr val="1E293B"/>
                </a:solidFill>
              </a:rPr>
              <a:t>View ALL tasks</a:t>
            </a:r>
            <a:endParaRPr lang="en-US" sz="1200" dirty="0"/>
          </a:p>
        </p:txBody>
      </p:sp>
      <p:sp>
        <p:nvSpPr>
          <p:cNvPr id="22" name="Text 20"/>
          <p:cNvSpPr/>
          <p:nvPr/>
        </p:nvSpPr>
        <p:spPr>
          <a:xfrm>
            <a:off x="5486400" y="2971800"/>
            <a:ext cx="1371600" cy="45720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23" name="Text 21"/>
          <p:cNvSpPr/>
          <p:nvPr/>
        </p:nvSpPr>
        <p:spPr>
          <a:xfrm>
            <a:off x="7132320" y="2971800"/>
            <a:ext cx="155448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
        <p:nvSpPr>
          <p:cNvPr id="24" name="Shape 22"/>
          <p:cNvSpPr/>
          <p:nvPr/>
        </p:nvSpPr>
        <p:spPr>
          <a:xfrm>
            <a:off x="365760" y="3429000"/>
            <a:ext cx="8412480" cy="457200"/>
          </a:xfrm>
          <a:prstGeom prst="rect">
            <a:avLst/>
          </a:prstGeom>
          <a:solidFill>
            <a:srgbClr val="F0F7FF"/>
          </a:solidFill>
          <a:ln w="12700">
            <a:solidFill>
              <a:srgbClr val="E2E8F0"/>
            </a:solidFill>
            <a:prstDash val="solid"/>
          </a:ln>
        </p:spPr>
      </p:sp>
      <p:sp>
        <p:nvSpPr>
          <p:cNvPr id="25" name="Text 23"/>
          <p:cNvSpPr/>
          <p:nvPr/>
        </p:nvSpPr>
        <p:spPr>
          <a:xfrm>
            <a:off x="502920" y="3429000"/>
            <a:ext cx="4846320" cy="457200"/>
          </a:xfrm>
          <a:prstGeom prst="rect">
            <a:avLst/>
          </a:prstGeom>
          <a:noFill/>
          <a:ln/>
        </p:spPr>
        <p:txBody>
          <a:bodyPr wrap="square" lIns="0" tIns="0" rIns="0" bIns="0" rtlCol="0" anchor="ctr"/>
          <a:lstStyle/>
          <a:p>
            <a:pPr marL="0" indent="0">
              <a:buNone/>
            </a:pPr>
            <a:r>
              <a:rPr lang="en-US" sz="1200" dirty="0">
                <a:solidFill>
                  <a:srgbClr val="1E293B"/>
                </a:solidFill>
              </a:rPr>
              <a:t>Assign task to user</a:t>
            </a:r>
            <a:endParaRPr lang="en-US" sz="1200" dirty="0"/>
          </a:p>
        </p:txBody>
      </p:sp>
      <p:sp>
        <p:nvSpPr>
          <p:cNvPr id="26" name="Text 24"/>
          <p:cNvSpPr/>
          <p:nvPr/>
        </p:nvSpPr>
        <p:spPr>
          <a:xfrm>
            <a:off x="5486400" y="3429000"/>
            <a:ext cx="1371600" cy="45720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27" name="Text 25"/>
          <p:cNvSpPr/>
          <p:nvPr/>
        </p:nvSpPr>
        <p:spPr>
          <a:xfrm>
            <a:off x="7132320" y="3429000"/>
            <a:ext cx="155448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
        <p:nvSpPr>
          <p:cNvPr id="28" name="Shape 26"/>
          <p:cNvSpPr/>
          <p:nvPr/>
        </p:nvSpPr>
        <p:spPr>
          <a:xfrm>
            <a:off x="365760" y="3886200"/>
            <a:ext cx="8412480" cy="457200"/>
          </a:xfrm>
          <a:prstGeom prst="rect">
            <a:avLst/>
          </a:prstGeom>
          <a:solidFill>
            <a:srgbClr val="F8FAFC"/>
          </a:solidFill>
          <a:ln w="12700">
            <a:solidFill>
              <a:srgbClr val="E2E8F0"/>
            </a:solidFill>
            <a:prstDash val="solid"/>
          </a:ln>
        </p:spPr>
      </p:sp>
      <p:sp>
        <p:nvSpPr>
          <p:cNvPr id="29" name="Text 27"/>
          <p:cNvSpPr/>
          <p:nvPr/>
        </p:nvSpPr>
        <p:spPr>
          <a:xfrm>
            <a:off x="502920" y="3886200"/>
            <a:ext cx="4846320" cy="457200"/>
          </a:xfrm>
          <a:prstGeom prst="rect">
            <a:avLst/>
          </a:prstGeom>
          <a:noFill/>
          <a:ln/>
        </p:spPr>
        <p:txBody>
          <a:bodyPr wrap="square" lIns="0" tIns="0" rIns="0" bIns="0" rtlCol="0" anchor="ctr"/>
          <a:lstStyle/>
          <a:p>
            <a:pPr marL="0" indent="0">
              <a:buNone/>
            </a:pPr>
            <a:r>
              <a:rPr lang="en-US" sz="1200" dirty="0">
                <a:solidFill>
                  <a:srgbClr val="1E293B"/>
                </a:solidFill>
              </a:rPr>
              <a:t>Manage users (promote/delete)</a:t>
            </a:r>
            <a:endParaRPr lang="en-US" sz="1200" dirty="0"/>
          </a:p>
        </p:txBody>
      </p:sp>
      <p:sp>
        <p:nvSpPr>
          <p:cNvPr id="30" name="Text 28"/>
          <p:cNvSpPr/>
          <p:nvPr/>
        </p:nvSpPr>
        <p:spPr>
          <a:xfrm>
            <a:off x="5486400" y="3886200"/>
            <a:ext cx="1371600" cy="45720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31" name="Text 29"/>
          <p:cNvSpPr/>
          <p:nvPr/>
        </p:nvSpPr>
        <p:spPr>
          <a:xfrm>
            <a:off x="7132320" y="3886200"/>
            <a:ext cx="155448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
        <p:nvSpPr>
          <p:cNvPr id="32" name="Shape 30"/>
          <p:cNvSpPr/>
          <p:nvPr/>
        </p:nvSpPr>
        <p:spPr>
          <a:xfrm>
            <a:off x="365760" y="4343400"/>
            <a:ext cx="8412480" cy="457200"/>
          </a:xfrm>
          <a:prstGeom prst="rect">
            <a:avLst/>
          </a:prstGeom>
          <a:solidFill>
            <a:srgbClr val="F0F7FF"/>
          </a:solidFill>
          <a:ln w="12700">
            <a:solidFill>
              <a:srgbClr val="E2E8F0"/>
            </a:solidFill>
            <a:prstDash val="solid"/>
          </a:ln>
        </p:spPr>
      </p:sp>
      <p:sp>
        <p:nvSpPr>
          <p:cNvPr id="33" name="Text 31"/>
          <p:cNvSpPr/>
          <p:nvPr/>
        </p:nvSpPr>
        <p:spPr>
          <a:xfrm>
            <a:off x="502920" y="4343400"/>
            <a:ext cx="4846320" cy="457200"/>
          </a:xfrm>
          <a:prstGeom prst="rect">
            <a:avLst/>
          </a:prstGeom>
          <a:noFill/>
          <a:ln/>
        </p:spPr>
        <p:txBody>
          <a:bodyPr wrap="square" lIns="0" tIns="0" rIns="0" bIns="0" rtlCol="0" anchor="ctr"/>
          <a:lstStyle/>
          <a:p>
            <a:pPr marL="0" indent="0">
              <a:buNone/>
            </a:pPr>
            <a:r>
              <a:rPr lang="en-US" sz="1200" dirty="0">
                <a:solidFill>
                  <a:srgbClr val="1E293B"/>
                </a:solidFill>
              </a:rPr>
              <a:t>View dashboard statistics</a:t>
            </a:r>
            <a:endParaRPr lang="en-US" sz="1200" dirty="0"/>
          </a:p>
        </p:txBody>
      </p:sp>
      <p:sp>
        <p:nvSpPr>
          <p:cNvPr id="34" name="Text 32"/>
          <p:cNvSpPr/>
          <p:nvPr/>
        </p:nvSpPr>
        <p:spPr>
          <a:xfrm>
            <a:off x="5486400" y="4343400"/>
            <a:ext cx="1371600" cy="45720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35" name="Text 33"/>
          <p:cNvSpPr/>
          <p:nvPr/>
        </p:nvSpPr>
        <p:spPr>
          <a:xfrm>
            <a:off x="7132320" y="4343400"/>
            <a:ext cx="1554480" cy="457200"/>
          </a:xfrm>
          <a:prstGeom prst="rect">
            <a:avLst/>
          </a:prstGeom>
          <a:noFill/>
          <a:ln/>
        </p:spPr>
        <p:txBody>
          <a:bodyPr wrap="square" lIns="0" tIns="0" rIns="0" bIns="0" rtlCol="0" anchor="ctr"/>
          <a:lstStyle/>
          <a:p>
            <a:pPr marL="0" indent="0" algn="ctr">
              <a:buNone/>
            </a:pPr>
            <a:r>
              <a:rPr lang="en-US" sz="1400" b="1" dirty="0">
                <a:solidFill>
                  <a:srgbClr val="22C55E"/>
                </a:solidFill>
              </a:rPr>
              <a: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457200"/>
            <a:ext cx="4114800" cy="4114800"/>
          </a:xfrm>
          <a:prstGeom prst="ellipse">
            <a:avLst/>
          </a:prstGeom>
          <a:solidFill>
            <a:srgbClr val="0EA5E9">
              <a:alpha val="15000"/>
            </a:srgbClr>
          </a:solidFill>
          <a:ln w="12700">
            <a:solidFill>
              <a:srgbClr val="0EA5E9">
                <a:alpha val="15000"/>
              </a:srgbClr>
            </a:solidFill>
            <a:prstDash val="solid"/>
          </a:ln>
        </p:spPr>
      </p:sp>
      <p:sp>
        <p:nvSpPr>
          <p:cNvPr id="3" name="Text 1"/>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FFFFFF"/>
                </a:solidFill>
              </a:rPr>
              <a:t>Live Deployment</a:t>
            </a:r>
            <a:endParaRPr lang="en-US" sz="3200" dirty="0"/>
          </a:p>
        </p:txBody>
      </p:sp>
      <p:sp>
        <p:nvSpPr>
          <p:cNvPr id="4" name="Text 2"/>
          <p:cNvSpPr/>
          <p:nvPr/>
        </p:nvSpPr>
        <p:spPr>
          <a:xfrm>
            <a:off x="457200" y="960120"/>
            <a:ext cx="8229600" cy="320040"/>
          </a:xfrm>
          <a:prstGeom prst="rect">
            <a:avLst/>
          </a:prstGeom>
          <a:noFill/>
          <a:ln/>
        </p:spPr>
        <p:txBody>
          <a:bodyPr wrap="square" rtlCol="0" anchor="ctr"/>
          <a:lstStyle/>
          <a:p>
            <a:pPr marL="0" indent="0">
              <a:buNone/>
            </a:pPr>
            <a:r>
              <a:rPr lang="en-US" sz="1400" dirty="0">
                <a:solidFill>
                  <a:srgbClr val="94A3B8"/>
                </a:solidFill>
              </a:rPr>
              <a:t>Deployed on Render — Free tier with Docker</a:t>
            </a:r>
            <a:endParaRPr lang="en-US" sz="1400" dirty="0"/>
          </a:p>
        </p:txBody>
      </p:sp>
      <p:sp>
        <p:nvSpPr>
          <p:cNvPr id="5" name="Shape 3"/>
          <p:cNvSpPr/>
          <p:nvPr/>
        </p:nvSpPr>
        <p:spPr>
          <a:xfrm>
            <a:off x="457200" y="1463040"/>
            <a:ext cx="8229600" cy="804672"/>
          </a:xfrm>
          <a:prstGeom prst="roundRect">
            <a:avLst>
              <a:gd name="adj" fmla="val 11364"/>
            </a:avLst>
          </a:prstGeom>
          <a:solidFill>
            <a:srgbClr val="132040"/>
          </a:solidFill>
          <a:ln w="12700">
            <a:solidFill>
              <a:srgbClr val="1B3A6B"/>
            </a:solidFill>
            <a:prstDash val="solid"/>
          </a:ln>
        </p:spPr>
      </p:sp>
      <p:sp>
        <p:nvSpPr>
          <p:cNvPr id="6" name="Text 4"/>
          <p:cNvSpPr/>
          <p:nvPr/>
        </p:nvSpPr>
        <p:spPr>
          <a:xfrm>
            <a:off x="685800" y="1536192"/>
            <a:ext cx="7772400" cy="256032"/>
          </a:xfrm>
          <a:prstGeom prst="rect">
            <a:avLst/>
          </a:prstGeom>
          <a:noFill/>
          <a:ln/>
        </p:spPr>
        <p:txBody>
          <a:bodyPr wrap="square" lIns="0" tIns="0" rIns="0" bIns="0" rtlCol="0" anchor="ctr"/>
          <a:lstStyle/>
          <a:p>
            <a:pPr marL="0" indent="0">
              <a:buNone/>
            </a:pPr>
            <a:r>
              <a:rPr lang="en-US" sz="1200" b="1" dirty="0">
                <a:solidFill>
                  <a:srgbClr val="0EA5E9"/>
                </a:solidFill>
              </a:rPr>
              <a:t>🌐  Live Application</a:t>
            </a:r>
            <a:endParaRPr lang="en-US" sz="1200" dirty="0"/>
          </a:p>
        </p:txBody>
      </p:sp>
      <p:sp>
        <p:nvSpPr>
          <p:cNvPr id="7" name="Text 5"/>
          <p:cNvSpPr/>
          <p:nvPr/>
        </p:nvSpPr>
        <p:spPr>
          <a:xfrm>
            <a:off x="685800" y="1847088"/>
            <a:ext cx="7772400" cy="256032"/>
          </a:xfrm>
          <a:prstGeom prst="rect">
            <a:avLst/>
          </a:prstGeom>
          <a:noFill/>
          <a:ln/>
        </p:spPr>
        <p:txBody>
          <a:bodyPr wrap="square" lIns="0" tIns="0" rIns="0" bIns="0" rtlCol="0" anchor="ctr"/>
          <a:lstStyle/>
          <a:p>
            <a:pPr marL="0" indent="0">
              <a:buNone/>
            </a:pPr>
            <a:r>
              <a:rPr lang="en-US" sz="1200" dirty="0">
                <a:solidFill>
                  <a:srgbClr val="94A3B8"/>
                </a:solidFill>
              </a:rPr>
              <a:t>https://week3-taskmanagement.onrender.com</a:t>
            </a:r>
            <a:endParaRPr lang="en-US" sz="1200" dirty="0"/>
          </a:p>
        </p:txBody>
      </p:sp>
      <p:sp>
        <p:nvSpPr>
          <p:cNvPr id="8" name="Shape 6"/>
          <p:cNvSpPr/>
          <p:nvPr/>
        </p:nvSpPr>
        <p:spPr>
          <a:xfrm>
            <a:off x="457200" y="2423160"/>
            <a:ext cx="8229600" cy="804672"/>
          </a:xfrm>
          <a:prstGeom prst="roundRect">
            <a:avLst>
              <a:gd name="adj" fmla="val 11364"/>
            </a:avLst>
          </a:prstGeom>
          <a:solidFill>
            <a:srgbClr val="0C2340"/>
          </a:solidFill>
          <a:ln w="12700">
            <a:solidFill>
              <a:srgbClr val="1B3A6B"/>
            </a:solidFill>
            <a:prstDash val="solid"/>
          </a:ln>
        </p:spPr>
      </p:sp>
      <p:sp>
        <p:nvSpPr>
          <p:cNvPr id="9" name="Text 7"/>
          <p:cNvSpPr/>
          <p:nvPr/>
        </p:nvSpPr>
        <p:spPr>
          <a:xfrm>
            <a:off x="685800" y="2496312"/>
            <a:ext cx="7772400" cy="256032"/>
          </a:xfrm>
          <a:prstGeom prst="rect">
            <a:avLst/>
          </a:prstGeom>
          <a:noFill/>
          <a:ln/>
        </p:spPr>
        <p:txBody>
          <a:bodyPr wrap="square" lIns="0" tIns="0" rIns="0" bIns="0" rtlCol="0" anchor="ctr"/>
          <a:lstStyle/>
          <a:p>
            <a:pPr marL="0" indent="0">
              <a:buNone/>
            </a:pPr>
            <a:r>
              <a:rPr lang="en-US" sz="1200" b="1" dirty="0">
                <a:solidFill>
                  <a:srgbClr val="0EA5E9"/>
                </a:solidFill>
              </a:rPr>
              <a:t>📋  Swagger API Docs</a:t>
            </a:r>
            <a:endParaRPr lang="en-US" sz="1200" dirty="0"/>
          </a:p>
        </p:txBody>
      </p:sp>
      <p:sp>
        <p:nvSpPr>
          <p:cNvPr id="10" name="Text 8"/>
          <p:cNvSpPr/>
          <p:nvPr/>
        </p:nvSpPr>
        <p:spPr>
          <a:xfrm>
            <a:off x="685800" y="2807208"/>
            <a:ext cx="7772400" cy="256032"/>
          </a:xfrm>
          <a:prstGeom prst="rect">
            <a:avLst/>
          </a:prstGeom>
          <a:noFill/>
          <a:ln/>
        </p:spPr>
        <p:txBody>
          <a:bodyPr wrap="square" lIns="0" tIns="0" rIns="0" bIns="0" rtlCol="0" anchor="ctr"/>
          <a:lstStyle/>
          <a:p>
            <a:pPr marL="0" indent="0">
              <a:buNone/>
            </a:pPr>
            <a:r>
              <a:rPr lang="en-US" sz="1200" dirty="0">
                <a:solidFill>
                  <a:srgbClr val="94A3B8"/>
                </a:solidFill>
              </a:rPr>
              <a:t>https://week3-taskmanagement.onrender.com/swagger-ui.html</a:t>
            </a:r>
            <a:endParaRPr lang="en-US" sz="1200" dirty="0"/>
          </a:p>
        </p:txBody>
      </p:sp>
      <p:sp>
        <p:nvSpPr>
          <p:cNvPr id="11" name="Shape 9"/>
          <p:cNvSpPr/>
          <p:nvPr/>
        </p:nvSpPr>
        <p:spPr>
          <a:xfrm>
            <a:off x="457200" y="3383280"/>
            <a:ext cx="8229600" cy="804672"/>
          </a:xfrm>
          <a:prstGeom prst="roundRect">
            <a:avLst>
              <a:gd name="adj" fmla="val 11364"/>
            </a:avLst>
          </a:prstGeom>
          <a:solidFill>
            <a:srgbClr val="0F1B30"/>
          </a:solidFill>
          <a:ln w="12700">
            <a:solidFill>
              <a:srgbClr val="1B3A6B"/>
            </a:solidFill>
            <a:prstDash val="solid"/>
          </a:ln>
        </p:spPr>
      </p:sp>
      <p:sp>
        <p:nvSpPr>
          <p:cNvPr id="12" name="Text 10"/>
          <p:cNvSpPr/>
          <p:nvPr/>
        </p:nvSpPr>
        <p:spPr>
          <a:xfrm>
            <a:off x="685800" y="3456432"/>
            <a:ext cx="7772400" cy="256032"/>
          </a:xfrm>
          <a:prstGeom prst="rect">
            <a:avLst/>
          </a:prstGeom>
          <a:noFill/>
          <a:ln/>
        </p:spPr>
        <p:txBody>
          <a:bodyPr wrap="square" lIns="0" tIns="0" rIns="0" bIns="0" rtlCol="0" anchor="ctr"/>
          <a:lstStyle/>
          <a:p>
            <a:pPr marL="0" indent="0">
              <a:buNone/>
            </a:pPr>
            <a:r>
              <a:rPr lang="en-US" sz="1200" b="1" dirty="0">
                <a:solidFill>
                  <a:srgbClr val="0EA5E9"/>
                </a:solidFill>
              </a:rPr>
              <a:t>💻  GitHub Repository</a:t>
            </a:r>
            <a:endParaRPr lang="en-US" sz="1200" dirty="0"/>
          </a:p>
        </p:txBody>
      </p:sp>
      <p:sp>
        <p:nvSpPr>
          <p:cNvPr id="13" name="Text 11"/>
          <p:cNvSpPr/>
          <p:nvPr/>
        </p:nvSpPr>
        <p:spPr>
          <a:xfrm>
            <a:off x="685800" y="3767328"/>
            <a:ext cx="7772400" cy="256032"/>
          </a:xfrm>
          <a:prstGeom prst="rect">
            <a:avLst/>
          </a:prstGeom>
          <a:noFill/>
          <a:ln/>
        </p:spPr>
        <p:txBody>
          <a:bodyPr wrap="square" lIns="0" tIns="0" rIns="0" bIns="0" rtlCol="0" anchor="ctr"/>
          <a:lstStyle/>
          <a:p>
            <a:pPr marL="0" indent="0">
              <a:buNone/>
            </a:pPr>
            <a:r>
              <a:rPr lang="en-US" sz="1200" dirty="0">
                <a:solidFill>
                  <a:srgbClr val="94A3B8"/>
                </a:solidFill>
              </a:rPr>
              <a:t>https://github.com/jeevankumargujja/week3-taskmanagement</a:t>
            </a:r>
            <a:endParaRPr lang="en-US" sz="1200" dirty="0"/>
          </a:p>
        </p:txBody>
      </p:sp>
      <p:sp>
        <p:nvSpPr>
          <p:cNvPr id="14" name="Text 12"/>
          <p:cNvSpPr/>
          <p:nvPr/>
        </p:nvSpPr>
        <p:spPr>
          <a:xfrm>
            <a:off x="457200" y="4480560"/>
            <a:ext cx="8229600" cy="365760"/>
          </a:xfrm>
          <a:prstGeom prst="rect">
            <a:avLst/>
          </a:prstGeom>
          <a:noFill/>
          <a:ln/>
        </p:spPr>
        <p:txBody>
          <a:bodyPr wrap="square" rtlCol="0" anchor="ctr"/>
          <a:lstStyle/>
          <a:p>
            <a:pPr marL="0" indent="0" algn="ctr">
              <a:buNone/>
            </a:pPr>
            <a:r>
              <a:rPr lang="en-US" sz="1200" dirty="0">
                <a:solidFill>
                  <a:srgbClr val="64748B"/>
                </a:solidFill>
              </a:rPr>
              <a:t>GitHub  →  Render detects push  →  Docker build  →  Live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3200" b="1" dirty="0">
                <a:solidFill>
                  <a:srgbClr val="0A1628"/>
                </a:solidFill>
              </a:rPr>
              <a:t>API Endpoints</a:t>
            </a:r>
            <a:endParaRPr lang="en-US" sz="3200" dirty="0"/>
          </a:p>
        </p:txBody>
      </p:sp>
      <p:sp>
        <p:nvSpPr>
          <p:cNvPr id="3" name="Text 1"/>
          <p:cNvSpPr/>
          <p:nvPr/>
        </p:nvSpPr>
        <p:spPr>
          <a:xfrm>
            <a:off x="457200" y="804672"/>
            <a:ext cx="8229600" cy="274320"/>
          </a:xfrm>
          <a:prstGeom prst="rect">
            <a:avLst/>
          </a:prstGeom>
          <a:noFill/>
          <a:ln/>
        </p:spPr>
        <p:txBody>
          <a:bodyPr wrap="square" rtlCol="0" anchor="ctr"/>
          <a:lstStyle/>
          <a:p>
            <a:pPr marL="0" indent="0">
              <a:buNone/>
            </a:pPr>
            <a:r>
              <a:rPr lang="en-US" sz="1300" dirty="0">
                <a:solidFill>
                  <a:srgbClr val="64748B"/>
                </a:solidFill>
              </a:rPr>
              <a:t>RESTful API with JWT authentication and role-based access</a:t>
            </a:r>
            <a:endParaRPr lang="en-US" sz="1300" dirty="0"/>
          </a:p>
        </p:txBody>
      </p:sp>
      <p:sp>
        <p:nvSpPr>
          <p:cNvPr id="4" name="Shape 2"/>
          <p:cNvSpPr/>
          <p:nvPr/>
        </p:nvSpPr>
        <p:spPr>
          <a:xfrm>
            <a:off x="274320" y="1188720"/>
            <a:ext cx="2743200" cy="1453896"/>
          </a:xfrm>
          <a:prstGeom prst="roundRect">
            <a:avLst>
              <a:gd name="adj" fmla="val 6289"/>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5" name="Shape 3"/>
          <p:cNvSpPr/>
          <p:nvPr/>
        </p:nvSpPr>
        <p:spPr>
          <a:xfrm>
            <a:off x="274320" y="1188720"/>
            <a:ext cx="2743200" cy="384048"/>
          </a:xfrm>
          <a:prstGeom prst="roundRect">
            <a:avLst>
              <a:gd name="adj" fmla="val 23810"/>
            </a:avLst>
          </a:prstGeom>
          <a:solidFill>
            <a:srgbClr val="22C55E"/>
          </a:solidFill>
          <a:ln w="12700">
            <a:solidFill>
              <a:srgbClr val="22C55E"/>
            </a:solidFill>
            <a:prstDash val="solid"/>
          </a:ln>
        </p:spPr>
      </p:sp>
      <p:sp>
        <p:nvSpPr>
          <p:cNvPr id="6" name="Shape 4"/>
          <p:cNvSpPr/>
          <p:nvPr/>
        </p:nvSpPr>
        <p:spPr>
          <a:xfrm>
            <a:off x="274320" y="1389888"/>
            <a:ext cx="2743200" cy="182880"/>
          </a:xfrm>
          <a:prstGeom prst="rect">
            <a:avLst/>
          </a:prstGeom>
          <a:solidFill>
            <a:srgbClr val="22C55E"/>
          </a:solidFill>
          <a:ln w="12700">
            <a:solidFill>
              <a:srgbClr val="22C55E"/>
            </a:solidFill>
            <a:prstDash val="solid"/>
          </a:ln>
        </p:spPr>
      </p:sp>
      <p:sp>
        <p:nvSpPr>
          <p:cNvPr id="7" name="Text 5"/>
          <p:cNvSpPr/>
          <p:nvPr/>
        </p:nvSpPr>
        <p:spPr>
          <a:xfrm>
            <a:off x="274320" y="1188720"/>
            <a:ext cx="2743200" cy="384048"/>
          </a:xfrm>
          <a:prstGeom prst="rect">
            <a:avLst/>
          </a:prstGeom>
          <a:noFill/>
          <a:ln/>
        </p:spPr>
        <p:txBody>
          <a:bodyPr wrap="square" lIns="0" tIns="0" rIns="0" bIns="0" rtlCol="0" anchor="ctr"/>
          <a:lstStyle/>
          <a:p>
            <a:pPr marL="0" indent="0" algn="ctr">
              <a:buNone/>
            </a:pPr>
            <a:r>
              <a:rPr lang="en-US" sz="1100" b="1" dirty="0">
                <a:solidFill>
                  <a:srgbClr val="FFFFFF"/>
                </a:solidFill>
              </a:rPr>
              <a:t>Authentication</a:t>
            </a:r>
            <a:endParaRPr lang="en-US" sz="1100" dirty="0"/>
          </a:p>
        </p:txBody>
      </p:sp>
      <p:sp>
        <p:nvSpPr>
          <p:cNvPr id="8" name="Shape 6"/>
          <p:cNvSpPr/>
          <p:nvPr/>
        </p:nvSpPr>
        <p:spPr>
          <a:xfrm>
            <a:off x="384048" y="1700784"/>
            <a:ext cx="2523744" cy="292608"/>
          </a:xfrm>
          <a:prstGeom prst="roundRect">
            <a:avLst>
              <a:gd name="adj" fmla="val 15625"/>
            </a:avLst>
          </a:prstGeom>
          <a:solidFill>
            <a:srgbClr val="FFFFFF"/>
          </a:solidFill>
          <a:ln w="12700">
            <a:solidFill>
              <a:srgbClr val="E2E8F0"/>
            </a:solidFill>
            <a:prstDash val="solid"/>
          </a:ln>
        </p:spPr>
      </p:sp>
      <p:sp>
        <p:nvSpPr>
          <p:cNvPr id="9" name="Text 7"/>
          <p:cNvSpPr/>
          <p:nvPr/>
        </p:nvSpPr>
        <p:spPr>
          <a:xfrm>
            <a:off x="438912" y="1700784"/>
            <a:ext cx="2468880" cy="292608"/>
          </a:xfrm>
          <a:prstGeom prst="rect">
            <a:avLst/>
          </a:prstGeom>
          <a:noFill/>
          <a:ln/>
        </p:spPr>
        <p:txBody>
          <a:bodyPr wrap="square" lIns="0" tIns="0" rIns="0" bIns="0" rtlCol="0" anchor="ctr"/>
          <a:lstStyle/>
          <a:p>
            <a:pPr marL="0" indent="0">
              <a:buNone/>
            </a:pPr>
            <a:r>
              <a:rPr lang="en-US" sz="950" dirty="0">
                <a:solidFill>
                  <a:srgbClr val="1E293B"/>
                </a:solidFill>
              </a:rPr>
              <a:t>POST /api/auth/register</a:t>
            </a:r>
            <a:endParaRPr lang="en-US" sz="950" dirty="0"/>
          </a:p>
        </p:txBody>
      </p:sp>
      <p:sp>
        <p:nvSpPr>
          <p:cNvPr id="10" name="Shape 8"/>
          <p:cNvSpPr/>
          <p:nvPr/>
        </p:nvSpPr>
        <p:spPr>
          <a:xfrm>
            <a:off x="384048" y="2084832"/>
            <a:ext cx="2523744" cy="292608"/>
          </a:xfrm>
          <a:prstGeom prst="roundRect">
            <a:avLst>
              <a:gd name="adj" fmla="val 15625"/>
            </a:avLst>
          </a:prstGeom>
          <a:solidFill>
            <a:srgbClr val="FFFFFF"/>
          </a:solidFill>
          <a:ln w="12700">
            <a:solidFill>
              <a:srgbClr val="E2E8F0"/>
            </a:solidFill>
            <a:prstDash val="solid"/>
          </a:ln>
        </p:spPr>
      </p:sp>
      <p:sp>
        <p:nvSpPr>
          <p:cNvPr id="11" name="Text 9"/>
          <p:cNvSpPr/>
          <p:nvPr/>
        </p:nvSpPr>
        <p:spPr>
          <a:xfrm>
            <a:off x="438912" y="2084832"/>
            <a:ext cx="2468880" cy="292608"/>
          </a:xfrm>
          <a:prstGeom prst="rect">
            <a:avLst/>
          </a:prstGeom>
          <a:noFill/>
          <a:ln/>
        </p:spPr>
        <p:txBody>
          <a:bodyPr wrap="square" lIns="0" tIns="0" rIns="0" bIns="0" rtlCol="0" anchor="ctr"/>
          <a:lstStyle/>
          <a:p>
            <a:pPr marL="0" indent="0">
              <a:buNone/>
            </a:pPr>
            <a:r>
              <a:rPr lang="en-US" sz="950" dirty="0">
                <a:solidFill>
                  <a:srgbClr val="1E293B"/>
                </a:solidFill>
              </a:rPr>
              <a:t>POST /api/auth/login</a:t>
            </a:r>
            <a:endParaRPr lang="en-US" sz="950" dirty="0"/>
          </a:p>
        </p:txBody>
      </p:sp>
      <p:sp>
        <p:nvSpPr>
          <p:cNvPr id="12" name="Shape 10"/>
          <p:cNvSpPr/>
          <p:nvPr/>
        </p:nvSpPr>
        <p:spPr>
          <a:xfrm>
            <a:off x="3246120" y="1188720"/>
            <a:ext cx="2743200" cy="2990088"/>
          </a:xfrm>
          <a:prstGeom prst="roundRect">
            <a:avLst>
              <a:gd name="adj" fmla="val 3333"/>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13" name="Shape 11"/>
          <p:cNvSpPr/>
          <p:nvPr/>
        </p:nvSpPr>
        <p:spPr>
          <a:xfrm>
            <a:off x="3246120" y="1188720"/>
            <a:ext cx="2743200" cy="384048"/>
          </a:xfrm>
          <a:prstGeom prst="roundRect">
            <a:avLst>
              <a:gd name="adj" fmla="val 23810"/>
            </a:avLst>
          </a:prstGeom>
          <a:solidFill>
            <a:srgbClr val="1B4F9C"/>
          </a:solidFill>
          <a:ln w="12700">
            <a:solidFill>
              <a:srgbClr val="1B4F9C"/>
            </a:solidFill>
            <a:prstDash val="solid"/>
          </a:ln>
        </p:spPr>
      </p:sp>
      <p:sp>
        <p:nvSpPr>
          <p:cNvPr id="14" name="Shape 12"/>
          <p:cNvSpPr/>
          <p:nvPr/>
        </p:nvSpPr>
        <p:spPr>
          <a:xfrm>
            <a:off x="3246120" y="1389888"/>
            <a:ext cx="2743200" cy="182880"/>
          </a:xfrm>
          <a:prstGeom prst="rect">
            <a:avLst/>
          </a:prstGeom>
          <a:solidFill>
            <a:srgbClr val="1B4F9C"/>
          </a:solidFill>
          <a:ln w="12700">
            <a:solidFill>
              <a:srgbClr val="1B4F9C"/>
            </a:solidFill>
            <a:prstDash val="solid"/>
          </a:ln>
        </p:spPr>
      </p:sp>
      <p:sp>
        <p:nvSpPr>
          <p:cNvPr id="15" name="Text 13"/>
          <p:cNvSpPr/>
          <p:nvPr/>
        </p:nvSpPr>
        <p:spPr>
          <a:xfrm>
            <a:off x="3246120" y="1188720"/>
            <a:ext cx="2743200" cy="384048"/>
          </a:xfrm>
          <a:prstGeom prst="rect">
            <a:avLst/>
          </a:prstGeom>
          <a:noFill/>
          <a:ln/>
        </p:spPr>
        <p:txBody>
          <a:bodyPr wrap="square" lIns="0" tIns="0" rIns="0" bIns="0" rtlCol="0" anchor="ctr"/>
          <a:lstStyle/>
          <a:p>
            <a:pPr marL="0" indent="0" algn="ctr">
              <a:buNone/>
            </a:pPr>
            <a:r>
              <a:rPr lang="en-US" sz="1100" b="1" dirty="0">
                <a:solidFill>
                  <a:srgbClr val="FFFFFF"/>
                </a:solidFill>
              </a:rPr>
              <a:t>Tasks (USER + ADMIN)</a:t>
            </a:r>
            <a:endParaRPr lang="en-US" sz="1100" dirty="0"/>
          </a:p>
        </p:txBody>
      </p:sp>
      <p:sp>
        <p:nvSpPr>
          <p:cNvPr id="16" name="Shape 14"/>
          <p:cNvSpPr/>
          <p:nvPr/>
        </p:nvSpPr>
        <p:spPr>
          <a:xfrm>
            <a:off x="3355848" y="1700784"/>
            <a:ext cx="2523744" cy="292608"/>
          </a:xfrm>
          <a:prstGeom prst="roundRect">
            <a:avLst>
              <a:gd name="adj" fmla="val 15625"/>
            </a:avLst>
          </a:prstGeom>
          <a:solidFill>
            <a:srgbClr val="FFFFFF"/>
          </a:solidFill>
          <a:ln w="12700">
            <a:solidFill>
              <a:srgbClr val="E2E8F0"/>
            </a:solidFill>
            <a:prstDash val="solid"/>
          </a:ln>
        </p:spPr>
      </p:sp>
      <p:sp>
        <p:nvSpPr>
          <p:cNvPr id="17" name="Text 15"/>
          <p:cNvSpPr/>
          <p:nvPr/>
        </p:nvSpPr>
        <p:spPr>
          <a:xfrm>
            <a:off x="3410712" y="1700784"/>
            <a:ext cx="2468880" cy="292608"/>
          </a:xfrm>
          <a:prstGeom prst="rect">
            <a:avLst/>
          </a:prstGeom>
          <a:noFill/>
          <a:ln/>
        </p:spPr>
        <p:txBody>
          <a:bodyPr wrap="square" lIns="0" tIns="0" rIns="0" bIns="0" rtlCol="0" anchor="ctr"/>
          <a:lstStyle/>
          <a:p>
            <a:pPr marL="0" indent="0">
              <a:buNone/>
            </a:pPr>
            <a:r>
              <a:rPr lang="en-US" sz="950" dirty="0">
                <a:solidFill>
                  <a:srgbClr val="1E293B"/>
                </a:solidFill>
              </a:rPr>
              <a:t>GET /api/tasks</a:t>
            </a:r>
            <a:endParaRPr lang="en-US" sz="950" dirty="0"/>
          </a:p>
        </p:txBody>
      </p:sp>
      <p:sp>
        <p:nvSpPr>
          <p:cNvPr id="18" name="Shape 16"/>
          <p:cNvSpPr/>
          <p:nvPr/>
        </p:nvSpPr>
        <p:spPr>
          <a:xfrm>
            <a:off x="3355848" y="2084832"/>
            <a:ext cx="2523744" cy="292608"/>
          </a:xfrm>
          <a:prstGeom prst="roundRect">
            <a:avLst>
              <a:gd name="adj" fmla="val 15625"/>
            </a:avLst>
          </a:prstGeom>
          <a:solidFill>
            <a:srgbClr val="FFFFFF"/>
          </a:solidFill>
          <a:ln w="12700">
            <a:solidFill>
              <a:srgbClr val="E2E8F0"/>
            </a:solidFill>
            <a:prstDash val="solid"/>
          </a:ln>
        </p:spPr>
      </p:sp>
      <p:sp>
        <p:nvSpPr>
          <p:cNvPr id="19" name="Text 17"/>
          <p:cNvSpPr/>
          <p:nvPr/>
        </p:nvSpPr>
        <p:spPr>
          <a:xfrm>
            <a:off x="3410712" y="2084832"/>
            <a:ext cx="2468880" cy="292608"/>
          </a:xfrm>
          <a:prstGeom prst="rect">
            <a:avLst/>
          </a:prstGeom>
          <a:noFill/>
          <a:ln/>
        </p:spPr>
        <p:txBody>
          <a:bodyPr wrap="square" lIns="0" tIns="0" rIns="0" bIns="0" rtlCol="0" anchor="ctr"/>
          <a:lstStyle/>
          <a:p>
            <a:pPr marL="0" indent="0">
              <a:buNone/>
            </a:pPr>
            <a:r>
              <a:rPr lang="en-US" sz="950" dirty="0">
                <a:solidFill>
                  <a:srgbClr val="1E293B"/>
                </a:solidFill>
              </a:rPr>
              <a:t>POST /api/tasks</a:t>
            </a:r>
            <a:endParaRPr lang="en-US" sz="950" dirty="0"/>
          </a:p>
        </p:txBody>
      </p:sp>
      <p:sp>
        <p:nvSpPr>
          <p:cNvPr id="20" name="Shape 18"/>
          <p:cNvSpPr/>
          <p:nvPr/>
        </p:nvSpPr>
        <p:spPr>
          <a:xfrm>
            <a:off x="3355848" y="2468880"/>
            <a:ext cx="2523744" cy="292608"/>
          </a:xfrm>
          <a:prstGeom prst="roundRect">
            <a:avLst>
              <a:gd name="adj" fmla="val 15625"/>
            </a:avLst>
          </a:prstGeom>
          <a:solidFill>
            <a:srgbClr val="FFFFFF"/>
          </a:solidFill>
          <a:ln w="12700">
            <a:solidFill>
              <a:srgbClr val="E2E8F0"/>
            </a:solidFill>
            <a:prstDash val="solid"/>
          </a:ln>
        </p:spPr>
      </p:sp>
      <p:sp>
        <p:nvSpPr>
          <p:cNvPr id="21" name="Text 19"/>
          <p:cNvSpPr/>
          <p:nvPr/>
        </p:nvSpPr>
        <p:spPr>
          <a:xfrm>
            <a:off x="3410712" y="2468880"/>
            <a:ext cx="2468880" cy="292608"/>
          </a:xfrm>
          <a:prstGeom prst="rect">
            <a:avLst/>
          </a:prstGeom>
          <a:noFill/>
          <a:ln/>
        </p:spPr>
        <p:txBody>
          <a:bodyPr wrap="square" lIns="0" tIns="0" rIns="0" bIns="0" rtlCol="0" anchor="ctr"/>
          <a:lstStyle/>
          <a:p>
            <a:pPr marL="0" indent="0">
              <a:buNone/>
            </a:pPr>
            <a:r>
              <a:rPr lang="en-US" sz="950" dirty="0">
                <a:solidFill>
                  <a:srgbClr val="1E293B"/>
                </a:solidFill>
              </a:rPr>
              <a:t>PUT /api/tasks/{id}</a:t>
            </a:r>
            <a:endParaRPr lang="en-US" sz="950" dirty="0"/>
          </a:p>
        </p:txBody>
      </p:sp>
      <p:sp>
        <p:nvSpPr>
          <p:cNvPr id="22" name="Shape 20"/>
          <p:cNvSpPr/>
          <p:nvPr/>
        </p:nvSpPr>
        <p:spPr>
          <a:xfrm>
            <a:off x="3355848" y="2852928"/>
            <a:ext cx="2523744" cy="292608"/>
          </a:xfrm>
          <a:prstGeom prst="roundRect">
            <a:avLst>
              <a:gd name="adj" fmla="val 15625"/>
            </a:avLst>
          </a:prstGeom>
          <a:solidFill>
            <a:srgbClr val="FFFFFF"/>
          </a:solidFill>
          <a:ln w="12700">
            <a:solidFill>
              <a:srgbClr val="E2E8F0"/>
            </a:solidFill>
            <a:prstDash val="solid"/>
          </a:ln>
        </p:spPr>
      </p:sp>
      <p:sp>
        <p:nvSpPr>
          <p:cNvPr id="23" name="Text 21"/>
          <p:cNvSpPr/>
          <p:nvPr/>
        </p:nvSpPr>
        <p:spPr>
          <a:xfrm>
            <a:off x="3410712" y="2852928"/>
            <a:ext cx="2468880" cy="292608"/>
          </a:xfrm>
          <a:prstGeom prst="rect">
            <a:avLst/>
          </a:prstGeom>
          <a:noFill/>
          <a:ln/>
        </p:spPr>
        <p:txBody>
          <a:bodyPr wrap="square" lIns="0" tIns="0" rIns="0" bIns="0" rtlCol="0" anchor="ctr"/>
          <a:lstStyle/>
          <a:p>
            <a:pPr marL="0" indent="0">
              <a:buNone/>
            </a:pPr>
            <a:r>
              <a:rPr lang="en-US" sz="950" dirty="0">
                <a:solidFill>
                  <a:srgbClr val="1E293B"/>
                </a:solidFill>
              </a:rPr>
              <a:t>PATCH /{id}/status</a:t>
            </a:r>
            <a:endParaRPr lang="en-US" sz="950" dirty="0"/>
          </a:p>
        </p:txBody>
      </p:sp>
      <p:sp>
        <p:nvSpPr>
          <p:cNvPr id="24" name="Shape 22"/>
          <p:cNvSpPr/>
          <p:nvPr/>
        </p:nvSpPr>
        <p:spPr>
          <a:xfrm>
            <a:off x="3355848" y="3236976"/>
            <a:ext cx="2523744" cy="292608"/>
          </a:xfrm>
          <a:prstGeom prst="roundRect">
            <a:avLst>
              <a:gd name="adj" fmla="val 15625"/>
            </a:avLst>
          </a:prstGeom>
          <a:solidFill>
            <a:srgbClr val="FFFFFF"/>
          </a:solidFill>
          <a:ln w="12700">
            <a:solidFill>
              <a:srgbClr val="E2E8F0"/>
            </a:solidFill>
            <a:prstDash val="solid"/>
          </a:ln>
        </p:spPr>
      </p:sp>
      <p:sp>
        <p:nvSpPr>
          <p:cNvPr id="25" name="Text 23"/>
          <p:cNvSpPr/>
          <p:nvPr/>
        </p:nvSpPr>
        <p:spPr>
          <a:xfrm>
            <a:off x="3410712" y="3236976"/>
            <a:ext cx="2468880" cy="292608"/>
          </a:xfrm>
          <a:prstGeom prst="rect">
            <a:avLst/>
          </a:prstGeom>
          <a:noFill/>
          <a:ln/>
        </p:spPr>
        <p:txBody>
          <a:bodyPr wrap="square" lIns="0" tIns="0" rIns="0" bIns="0" rtlCol="0" anchor="ctr"/>
          <a:lstStyle/>
          <a:p>
            <a:pPr marL="0" indent="0">
              <a:buNone/>
            </a:pPr>
            <a:r>
              <a:rPr lang="en-US" sz="950" dirty="0">
                <a:solidFill>
                  <a:srgbClr val="1E293B"/>
                </a:solidFill>
              </a:rPr>
              <a:t>DELETE /api/tasks/{id}</a:t>
            </a:r>
            <a:endParaRPr lang="en-US" sz="950" dirty="0"/>
          </a:p>
        </p:txBody>
      </p:sp>
      <p:sp>
        <p:nvSpPr>
          <p:cNvPr id="26" name="Shape 24"/>
          <p:cNvSpPr/>
          <p:nvPr/>
        </p:nvSpPr>
        <p:spPr>
          <a:xfrm>
            <a:off x="3355848" y="3621024"/>
            <a:ext cx="2523744" cy="292608"/>
          </a:xfrm>
          <a:prstGeom prst="roundRect">
            <a:avLst>
              <a:gd name="adj" fmla="val 15625"/>
            </a:avLst>
          </a:prstGeom>
          <a:solidFill>
            <a:srgbClr val="FFFFFF"/>
          </a:solidFill>
          <a:ln w="12700">
            <a:solidFill>
              <a:srgbClr val="E2E8F0"/>
            </a:solidFill>
            <a:prstDash val="solid"/>
          </a:ln>
        </p:spPr>
      </p:sp>
      <p:sp>
        <p:nvSpPr>
          <p:cNvPr id="27" name="Text 25"/>
          <p:cNvSpPr/>
          <p:nvPr/>
        </p:nvSpPr>
        <p:spPr>
          <a:xfrm>
            <a:off x="3410712" y="3621024"/>
            <a:ext cx="2468880" cy="292608"/>
          </a:xfrm>
          <a:prstGeom prst="rect">
            <a:avLst/>
          </a:prstGeom>
          <a:noFill/>
          <a:ln/>
        </p:spPr>
        <p:txBody>
          <a:bodyPr wrap="square" lIns="0" tIns="0" rIns="0" bIns="0" rtlCol="0" anchor="ctr"/>
          <a:lstStyle/>
          <a:p>
            <a:pPr marL="0" indent="0">
              <a:buNone/>
            </a:pPr>
            <a:r>
              <a:rPr lang="en-US" sz="950" dirty="0">
                <a:solidFill>
                  <a:srgbClr val="1E293B"/>
                </a:solidFill>
              </a:rPr>
              <a:t>GET /api/tasks/overdue</a:t>
            </a:r>
            <a:endParaRPr lang="en-US" sz="950" dirty="0"/>
          </a:p>
        </p:txBody>
      </p:sp>
      <p:sp>
        <p:nvSpPr>
          <p:cNvPr id="28" name="Shape 26"/>
          <p:cNvSpPr/>
          <p:nvPr/>
        </p:nvSpPr>
        <p:spPr>
          <a:xfrm>
            <a:off x="6217920" y="1188720"/>
            <a:ext cx="2651760" cy="2606040"/>
          </a:xfrm>
          <a:prstGeom prst="roundRect">
            <a:avLst>
              <a:gd name="adj" fmla="val 3509"/>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29" name="Shape 27"/>
          <p:cNvSpPr/>
          <p:nvPr/>
        </p:nvSpPr>
        <p:spPr>
          <a:xfrm>
            <a:off x="6217920" y="1188720"/>
            <a:ext cx="2651760" cy="384048"/>
          </a:xfrm>
          <a:prstGeom prst="roundRect">
            <a:avLst>
              <a:gd name="adj" fmla="val 23810"/>
            </a:avLst>
          </a:prstGeom>
          <a:solidFill>
            <a:srgbClr val="EF4444"/>
          </a:solidFill>
          <a:ln w="12700">
            <a:solidFill>
              <a:srgbClr val="EF4444"/>
            </a:solidFill>
            <a:prstDash val="solid"/>
          </a:ln>
        </p:spPr>
      </p:sp>
      <p:sp>
        <p:nvSpPr>
          <p:cNvPr id="30" name="Shape 28"/>
          <p:cNvSpPr/>
          <p:nvPr/>
        </p:nvSpPr>
        <p:spPr>
          <a:xfrm>
            <a:off x="6217920" y="1389888"/>
            <a:ext cx="2651760" cy="182880"/>
          </a:xfrm>
          <a:prstGeom prst="rect">
            <a:avLst/>
          </a:prstGeom>
          <a:solidFill>
            <a:srgbClr val="EF4444"/>
          </a:solidFill>
          <a:ln w="12700">
            <a:solidFill>
              <a:srgbClr val="EF4444"/>
            </a:solidFill>
            <a:prstDash val="solid"/>
          </a:ln>
        </p:spPr>
      </p:sp>
      <p:sp>
        <p:nvSpPr>
          <p:cNvPr id="31" name="Text 29"/>
          <p:cNvSpPr/>
          <p:nvPr/>
        </p:nvSpPr>
        <p:spPr>
          <a:xfrm>
            <a:off x="6217920" y="1188720"/>
            <a:ext cx="2651760" cy="384048"/>
          </a:xfrm>
          <a:prstGeom prst="rect">
            <a:avLst/>
          </a:prstGeom>
          <a:noFill/>
          <a:ln/>
        </p:spPr>
        <p:txBody>
          <a:bodyPr wrap="square" lIns="0" tIns="0" rIns="0" bIns="0" rtlCol="0" anchor="ctr"/>
          <a:lstStyle/>
          <a:p>
            <a:pPr marL="0" indent="0" algn="ctr">
              <a:buNone/>
            </a:pPr>
            <a:r>
              <a:rPr lang="en-US" sz="1100" b="1" dirty="0">
                <a:solidFill>
                  <a:srgbClr val="FFFFFF"/>
                </a:solidFill>
              </a:rPr>
              <a:t>Admin Only</a:t>
            </a:r>
            <a:endParaRPr lang="en-US" sz="1100" dirty="0"/>
          </a:p>
        </p:txBody>
      </p:sp>
      <p:sp>
        <p:nvSpPr>
          <p:cNvPr id="32" name="Shape 30"/>
          <p:cNvSpPr/>
          <p:nvPr/>
        </p:nvSpPr>
        <p:spPr>
          <a:xfrm>
            <a:off x="6327648" y="1700784"/>
            <a:ext cx="2432304" cy="292608"/>
          </a:xfrm>
          <a:prstGeom prst="roundRect">
            <a:avLst>
              <a:gd name="adj" fmla="val 15625"/>
            </a:avLst>
          </a:prstGeom>
          <a:solidFill>
            <a:srgbClr val="FFFFFF"/>
          </a:solidFill>
          <a:ln w="12700">
            <a:solidFill>
              <a:srgbClr val="E2E8F0"/>
            </a:solidFill>
            <a:prstDash val="solid"/>
          </a:ln>
        </p:spPr>
      </p:sp>
      <p:sp>
        <p:nvSpPr>
          <p:cNvPr id="33" name="Text 31"/>
          <p:cNvSpPr/>
          <p:nvPr/>
        </p:nvSpPr>
        <p:spPr>
          <a:xfrm>
            <a:off x="6382512" y="1700784"/>
            <a:ext cx="2377440" cy="292608"/>
          </a:xfrm>
          <a:prstGeom prst="rect">
            <a:avLst/>
          </a:prstGeom>
          <a:noFill/>
          <a:ln/>
        </p:spPr>
        <p:txBody>
          <a:bodyPr wrap="square" lIns="0" tIns="0" rIns="0" bIns="0" rtlCol="0" anchor="ctr"/>
          <a:lstStyle/>
          <a:p>
            <a:pPr marL="0" indent="0">
              <a:buNone/>
            </a:pPr>
            <a:r>
              <a:rPr lang="en-US" sz="950" dirty="0">
                <a:solidFill>
                  <a:srgbClr val="1E293B"/>
                </a:solidFill>
              </a:rPr>
              <a:t>GET /api/admin/users</a:t>
            </a:r>
            <a:endParaRPr lang="en-US" sz="950" dirty="0"/>
          </a:p>
        </p:txBody>
      </p:sp>
      <p:sp>
        <p:nvSpPr>
          <p:cNvPr id="34" name="Shape 32"/>
          <p:cNvSpPr/>
          <p:nvPr/>
        </p:nvSpPr>
        <p:spPr>
          <a:xfrm>
            <a:off x="6327648" y="2084832"/>
            <a:ext cx="2432304" cy="292608"/>
          </a:xfrm>
          <a:prstGeom prst="roundRect">
            <a:avLst>
              <a:gd name="adj" fmla="val 15625"/>
            </a:avLst>
          </a:prstGeom>
          <a:solidFill>
            <a:srgbClr val="FFFFFF"/>
          </a:solidFill>
          <a:ln w="12700">
            <a:solidFill>
              <a:srgbClr val="E2E8F0"/>
            </a:solidFill>
            <a:prstDash val="solid"/>
          </a:ln>
        </p:spPr>
      </p:sp>
      <p:sp>
        <p:nvSpPr>
          <p:cNvPr id="35" name="Text 33"/>
          <p:cNvSpPr/>
          <p:nvPr/>
        </p:nvSpPr>
        <p:spPr>
          <a:xfrm>
            <a:off x="6382512" y="2084832"/>
            <a:ext cx="2377440" cy="292608"/>
          </a:xfrm>
          <a:prstGeom prst="rect">
            <a:avLst/>
          </a:prstGeom>
          <a:noFill/>
          <a:ln/>
        </p:spPr>
        <p:txBody>
          <a:bodyPr wrap="square" lIns="0" tIns="0" rIns="0" bIns="0" rtlCol="0" anchor="ctr"/>
          <a:lstStyle/>
          <a:p>
            <a:pPr marL="0" indent="0">
              <a:buNone/>
            </a:pPr>
            <a:r>
              <a:rPr lang="en-US" sz="950" dirty="0">
                <a:solidFill>
                  <a:srgbClr val="1E293B"/>
                </a:solidFill>
              </a:rPr>
              <a:t>PATCH /users/{id}/role</a:t>
            </a:r>
            <a:endParaRPr lang="en-US" sz="950" dirty="0"/>
          </a:p>
        </p:txBody>
      </p:sp>
      <p:sp>
        <p:nvSpPr>
          <p:cNvPr id="36" name="Shape 34"/>
          <p:cNvSpPr/>
          <p:nvPr/>
        </p:nvSpPr>
        <p:spPr>
          <a:xfrm>
            <a:off x="6327648" y="2468880"/>
            <a:ext cx="2432304" cy="292608"/>
          </a:xfrm>
          <a:prstGeom prst="roundRect">
            <a:avLst>
              <a:gd name="adj" fmla="val 15625"/>
            </a:avLst>
          </a:prstGeom>
          <a:solidFill>
            <a:srgbClr val="FFFFFF"/>
          </a:solidFill>
          <a:ln w="12700">
            <a:solidFill>
              <a:srgbClr val="E2E8F0"/>
            </a:solidFill>
            <a:prstDash val="solid"/>
          </a:ln>
        </p:spPr>
      </p:sp>
      <p:sp>
        <p:nvSpPr>
          <p:cNvPr id="37" name="Text 35"/>
          <p:cNvSpPr/>
          <p:nvPr/>
        </p:nvSpPr>
        <p:spPr>
          <a:xfrm>
            <a:off x="6382512" y="2468880"/>
            <a:ext cx="2377440" cy="292608"/>
          </a:xfrm>
          <a:prstGeom prst="rect">
            <a:avLst/>
          </a:prstGeom>
          <a:noFill/>
          <a:ln/>
        </p:spPr>
        <p:txBody>
          <a:bodyPr wrap="square" lIns="0" tIns="0" rIns="0" bIns="0" rtlCol="0" anchor="ctr"/>
          <a:lstStyle/>
          <a:p>
            <a:pPr marL="0" indent="0">
              <a:buNone/>
            </a:pPr>
            <a:r>
              <a:rPr lang="en-US" sz="950" dirty="0">
                <a:solidFill>
                  <a:srgbClr val="1E293B"/>
                </a:solidFill>
              </a:rPr>
              <a:t>DELETE /users/{id}</a:t>
            </a:r>
            <a:endParaRPr lang="en-US" sz="950" dirty="0"/>
          </a:p>
        </p:txBody>
      </p:sp>
      <p:sp>
        <p:nvSpPr>
          <p:cNvPr id="38" name="Shape 36"/>
          <p:cNvSpPr/>
          <p:nvPr/>
        </p:nvSpPr>
        <p:spPr>
          <a:xfrm>
            <a:off x="6327648" y="2852928"/>
            <a:ext cx="2432304" cy="292608"/>
          </a:xfrm>
          <a:prstGeom prst="roundRect">
            <a:avLst>
              <a:gd name="adj" fmla="val 15625"/>
            </a:avLst>
          </a:prstGeom>
          <a:solidFill>
            <a:srgbClr val="FFFFFF"/>
          </a:solidFill>
          <a:ln w="12700">
            <a:solidFill>
              <a:srgbClr val="E2E8F0"/>
            </a:solidFill>
            <a:prstDash val="solid"/>
          </a:ln>
        </p:spPr>
      </p:sp>
      <p:sp>
        <p:nvSpPr>
          <p:cNvPr id="39" name="Text 37"/>
          <p:cNvSpPr/>
          <p:nvPr/>
        </p:nvSpPr>
        <p:spPr>
          <a:xfrm>
            <a:off x="6382512" y="2852928"/>
            <a:ext cx="2377440" cy="292608"/>
          </a:xfrm>
          <a:prstGeom prst="rect">
            <a:avLst/>
          </a:prstGeom>
          <a:noFill/>
          <a:ln/>
        </p:spPr>
        <p:txBody>
          <a:bodyPr wrap="square" lIns="0" tIns="0" rIns="0" bIns="0" rtlCol="0" anchor="ctr"/>
          <a:lstStyle/>
          <a:p>
            <a:pPr marL="0" indent="0">
              <a:buNone/>
            </a:pPr>
            <a:r>
              <a:rPr lang="en-US" sz="950" dirty="0">
                <a:solidFill>
                  <a:srgbClr val="1E293B"/>
                </a:solidFill>
              </a:rPr>
              <a:t>GET /api/admin/stats</a:t>
            </a:r>
            <a:endParaRPr lang="en-US" sz="950" dirty="0"/>
          </a:p>
        </p:txBody>
      </p:sp>
      <p:sp>
        <p:nvSpPr>
          <p:cNvPr id="40" name="Shape 38"/>
          <p:cNvSpPr/>
          <p:nvPr/>
        </p:nvSpPr>
        <p:spPr>
          <a:xfrm>
            <a:off x="6327648" y="3236976"/>
            <a:ext cx="2432304" cy="292608"/>
          </a:xfrm>
          <a:prstGeom prst="roundRect">
            <a:avLst>
              <a:gd name="adj" fmla="val 15625"/>
            </a:avLst>
          </a:prstGeom>
          <a:solidFill>
            <a:srgbClr val="FFFFFF"/>
          </a:solidFill>
          <a:ln w="12700">
            <a:solidFill>
              <a:srgbClr val="E2E8F0"/>
            </a:solidFill>
            <a:prstDash val="solid"/>
          </a:ln>
        </p:spPr>
      </p:sp>
      <p:sp>
        <p:nvSpPr>
          <p:cNvPr id="41" name="Text 39"/>
          <p:cNvSpPr/>
          <p:nvPr/>
        </p:nvSpPr>
        <p:spPr>
          <a:xfrm>
            <a:off x="6382512" y="3236976"/>
            <a:ext cx="2377440" cy="292608"/>
          </a:xfrm>
          <a:prstGeom prst="rect">
            <a:avLst/>
          </a:prstGeom>
          <a:noFill/>
          <a:ln/>
        </p:spPr>
        <p:txBody>
          <a:bodyPr wrap="square" lIns="0" tIns="0" rIns="0" bIns="0" rtlCol="0" anchor="ctr"/>
          <a:lstStyle/>
          <a:p>
            <a:pPr marL="0" indent="0">
              <a:buNone/>
            </a:pPr>
            <a:r>
              <a:rPr lang="en-US" sz="950" dirty="0">
                <a:solidFill>
                  <a:srgbClr val="1E293B"/>
                </a:solidFill>
              </a:rPr>
              <a:t>PATCH /tasks/{id}/assign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3200" b="1" dirty="0">
                <a:solidFill>
                  <a:srgbClr val="0A1628"/>
                </a:solidFill>
              </a:rPr>
              <a:t>Project Structure</a:t>
            </a:r>
            <a:endParaRPr lang="en-US" sz="3200" dirty="0"/>
          </a:p>
        </p:txBody>
      </p:sp>
      <p:sp>
        <p:nvSpPr>
          <p:cNvPr id="3" name="Text 1"/>
          <p:cNvSpPr/>
          <p:nvPr/>
        </p:nvSpPr>
        <p:spPr>
          <a:xfrm>
            <a:off x="457200" y="804672"/>
            <a:ext cx="8229600" cy="274320"/>
          </a:xfrm>
          <a:prstGeom prst="rect">
            <a:avLst/>
          </a:prstGeom>
          <a:noFill/>
          <a:ln/>
        </p:spPr>
        <p:txBody>
          <a:bodyPr wrap="square" rtlCol="0" anchor="ctr"/>
          <a:lstStyle/>
          <a:p>
            <a:pPr marL="0" indent="0">
              <a:buNone/>
            </a:pPr>
            <a:r>
              <a:rPr lang="en-US" sz="1300" dirty="0">
                <a:solidFill>
                  <a:srgbClr val="64748B"/>
                </a:solidFill>
              </a:rPr>
              <a:t>Clean layered architecture — Controller → Service → Repository → Model</a:t>
            </a:r>
            <a:endParaRPr lang="en-US" sz="1300" dirty="0"/>
          </a:p>
        </p:txBody>
      </p:sp>
      <p:sp>
        <p:nvSpPr>
          <p:cNvPr id="4" name="Shape 2"/>
          <p:cNvSpPr/>
          <p:nvPr/>
        </p:nvSpPr>
        <p:spPr>
          <a:xfrm>
            <a:off x="365760" y="1188720"/>
            <a:ext cx="8412480" cy="658368"/>
          </a:xfrm>
          <a:prstGeom prst="roundRect">
            <a:avLst>
              <a:gd name="adj" fmla="val 11111"/>
            </a:avLst>
          </a:prstGeom>
          <a:solidFill>
            <a:srgbClr val="F8FAFC"/>
          </a:solidFill>
          <a:ln w="12700">
            <a:solidFill>
              <a:srgbClr val="E2E8F0"/>
            </a:solidFill>
            <a:prstDash val="solid"/>
          </a:ln>
        </p:spPr>
      </p:sp>
      <p:sp>
        <p:nvSpPr>
          <p:cNvPr id="5" name="Shape 3"/>
          <p:cNvSpPr/>
          <p:nvPr/>
        </p:nvSpPr>
        <p:spPr>
          <a:xfrm>
            <a:off x="365760" y="1188720"/>
            <a:ext cx="1737360" cy="658368"/>
          </a:xfrm>
          <a:prstGeom prst="roundRect">
            <a:avLst>
              <a:gd name="adj" fmla="val 11111"/>
            </a:avLst>
          </a:prstGeom>
          <a:solidFill>
            <a:srgbClr val="1B4F9C"/>
          </a:solidFill>
          <a:ln w="12700">
            <a:solidFill>
              <a:srgbClr val="1B4F9C"/>
            </a:solidFill>
            <a:prstDash val="solid"/>
          </a:ln>
        </p:spPr>
      </p:sp>
      <p:sp>
        <p:nvSpPr>
          <p:cNvPr id="6" name="Shape 4"/>
          <p:cNvSpPr/>
          <p:nvPr/>
        </p:nvSpPr>
        <p:spPr>
          <a:xfrm>
            <a:off x="1371600" y="1188720"/>
            <a:ext cx="731520" cy="658368"/>
          </a:xfrm>
          <a:prstGeom prst="rect">
            <a:avLst/>
          </a:prstGeom>
          <a:solidFill>
            <a:srgbClr val="1B4F9C"/>
          </a:solidFill>
          <a:ln w="12700">
            <a:solidFill>
              <a:srgbClr val="1B4F9C"/>
            </a:solidFill>
            <a:prstDash val="solid"/>
          </a:ln>
        </p:spPr>
      </p:sp>
      <p:sp>
        <p:nvSpPr>
          <p:cNvPr id="7" name="Text 5"/>
          <p:cNvSpPr/>
          <p:nvPr/>
        </p:nvSpPr>
        <p:spPr>
          <a:xfrm>
            <a:off x="411480" y="1188720"/>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rPr>
              <a:t>Controller Layer</a:t>
            </a:r>
            <a:endParaRPr lang="en-US" sz="1000" dirty="0"/>
          </a:p>
        </p:txBody>
      </p:sp>
      <p:sp>
        <p:nvSpPr>
          <p:cNvPr id="8" name="Text 6"/>
          <p:cNvSpPr/>
          <p:nvPr/>
        </p:nvSpPr>
        <p:spPr>
          <a:xfrm>
            <a:off x="2240280" y="1243584"/>
            <a:ext cx="6400800" cy="256032"/>
          </a:xfrm>
          <a:prstGeom prst="rect">
            <a:avLst/>
          </a:prstGeom>
          <a:noFill/>
          <a:ln/>
        </p:spPr>
        <p:txBody>
          <a:bodyPr wrap="square" lIns="0" tIns="0" rIns="0" bIns="0" rtlCol="0" anchor="ctr"/>
          <a:lstStyle/>
          <a:p>
            <a:pPr marL="0" indent="0">
              <a:buNone/>
            </a:pPr>
            <a:r>
              <a:rPr lang="en-US" sz="1000" b="1" dirty="0">
                <a:solidFill>
                  <a:srgbClr val="1E293B"/>
                </a:solidFill>
              </a:rPr>
              <a:t>AuthController  •  TaskController  •  AdminController (W4)</a:t>
            </a:r>
            <a:endParaRPr lang="en-US" sz="1000" dirty="0"/>
          </a:p>
        </p:txBody>
      </p:sp>
      <p:sp>
        <p:nvSpPr>
          <p:cNvPr id="9" name="Text 7"/>
          <p:cNvSpPr/>
          <p:nvPr/>
        </p:nvSpPr>
        <p:spPr>
          <a:xfrm>
            <a:off x="2240280" y="1536192"/>
            <a:ext cx="6400800" cy="219456"/>
          </a:xfrm>
          <a:prstGeom prst="rect">
            <a:avLst/>
          </a:prstGeom>
          <a:noFill/>
          <a:ln/>
        </p:spPr>
        <p:txBody>
          <a:bodyPr wrap="square" lIns="0" tIns="0" rIns="0" bIns="0" rtlCol="0" anchor="ctr"/>
          <a:lstStyle/>
          <a:p>
            <a:pPr marL="0" indent="0">
              <a:buNone/>
            </a:pPr>
            <a:r>
              <a:rPr lang="en-US" sz="1000" dirty="0">
                <a:solidFill>
                  <a:srgbClr val="64748B"/>
                </a:solidFill>
              </a:rPr>
              <a:t>Handles HTTP requests, applies @PreAuthorize (Week 4)</a:t>
            </a:r>
            <a:endParaRPr lang="en-US" sz="1000" dirty="0"/>
          </a:p>
        </p:txBody>
      </p:sp>
      <p:sp>
        <p:nvSpPr>
          <p:cNvPr id="10" name="Shape 8"/>
          <p:cNvSpPr/>
          <p:nvPr/>
        </p:nvSpPr>
        <p:spPr>
          <a:xfrm>
            <a:off x="365760" y="1947672"/>
            <a:ext cx="8412480" cy="658368"/>
          </a:xfrm>
          <a:prstGeom prst="roundRect">
            <a:avLst>
              <a:gd name="adj" fmla="val 11111"/>
            </a:avLst>
          </a:prstGeom>
          <a:solidFill>
            <a:srgbClr val="F8FAFC"/>
          </a:solidFill>
          <a:ln w="12700">
            <a:solidFill>
              <a:srgbClr val="E2E8F0"/>
            </a:solidFill>
            <a:prstDash val="solid"/>
          </a:ln>
        </p:spPr>
      </p:sp>
      <p:sp>
        <p:nvSpPr>
          <p:cNvPr id="11" name="Shape 9"/>
          <p:cNvSpPr/>
          <p:nvPr/>
        </p:nvSpPr>
        <p:spPr>
          <a:xfrm>
            <a:off x="365760" y="1947672"/>
            <a:ext cx="1737360" cy="658368"/>
          </a:xfrm>
          <a:prstGeom prst="roundRect">
            <a:avLst>
              <a:gd name="adj" fmla="val 11111"/>
            </a:avLst>
          </a:prstGeom>
          <a:solidFill>
            <a:srgbClr val="0891B2"/>
          </a:solidFill>
          <a:ln w="12700">
            <a:solidFill>
              <a:srgbClr val="0891B2"/>
            </a:solidFill>
            <a:prstDash val="solid"/>
          </a:ln>
        </p:spPr>
      </p:sp>
      <p:sp>
        <p:nvSpPr>
          <p:cNvPr id="12" name="Shape 10"/>
          <p:cNvSpPr/>
          <p:nvPr/>
        </p:nvSpPr>
        <p:spPr>
          <a:xfrm>
            <a:off x="1371600" y="1947672"/>
            <a:ext cx="731520" cy="658368"/>
          </a:xfrm>
          <a:prstGeom prst="rect">
            <a:avLst/>
          </a:prstGeom>
          <a:solidFill>
            <a:srgbClr val="0891B2"/>
          </a:solidFill>
          <a:ln w="12700">
            <a:solidFill>
              <a:srgbClr val="0891B2"/>
            </a:solidFill>
            <a:prstDash val="solid"/>
          </a:ln>
        </p:spPr>
      </p:sp>
      <p:sp>
        <p:nvSpPr>
          <p:cNvPr id="13" name="Text 11"/>
          <p:cNvSpPr/>
          <p:nvPr/>
        </p:nvSpPr>
        <p:spPr>
          <a:xfrm>
            <a:off x="411480" y="1947672"/>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rPr>
              <a:t>Service Layer</a:t>
            </a:r>
            <a:endParaRPr lang="en-US" sz="1000" dirty="0"/>
          </a:p>
        </p:txBody>
      </p:sp>
      <p:sp>
        <p:nvSpPr>
          <p:cNvPr id="14" name="Text 12"/>
          <p:cNvSpPr/>
          <p:nvPr/>
        </p:nvSpPr>
        <p:spPr>
          <a:xfrm>
            <a:off x="2240280" y="2002536"/>
            <a:ext cx="6400800" cy="256032"/>
          </a:xfrm>
          <a:prstGeom prst="rect">
            <a:avLst/>
          </a:prstGeom>
          <a:noFill/>
          <a:ln/>
        </p:spPr>
        <p:txBody>
          <a:bodyPr wrap="square" lIns="0" tIns="0" rIns="0" bIns="0" rtlCol="0" anchor="ctr"/>
          <a:lstStyle/>
          <a:p>
            <a:pPr marL="0" indent="0">
              <a:buNone/>
            </a:pPr>
            <a:r>
              <a:rPr lang="en-US" sz="1000" b="1" dirty="0">
                <a:solidFill>
                  <a:srgbClr val="1E293B"/>
                </a:solidFill>
              </a:rPr>
              <a:t>AuthService  •  TaskService  •  AdminService (W4)  •  NotificationService (W4)</a:t>
            </a:r>
            <a:endParaRPr lang="en-US" sz="1000" dirty="0"/>
          </a:p>
        </p:txBody>
      </p:sp>
      <p:sp>
        <p:nvSpPr>
          <p:cNvPr id="15" name="Text 13"/>
          <p:cNvSpPr/>
          <p:nvPr/>
        </p:nvSpPr>
        <p:spPr>
          <a:xfrm>
            <a:off x="2240280" y="2295144"/>
            <a:ext cx="6400800" cy="219456"/>
          </a:xfrm>
          <a:prstGeom prst="rect">
            <a:avLst/>
          </a:prstGeom>
          <a:noFill/>
          <a:ln/>
        </p:spPr>
        <p:txBody>
          <a:bodyPr wrap="square" lIns="0" tIns="0" rIns="0" bIns="0" rtlCol="0" anchor="ctr"/>
          <a:lstStyle/>
          <a:p>
            <a:pPr marL="0" indent="0">
              <a:buNone/>
            </a:pPr>
            <a:r>
              <a:rPr lang="en-US" sz="1000" dirty="0">
                <a:solidFill>
                  <a:srgbClr val="64748B"/>
                </a:solidFill>
              </a:rPr>
              <a:t>Business logic, RBAC enforcement, overdue detection</a:t>
            </a:r>
            <a:endParaRPr lang="en-US" sz="1000" dirty="0"/>
          </a:p>
        </p:txBody>
      </p:sp>
      <p:sp>
        <p:nvSpPr>
          <p:cNvPr id="16" name="Shape 14"/>
          <p:cNvSpPr/>
          <p:nvPr/>
        </p:nvSpPr>
        <p:spPr>
          <a:xfrm>
            <a:off x="365760" y="2706624"/>
            <a:ext cx="8412480" cy="658368"/>
          </a:xfrm>
          <a:prstGeom prst="roundRect">
            <a:avLst>
              <a:gd name="adj" fmla="val 11111"/>
            </a:avLst>
          </a:prstGeom>
          <a:solidFill>
            <a:srgbClr val="F8FAFC"/>
          </a:solidFill>
          <a:ln w="12700">
            <a:solidFill>
              <a:srgbClr val="E2E8F0"/>
            </a:solidFill>
            <a:prstDash val="solid"/>
          </a:ln>
        </p:spPr>
      </p:sp>
      <p:sp>
        <p:nvSpPr>
          <p:cNvPr id="17" name="Shape 15"/>
          <p:cNvSpPr/>
          <p:nvPr/>
        </p:nvSpPr>
        <p:spPr>
          <a:xfrm>
            <a:off x="365760" y="2706624"/>
            <a:ext cx="1737360" cy="658368"/>
          </a:xfrm>
          <a:prstGeom prst="roundRect">
            <a:avLst>
              <a:gd name="adj" fmla="val 11111"/>
            </a:avLst>
          </a:prstGeom>
          <a:solidFill>
            <a:srgbClr val="0D9488"/>
          </a:solidFill>
          <a:ln w="12700">
            <a:solidFill>
              <a:srgbClr val="0D9488"/>
            </a:solidFill>
            <a:prstDash val="solid"/>
          </a:ln>
        </p:spPr>
      </p:sp>
      <p:sp>
        <p:nvSpPr>
          <p:cNvPr id="18" name="Shape 16"/>
          <p:cNvSpPr/>
          <p:nvPr/>
        </p:nvSpPr>
        <p:spPr>
          <a:xfrm>
            <a:off x="1371600" y="2706624"/>
            <a:ext cx="731520" cy="658368"/>
          </a:xfrm>
          <a:prstGeom prst="rect">
            <a:avLst/>
          </a:prstGeom>
          <a:solidFill>
            <a:srgbClr val="0D9488"/>
          </a:solidFill>
          <a:ln w="12700">
            <a:solidFill>
              <a:srgbClr val="0D9488"/>
            </a:solidFill>
            <a:prstDash val="solid"/>
          </a:ln>
        </p:spPr>
      </p:sp>
      <p:sp>
        <p:nvSpPr>
          <p:cNvPr id="19" name="Text 17"/>
          <p:cNvSpPr/>
          <p:nvPr/>
        </p:nvSpPr>
        <p:spPr>
          <a:xfrm>
            <a:off x="411480" y="2706624"/>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rPr>
              <a:t>Repository Layer</a:t>
            </a:r>
            <a:endParaRPr lang="en-US" sz="1000" dirty="0"/>
          </a:p>
        </p:txBody>
      </p:sp>
      <p:sp>
        <p:nvSpPr>
          <p:cNvPr id="20" name="Text 18"/>
          <p:cNvSpPr/>
          <p:nvPr/>
        </p:nvSpPr>
        <p:spPr>
          <a:xfrm>
            <a:off x="2240280" y="2761488"/>
            <a:ext cx="6400800" cy="256032"/>
          </a:xfrm>
          <a:prstGeom prst="rect">
            <a:avLst/>
          </a:prstGeom>
          <a:noFill/>
          <a:ln/>
        </p:spPr>
        <p:txBody>
          <a:bodyPr wrap="square" lIns="0" tIns="0" rIns="0" bIns="0" rtlCol="0" anchor="ctr"/>
          <a:lstStyle/>
          <a:p>
            <a:pPr marL="0" indent="0">
              <a:buNone/>
            </a:pPr>
            <a:r>
              <a:rPr lang="en-US" sz="1000" b="1" dirty="0">
                <a:solidFill>
                  <a:srgbClr val="1E293B"/>
                </a:solidFill>
              </a:rPr>
              <a:t>UserRepository  •  TaskRepository</a:t>
            </a:r>
            <a:endParaRPr lang="en-US" sz="1000" dirty="0"/>
          </a:p>
        </p:txBody>
      </p:sp>
      <p:sp>
        <p:nvSpPr>
          <p:cNvPr id="21" name="Text 19"/>
          <p:cNvSpPr/>
          <p:nvPr/>
        </p:nvSpPr>
        <p:spPr>
          <a:xfrm>
            <a:off x="2240280" y="3054096"/>
            <a:ext cx="6400800" cy="219456"/>
          </a:xfrm>
          <a:prstGeom prst="rect">
            <a:avLst/>
          </a:prstGeom>
          <a:noFill/>
          <a:ln/>
        </p:spPr>
        <p:txBody>
          <a:bodyPr wrap="square" lIns="0" tIns="0" rIns="0" bIns="0" rtlCol="0" anchor="ctr"/>
          <a:lstStyle/>
          <a:p>
            <a:pPr marL="0" indent="0">
              <a:buNone/>
            </a:pPr>
            <a:r>
              <a:rPr lang="en-US" sz="1000" dirty="0">
                <a:solidFill>
                  <a:srgbClr val="64748B"/>
                </a:solidFill>
              </a:rPr>
              <a:t>Spring Data JPA — overdue queries added in Week 4</a:t>
            </a:r>
            <a:endParaRPr lang="en-US" sz="1000" dirty="0"/>
          </a:p>
        </p:txBody>
      </p:sp>
      <p:sp>
        <p:nvSpPr>
          <p:cNvPr id="22" name="Shape 20"/>
          <p:cNvSpPr/>
          <p:nvPr/>
        </p:nvSpPr>
        <p:spPr>
          <a:xfrm>
            <a:off x="365760" y="3465576"/>
            <a:ext cx="8412480" cy="658368"/>
          </a:xfrm>
          <a:prstGeom prst="roundRect">
            <a:avLst>
              <a:gd name="adj" fmla="val 11111"/>
            </a:avLst>
          </a:prstGeom>
          <a:solidFill>
            <a:srgbClr val="F8FAFC"/>
          </a:solidFill>
          <a:ln w="12700">
            <a:solidFill>
              <a:srgbClr val="E2E8F0"/>
            </a:solidFill>
            <a:prstDash val="solid"/>
          </a:ln>
        </p:spPr>
      </p:sp>
      <p:sp>
        <p:nvSpPr>
          <p:cNvPr id="23" name="Shape 21"/>
          <p:cNvSpPr/>
          <p:nvPr/>
        </p:nvSpPr>
        <p:spPr>
          <a:xfrm>
            <a:off x="365760" y="3465576"/>
            <a:ext cx="1737360" cy="658368"/>
          </a:xfrm>
          <a:prstGeom prst="roundRect">
            <a:avLst>
              <a:gd name="adj" fmla="val 11111"/>
            </a:avLst>
          </a:prstGeom>
          <a:solidFill>
            <a:srgbClr val="059669"/>
          </a:solidFill>
          <a:ln w="12700">
            <a:solidFill>
              <a:srgbClr val="059669"/>
            </a:solidFill>
            <a:prstDash val="solid"/>
          </a:ln>
        </p:spPr>
      </p:sp>
      <p:sp>
        <p:nvSpPr>
          <p:cNvPr id="24" name="Shape 22"/>
          <p:cNvSpPr/>
          <p:nvPr/>
        </p:nvSpPr>
        <p:spPr>
          <a:xfrm>
            <a:off x="1371600" y="3465576"/>
            <a:ext cx="731520" cy="658368"/>
          </a:xfrm>
          <a:prstGeom prst="rect">
            <a:avLst/>
          </a:prstGeom>
          <a:solidFill>
            <a:srgbClr val="059669"/>
          </a:solidFill>
          <a:ln w="12700">
            <a:solidFill>
              <a:srgbClr val="059669"/>
            </a:solidFill>
            <a:prstDash val="solid"/>
          </a:ln>
        </p:spPr>
      </p:sp>
      <p:sp>
        <p:nvSpPr>
          <p:cNvPr id="25" name="Text 23"/>
          <p:cNvSpPr/>
          <p:nvPr/>
        </p:nvSpPr>
        <p:spPr>
          <a:xfrm>
            <a:off x="411480" y="3465576"/>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rPr>
              <a:t>Model / DTO</a:t>
            </a:r>
            <a:endParaRPr lang="en-US" sz="1000" dirty="0"/>
          </a:p>
        </p:txBody>
      </p:sp>
      <p:sp>
        <p:nvSpPr>
          <p:cNvPr id="26" name="Text 24"/>
          <p:cNvSpPr/>
          <p:nvPr/>
        </p:nvSpPr>
        <p:spPr>
          <a:xfrm>
            <a:off x="2240280" y="3520440"/>
            <a:ext cx="6400800" cy="256032"/>
          </a:xfrm>
          <a:prstGeom prst="rect">
            <a:avLst/>
          </a:prstGeom>
          <a:noFill/>
          <a:ln/>
        </p:spPr>
        <p:txBody>
          <a:bodyPr wrap="square" lIns="0" tIns="0" rIns="0" bIns="0" rtlCol="0" anchor="ctr"/>
          <a:lstStyle/>
          <a:p>
            <a:pPr marL="0" indent="0">
              <a:buNone/>
            </a:pPr>
            <a:r>
              <a:rPr lang="en-US" sz="1000" b="1" dirty="0">
                <a:solidFill>
                  <a:srgbClr val="1E293B"/>
                </a:solidFill>
              </a:rPr>
              <a:t>User  •  Task  •  TaskRequest/Response  •  UserResponse (W4)  •  DashboardStats (W4)</a:t>
            </a:r>
            <a:endParaRPr lang="en-US" sz="1000" dirty="0"/>
          </a:p>
        </p:txBody>
      </p:sp>
      <p:sp>
        <p:nvSpPr>
          <p:cNvPr id="27" name="Text 25"/>
          <p:cNvSpPr/>
          <p:nvPr/>
        </p:nvSpPr>
        <p:spPr>
          <a:xfrm>
            <a:off x="2240280" y="3813048"/>
            <a:ext cx="6400800" cy="219456"/>
          </a:xfrm>
          <a:prstGeom prst="rect">
            <a:avLst/>
          </a:prstGeom>
          <a:noFill/>
          <a:ln/>
        </p:spPr>
        <p:txBody>
          <a:bodyPr wrap="square" lIns="0" tIns="0" rIns="0" bIns="0" rtlCol="0" anchor="ctr"/>
          <a:lstStyle/>
          <a:p>
            <a:pPr marL="0" indent="0">
              <a:buNone/>
            </a:pPr>
            <a:r>
              <a:rPr lang="en-US" sz="1000" dirty="0">
                <a:solidFill>
                  <a:srgbClr val="64748B"/>
                </a:solidFill>
              </a:rPr>
              <a:t>Entities and data transfer objects</a:t>
            </a:r>
            <a:endParaRPr lang="en-US" sz="1000" dirty="0"/>
          </a:p>
        </p:txBody>
      </p:sp>
      <p:sp>
        <p:nvSpPr>
          <p:cNvPr id="28" name="Shape 26"/>
          <p:cNvSpPr/>
          <p:nvPr/>
        </p:nvSpPr>
        <p:spPr>
          <a:xfrm>
            <a:off x="365760" y="4224528"/>
            <a:ext cx="8412480" cy="658368"/>
          </a:xfrm>
          <a:prstGeom prst="roundRect">
            <a:avLst>
              <a:gd name="adj" fmla="val 11111"/>
            </a:avLst>
          </a:prstGeom>
          <a:solidFill>
            <a:srgbClr val="F8FAFC"/>
          </a:solidFill>
          <a:ln w="12700">
            <a:solidFill>
              <a:srgbClr val="E2E8F0"/>
            </a:solidFill>
            <a:prstDash val="solid"/>
          </a:ln>
        </p:spPr>
      </p:sp>
      <p:sp>
        <p:nvSpPr>
          <p:cNvPr id="29" name="Shape 27"/>
          <p:cNvSpPr/>
          <p:nvPr/>
        </p:nvSpPr>
        <p:spPr>
          <a:xfrm>
            <a:off x="365760" y="4224528"/>
            <a:ext cx="1737360" cy="658368"/>
          </a:xfrm>
          <a:prstGeom prst="roundRect">
            <a:avLst>
              <a:gd name="adj" fmla="val 11111"/>
            </a:avLst>
          </a:prstGeom>
          <a:solidFill>
            <a:srgbClr val="7C3AED"/>
          </a:solidFill>
          <a:ln w="12700">
            <a:solidFill>
              <a:srgbClr val="7C3AED"/>
            </a:solidFill>
            <a:prstDash val="solid"/>
          </a:ln>
        </p:spPr>
      </p:sp>
      <p:sp>
        <p:nvSpPr>
          <p:cNvPr id="30" name="Shape 28"/>
          <p:cNvSpPr/>
          <p:nvPr/>
        </p:nvSpPr>
        <p:spPr>
          <a:xfrm>
            <a:off x="1371600" y="4224528"/>
            <a:ext cx="731520" cy="658368"/>
          </a:xfrm>
          <a:prstGeom prst="rect">
            <a:avLst/>
          </a:prstGeom>
          <a:solidFill>
            <a:srgbClr val="7C3AED"/>
          </a:solidFill>
          <a:ln w="12700">
            <a:solidFill>
              <a:srgbClr val="7C3AED"/>
            </a:solidFill>
            <a:prstDash val="solid"/>
          </a:ln>
        </p:spPr>
      </p:sp>
      <p:sp>
        <p:nvSpPr>
          <p:cNvPr id="31" name="Text 29"/>
          <p:cNvSpPr/>
          <p:nvPr/>
        </p:nvSpPr>
        <p:spPr>
          <a:xfrm>
            <a:off x="411480" y="4224528"/>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rPr>
              <a:t>Security</a:t>
            </a:r>
            <a:endParaRPr lang="en-US" sz="1000" dirty="0"/>
          </a:p>
        </p:txBody>
      </p:sp>
      <p:sp>
        <p:nvSpPr>
          <p:cNvPr id="32" name="Text 30"/>
          <p:cNvSpPr/>
          <p:nvPr/>
        </p:nvSpPr>
        <p:spPr>
          <a:xfrm>
            <a:off x="2240280" y="4279392"/>
            <a:ext cx="6400800" cy="256032"/>
          </a:xfrm>
          <a:prstGeom prst="rect">
            <a:avLst/>
          </a:prstGeom>
          <a:noFill/>
          <a:ln/>
        </p:spPr>
        <p:txBody>
          <a:bodyPr wrap="square" lIns="0" tIns="0" rIns="0" bIns="0" rtlCol="0" anchor="ctr"/>
          <a:lstStyle/>
          <a:p>
            <a:pPr marL="0" indent="0">
              <a:buNone/>
            </a:pPr>
            <a:r>
              <a:rPr lang="en-US" sz="1000" b="1" dirty="0">
                <a:solidFill>
                  <a:srgbClr val="1E293B"/>
                </a:solidFill>
              </a:rPr>
              <a:t>JwtAuthFilter  •  JwtUtil  •  SecurityConfig  •  UserDetailsServiceImpl</a:t>
            </a:r>
            <a:endParaRPr lang="en-US" sz="1000" dirty="0"/>
          </a:p>
        </p:txBody>
      </p:sp>
      <p:sp>
        <p:nvSpPr>
          <p:cNvPr id="33" name="Text 31"/>
          <p:cNvSpPr/>
          <p:nvPr/>
        </p:nvSpPr>
        <p:spPr>
          <a:xfrm>
            <a:off x="2240280" y="4572000"/>
            <a:ext cx="6400800" cy="219456"/>
          </a:xfrm>
          <a:prstGeom prst="rect">
            <a:avLst/>
          </a:prstGeom>
          <a:noFill/>
          <a:ln/>
        </p:spPr>
        <p:txBody>
          <a:bodyPr wrap="square" lIns="0" tIns="0" rIns="0" bIns="0" rtlCol="0" anchor="ctr"/>
          <a:lstStyle/>
          <a:p>
            <a:pPr marL="0" indent="0">
              <a:buNone/>
            </a:pPr>
            <a:r>
              <a:rPr lang="en-US" sz="1000" dirty="0">
                <a:solidFill>
                  <a:srgbClr val="64748B"/>
                </a:solidFill>
              </a:rPr>
              <a:t>JWT filter chain, CORS, route protection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3000" b="1" dirty="0">
                <a:solidFill>
                  <a:srgbClr val="0A1628"/>
                </a:solidFill>
              </a:rPr>
              <a:t>Evaluation Criteria — Summary</a:t>
            </a:r>
            <a:endParaRPr lang="en-US" sz="3000" dirty="0"/>
          </a:p>
        </p:txBody>
      </p:sp>
      <p:sp>
        <p:nvSpPr>
          <p:cNvPr id="3" name="Shape 1"/>
          <p:cNvSpPr/>
          <p:nvPr/>
        </p:nvSpPr>
        <p:spPr>
          <a:xfrm>
            <a:off x="274320" y="1051560"/>
            <a:ext cx="2743200" cy="3749040"/>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4" name="Shape 2"/>
          <p:cNvSpPr/>
          <p:nvPr/>
        </p:nvSpPr>
        <p:spPr>
          <a:xfrm>
            <a:off x="274320" y="1051560"/>
            <a:ext cx="2743200" cy="502920"/>
          </a:xfrm>
          <a:prstGeom prst="roundRect">
            <a:avLst>
              <a:gd name="adj" fmla="val 21818"/>
            </a:avLst>
          </a:prstGeom>
          <a:solidFill>
            <a:srgbClr val="1B4F9C"/>
          </a:solidFill>
          <a:ln w="12700">
            <a:solidFill>
              <a:srgbClr val="1B4F9C"/>
            </a:solidFill>
            <a:prstDash val="solid"/>
          </a:ln>
        </p:spPr>
      </p:sp>
      <p:sp>
        <p:nvSpPr>
          <p:cNvPr id="5" name="Shape 3"/>
          <p:cNvSpPr/>
          <p:nvPr/>
        </p:nvSpPr>
        <p:spPr>
          <a:xfrm>
            <a:off x="274320" y="1325880"/>
            <a:ext cx="2743200" cy="228600"/>
          </a:xfrm>
          <a:prstGeom prst="rect">
            <a:avLst/>
          </a:prstGeom>
          <a:solidFill>
            <a:srgbClr val="1B4F9C"/>
          </a:solidFill>
          <a:ln w="12700">
            <a:solidFill>
              <a:srgbClr val="1B4F9C"/>
            </a:solidFill>
            <a:prstDash val="solid"/>
          </a:ln>
        </p:spPr>
      </p:sp>
      <p:sp>
        <p:nvSpPr>
          <p:cNvPr id="6" name="Text 4"/>
          <p:cNvSpPr/>
          <p:nvPr/>
        </p:nvSpPr>
        <p:spPr>
          <a:xfrm>
            <a:off x="274320" y="1051560"/>
            <a:ext cx="2743200" cy="502920"/>
          </a:xfrm>
          <a:prstGeom prst="rect">
            <a:avLst/>
          </a:prstGeom>
          <a:noFill/>
          <a:ln/>
        </p:spPr>
        <p:txBody>
          <a:bodyPr wrap="square" lIns="0" tIns="0" rIns="0" bIns="0" rtlCol="0" anchor="ctr"/>
          <a:lstStyle/>
          <a:p>
            <a:pPr marL="0" indent="0" algn="ctr">
              <a:buNone/>
            </a:pPr>
            <a:r>
              <a:rPr lang="en-US" sz="1200" b="1" dirty="0">
                <a:solidFill>
                  <a:srgbClr val="FFFFFF"/>
                </a:solidFill>
              </a:rPr>
              <a:t>Technical Implementation</a:t>
            </a:r>
            <a:endParaRPr lang="en-US" sz="1200" dirty="0"/>
          </a:p>
        </p:txBody>
      </p:sp>
      <p:sp>
        <p:nvSpPr>
          <p:cNvPr id="7" name="Shape 5"/>
          <p:cNvSpPr/>
          <p:nvPr/>
        </p:nvSpPr>
        <p:spPr>
          <a:xfrm>
            <a:off x="457200" y="1764792"/>
            <a:ext cx="201168" cy="201168"/>
          </a:xfrm>
          <a:prstGeom prst="ellipse">
            <a:avLst/>
          </a:prstGeom>
          <a:solidFill>
            <a:srgbClr val="1B4F9C"/>
          </a:solidFill>
          <a:ln w="12700">
            <a:solidFill>
              <a:srgbClr val="1B4F9C"/>
            </a:solidFill>
            <a:prstDash val="solid"/>
          </a:ln>
        </p:spPr>
      </p:sp>
      <p:sp>
        <p:nvSpPr>
          <p:cNvPr id="8" name="Text 6"/>
          <p:cNvSpPr/>
          <p:nvPr/>
        </p:nvSpPr>
        <p:spPr>
          <a:xfrm>
            <a:off x="731520" y="1691640"/>
            <a:ext cx="2194560" cy="347472"/>
          </a:xfrm>
          <a:prstGeom prst="rect">
            <a:avLst/>
          </a:prstGeom>
          <a:noFill/>
          <a:ln/>
        </p:spPr>
        <p:txBody>
          <a:bodyPr wrap="square" lIns="0" tIns="0" rIns="0" bIns="0" rtlCol="0" anchor="ctr"/>
          <a:lstStyle/>
          <a:p>
            <a:pPr marL="0" indent="0">
              <a:buNone/>
            </a:pPr>
            <a:r>
              <a:rPr lang="en-US" sz="1050" dirty="0">
                <a:solidFill>
                  <a:srgbClr val="1E293B"/>
                </a:solidFill>
              </a:rPr>
              <a:t>JWT Authentication + Spring Security</a:t>
            </a:r>
            <a:endParaRPr lang="en-US" sz="1050" dirty="0"/>
          </a:p>
        </p:txBody>
      </p:sp>
      <p:sp>
        <p:nvSpPr>
          <p:cNvPr id="9" name="Shape 7"/>
          <p:cNvSpPr/>
          <p:nvPr/>
        </p:nvSpPr>
        <p:spPr>
          <a:xfrm>
            <a:off x="457200" y="2377440"/>
            <a:ext cx="201168" cy="201168"/>
          </a:xfrm>
          <a:prstGeom prst="ellipse">
            <a:avLst/>
          </a:prstGeom>
          <a:solidFill>
            <a:srgbClr val="1B4F9C"/>
          </a:solidFill>
          <a:ln w="12700">
            <a:solidFill>
              <a:srgbClr val="1B4F9C"/>
            </a:solidFill>
            <a:prstDash val="solid"/>
          </a:ln>
        </p:spPr>
      </p:sp>
      <p:sp>
        <p:nvSpPr>
          <p:cNvPr id="10" name="Text 8"/>
          <p:cNvSpPr/>
          <p:nvPr/>
        </p:nvSpPr>
        <p:spPr>
          <a:xfrm>
            <a:off x="731520" y="2304288"/>
            <a:ext cx="2194560" cy="347472"/>
          </a:xfrm>
          <a:prstGeom prst="rect">
            <a:avLst/>
          </a:prstGeom>
          <a:noFill/>
          <a:ln/>
        </p:spPr>
        <p:txBody>
          <a:bodyPr wrap="square" lIns="0" tIns="0" rIns="0" bIns="0" rtlCol="0" anchor="ctr"/>
          <a:lstStyle/>
          <a:p>
            <a:pPr marL="0" indent="0">
              <a:buNone/>
            </a:pPr>
            <a:r>
              <a:rPr lang="en-US" sz="1050" dirty="0">
                <a:solidFill>
                  <a:srgbClr val="1E293B"/>
                </a:solidFill>
              </a:rPr>
              <a:t>RBAC with @PreAuthorize annotations</a:t>
            </a:r>
            <a:endParaRPr lang="en-US" sz="1050" dirty="0"/>
          </a:p>
        </p:txBody>
      </p:sp>
      <p:sp>
        <p:nvSpPr>
          <p:cNvPr id="11" name="Shape 9"/>
          <p:cNvSpPr/>
          <p:nvPr/>
        </p:nvSpPr>
        <p:spPr>
          <a:xfrm>
            <a:off x="457200" y="2990088"/>
            <a:ext cx="201168" cy="201168"/>
          </a:xfrm>
          <a:prstGeom prst="ellipse">
            <a:avLst/>
          </a:prstGeom>
          <a:solidFill>
            <a:srgbClr val="1B4F9C"/>
          </a:solidFill>
          <a:ln w="12700">
            <a:solidFill>
              <a:srgbClr val="1B4F9C"/>
            </a:solidFill>
            <a:prstDash val="solid"/>
          </a:ln>
        </p:spPr>
      </p:sp>
      <p:sp>
        <p:nvSpPr>
          <p:cNvPr id="12" name="Text 10"/>
          <p:cNvSpPr/>
          <p:nvPr/>
        </p:nvSpPr>
        <p:spPr>
          <a:xfrm>
            <a:off x="731520" y="2916936"/>
            <a:ext cx="2194560" cy="347472"/>
          </a:xfrm>
          <a:prstGeom prst="rect">
            <a:avLst/>
          </a:prstGeom>
          <a:noFill/>
          <a:ln/>
        </p:spPr>
        <p:txBody>
          <a:bodyPr wrap="square" lIns="0" tIns="0" rIns="0" bIns="0" rtlCol="0" anchor="ctr"/>
          <a:lstStyle/>
          <a:p>
            <a:pPr marL="0" indent="0">
              <a:buNone/>
            </a:pPr>
            <a:r>
              <a:rPr lang="en-US" sz="1050" dirty="0">
                <a:solidFill>
                  <a:srgbClr val="1E293B"/>
                </a:solidFill>
              </a:rPr>
              <a:t>Overdue detection + Email notifications</a:t>
            </a:r>
            <a:endParaRPr lang="en-US" sz="1050" dirty="0"/>
          </a:p>
        </p:txBody>
      </p:sp>
      <p:sp>
        <p:nvSpPr>
          <p:cNvPr id="13" name="Shape 11"/>
          <p:cNvSpPr/>
          <p:nvPr/>
        </p:nvSpPr>
        <p:spPr>
          <a:xfrm>
            <a:off x="457200" y="3602736"/>
            <a:ext cx="201168" cy="201168"/>
          </a:xfrm>
          <a:prstGeom prst="ellipse">
            <a:avLst/>
          </a:prstGeom>
          <a:solidFill>
            <a:srgbClr val="1B4F9C"/>
          </a:solidFill>
          <a:ln w="12700">
            <a:solidFill>
              <a:srgbClr val="1B4F9C"/>
            </a:solidFill>
            <a:prstDash val="solid"/>
          </a:ln>
        </p:spPr>
      </p:sp>
      <p:sp>
        <p:nvSpPr>
          <p:cNvPr id="14" name="Text 12"/>
          <p:cNvSpPr/>
          <p:nvPr/>
        </p:nvSpPr>
        <p:spPr>
          <a:xfrm>
            <a:off x="731520" y="3529584"/>
            <a:ext cx="2194560" cy="347472"/>
          </a:xfrm>
          <a:prstGeom prst="rect">
            <a:avLst/>
          </a:prstGeom>
          <a:noFill/>
          <a:ln/>
        </p:spPr>
        <p:txBody>
          <a:bodyPr wrap="square" lIns="0" tIns="0" rIns="0" bIns="0" rtlCol="0" anchor="ctr"/>
          <a:lstStyle/>
          <a:p>
            <a:pPr marL="0" indent="0">
              <a:buNone/>
            </a:pPr>
            <a:r>
              <a:rPr lang="en-US" sz="1050" dirty="0">
                <a:solidFill>
                  <a:srgbClr val="1E293B"/>
                </a:solidFill>
              </a:rPr>
              <a:t>Admin panel + Dashboard stats</a:t>
            </a:r>
            <a:endParaRPr lang="en-US" sz="1050" dirty="0"/>
          </a:p>
        </p:txBody>
      </p:sp>
      <p:sp>
        <p:nvSpPr>
          <p:cNvPr id="15" name="Shape 13"/>
          <p:cNvSpPr/>
          <p:nvPr/>
        </p:nvSpPr>
        <p:spPr>
          <a:xfrm>
            <a:off x="457200" y="4215384"/>
            <a:ext cx="201168" cy="201168"/>
          </a:xfrm>
          <a:prstGeom prst="ellipse">
            <a:avLst/>
          </a:prstGeom>
          <a:solidFill>
            <a:srgbClr val="1B4F9C"/>
          </a:solidFill>
          <a:ln w="12700">
            <a:solidFill>
              <a:srgbClr val="1B4F9C"/>
            </a:solidFill>
            <a:prstDash val="solid"/>
          </a:ln>
        </p:spPr>
      </p:sp>
      <p:sp>
        <p:nvSpPr>
          <p:cNvPr id="16" name="Text 14"/>
          <p:cNvSpPr/>
          <p:nvPr/>
        </p:nvSpPr>
        <p:spPr>
          <a:xfrm>
            <a:off x="731520" y="4142232"/>
            <a:ext cx="2194560" cy="347472"/>
          </a:xfrm>
          <a:prstGeom prst="rect">
            <a:avLst/>
          </a:prstGeom>
          <a:noFill/>
          <a:ln/>
        </p:spPr>
        <p:txBody>
          <a:bodyPr wrap="square" lIns="0" tIns="0" rIns="0" bIns="0" rtlCol="0" anchor="ctr"/>
          <a:lstStyle/>
          <a:p>
            <a:pPr marL="0" indent="0">
              <a:buNone/>
            </a:pPr>
            <a:r>
              <a:rPr lang="en-US" sz="1050" dirty="0">
                <a:solidFill>
                  <a:srgbClr val="1E293B"/>
                </a:solidFill>
              </a:rPr>
              <a:t>Docker deployment on Render</a:t>
            </a:r>
            <a:endParaRPr lang="en-US" sz="1050" dirty="0"/>
          </a:p>
        </p:txBody>
      </p:sp>
      <p:sp>
        <p:nvSpPr>
          <p:cNvPr id="17" name="Shape 15"/>
          <p:cNvSpPr/>
          <p:nvPr/>
        </p:nvSpPr>
        <p:spPr>
          <a:xfrm>
            <a:off x="3218688" y="1051560"/>
            <a:ext cx="2743200" cy="3749040"/>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8" name="Shape 16"/>
          <p:cNvSpPr/>
          <p:nvPr/>
        </p:nvSpPr>
        <p:spPr>
          <a:xfrm>
            <a:off x="3218688" y="1051560"/>
            <a:ext cx="2743200" cy="502920"/>
          </a:xfrm>
          <a:prstGeom prst="roundRect">
            <a:avLst>
              <a:gd name="adj" fmla="val 21818"/>
            </a:avLst>
          </a:prstGeom>
          <a:solidFill>
            <a:srgbClr val="0EA5E9"/>
          </a:solidFill>
          <a:ln w="12700">
            <a:solidFill>
              <a:srgbClr val="0EA5E9"/>
            </a:solidFill>
            <a:prstDash val="solid"/>
          </a:ln>
        </p:spPr>
      </p:sp>
      <p:sp>
        <p:nvSpPr>
          <p:cNvPr id="19" name="Shape 17"/>
          <p:cNvSpPr/>
          <p:nvPr/>
        </p:nvSpPr>
        <p:spPr>
          <a:xfrm>
            <a:off x="3218688" y="1325880"/>
            <a:ext cx="2743200" cy="228600"/>
          </a:xfrm>
          <a:prstGeom prst="rect">
            <a:avLst/>
          </a:prstGeom>
          <a:solidFill>
            <a:srgbClr val="0EA5E9"/>
          </a:solidFill>
          <a:ln w="12700">
            <a:solidFill>
              <a:srgbClr val="0EA5E9"/>
            </a:solidFill>
            <a:prstDash val="solid"/>
          </a:ln>
        </p:spPr>
      </p:sp>
      <p:sp>
        <p:nvSpPr>
          <p:cNvPr id="20" name="Text 18"/>
          <p:cNvSpPr/>
          <p:nvPr/>
        </p:nvSpPr>
        <p:spPr>
          <a:xfrm>
            <a:off x="3218688" y="1051560"/>
            <a:ext cx="2743200" cy="502920"/>
          </a:xfrm>
          <a:prstGeom prst="rect">
            <a:avLst/>
          </a:prstGeom>
          <a:noFill/>
          <a:ln/>
        </p:spPr>
        <p:txBody>
          <a:bodyPr wrap="square" lIns="0" tIns="0" rIns="0" bIns="0" rtlCol="0" anchor="ctr"/>
          <a:lstStyle/>
          <a:p>
            <a:pPr marL="0" indent="0" algn="ctr">
              <a:buNone/>
            </a:pPr>
            <a:r>
              <a:rPr lang="en-US" sz="1200" b="1" dirty="0">
                <a:solidFill>
                  <a:srgbClr val="FFFFFF"/>
                </a:solidFill>
              </a:rPr>
              <a:t>Code Quality</a:t>
            </a:r>
            <a:endParaRPr lang="en-US" sz="1200" dirty="0"/>
          </a:p>
        </p:txBody>
      </p:sp>
      <p:sp>
        <p:nvSpPr>
          <p:cNvPr id="21" name="Shape 19"/>
          <p:cNvSpPr/>
          <p:nvPr/>
        </p:nvSpPr>
        <p:spPr>
          <a:xfrm>
            <a:off x="3401568" y="1764792"/>
            <a:ext cx="201168" cy="201168"/>
          </a:xfrm>
          <a:prstGeom prst="ellipse">
            <a:avLst/>
          </a:prstGeom>
          <a:solidFill>
            <a:srgbClr val="0EA5E9"/>
          </a:solidFill>
          <a:ln w="12700">
            <a:solidFill>
              <a:srgbClr val="0EA5E9"/>
            </a:solidFill>
            <a:prstDash val="solid"/>
          </a:ln>
        </p:spPr>
      </p:sp>
      <p:sp>
        <p:nvSpPr>
          <p:cNvPr id="22" name="Text 20"/>
          <p:cNvSpPr/>
          <p:nvPr/>
        </p:nvSpPr>
        <p:spPr>
          <a:xfrm>
            <a:off x="3675888" y="1691640"/>
            <a:ext cx="2194560" cy="347472"/>
          </a:xfrm>
          <a:prstGeom prst="rect">
            <a:avLst/>
          </a:prstGeom>
          <a:noFill/>
          <a:ln/>
        </p:spPr>
        <p:txBody>
          <a:bodyPr wrap="square" lIns="0" tIns="0" rIns="0" bIns="0" rtlCol="0" anchor="ctr"/>
          <a:lstStyle/>
          <a:p>
            <a:pPr marL="0" indent="0">
              <a:buNone/>
            </a:pPr>
            <a:r>
              <a:rPr lang="en-US" sz="1050" dirty="0">
                <a:solidFill>
                  <a:srgbClr val="1E293B"/>
                </a:solidFill>
              </a:rPr>
              <a:t>Layered architecture (Controller→Service→Repo)</a:t>
            </a:r>
            <a:endParaRPr lang="en-US" sz="1050" dirty="0"/>
          </a:p>
        </p:txBody>
      </p:sp>
      <p:sp>
        <p:nvSpPr>
          <p:cNvPr id="23" name="Shape 21"/>
          <p:cNvSpPr/>
          <p:nvPr/>
        </p:nvSpPr>
        <p:spPr>
          <a:xfrm>
            <a:off x="3401568" y="2377440"/>
            <a:ext cx="201168" cy="201168"/>
          </a:xfrm>
          <a:prstGeom prst="ellipse">
            <a:avLst/>
          </a:prstGeom>
          <a:solidFill>
            <a:srgbClr val="0EA5E9"/>
          </a:solidFill>
          <a:ln w="12700">
            <a:solidFill>
              <a:srgbClr val="0EA5E9"/>
            </a:solidFill>
            <a:prstDash val="solid"/>
          </a:ln>
        </p:spPr>
      </p:sp>
      <p:sp>
        <p:nvSpPr>
          <p:cNvPr id="24" name="Text 22"/>
          <p:cNvSpPr/>
          <p:nvPr/>
        </p:nvSpPr>
        <p:spPr>
          <a:xfrm>
            <a:off x="3675888" y="2304288"/>
            <a:ext cx="2194560" cy="347472"/>
          </a:xfrm>
          <a:prstGeom prst="rect">
            <a:avLst/>
          </a:prstGeom>
          <a:noFill/>
          <a:ln/>
        </p:spPr>
        <p:txBody>
          <a:bodyPr wrap="square" lIns="0" tIns="0" rIns="0" bIns="0" rtlCol="0" anchor="ctr"/>
          <a:lstStyle/>
          <a:p>
            <a:pPr marL="0" indent="0">
              <a:buNone/>
            </a:pPr>
            <a:r>
              <a:rPr lang="en-US" sz="1050" dirty="0">
                <a:solidFill>
                  <a:srgbClr val="1E293B"/>
                </a:solidFill>
              </a:rPr>
              <a:t>@Valid on all request bodies</a:t>
            </a:r>
            <a:endParaRPr lang="en-US" sz="1050" dirty="0"/>
          </a:p>
        </p:txBody>
      </p:sp>
      <p:sp>
        <p:nvSpPr>
          <p:cNvPr id="25" name="Shape 23"/>
          <p:cNvSpPr/>
          <p:nvPr/>
        </p:nvSpPr>
        <p:spPr>
          <a:xfrm>
            <a:off x="3401568" y="2990088"/>
            <a:ext cx="201168" cy="201168"/>
          </a:xfrm>
          <a:prstGeom prst="ellipse">
            <a:avLst/>
          </a:prstGeom>
          <a:solidFill>
            <a:srgbClr val="0EA5E9"/>
          </a:solidFill>
          <a:ln w="12700">
            <a:solidFill>
              <a:srgbClr val="0EA5E9"/>
            </a:solidFill>
            <a:prstDash val="solid"/>
          </a:ln>
        </p:spPr>
      </p:sp>
      <p:sp>
        <p:nvSpPr>
          <p:cNvPr id="26" name="Text 24"/>
          <p:cNvSpPr/>
          <p:nvPr/>
        </p:nvSpPr>
        <p:spPr>
          <a:xfrm>
            <a:off x="3675888" y="2916936"/>
            <a:ext cx="2194560" cy="347472"/>
          </a:xfrm>
          <a:prstGeom prst="rect">
            <a:avLst/>
          </a:prstGeom>
          <a:noFill/>
          <a:ln/>
        </p:spPr>
        <p:txBody>
          <a:bodyPr wrap="square" lIns="0" tIns="0" rIns="0" bIns="0" rtlCol="0" anchor="ctr"/>
          <a:lstStyle/>
          <a:p>
            <a:pPr marL="0" indent="0">
              <a:buNone/>
            </a:pPr>
            <a:r>
              <a:rPr lang="en-US" sz="1050" dirty="0">
                <a:solidFill>
                  <a:srgbClr val="1E293B"/>
                </a:solidFill>
              </a:rPr>
              <a:t>Global exception handler</a:t>
            </a:r>
            <a:endParaRPr lang="en-US" sz="1050" dirty="0"/>
          </a:p>
        </p:txBody>
      </p:sp>
      <p:sp>
        <p:nvSpPr>
          <p:cNvPr id="27" name="Shape 25"/>
          <p:cNvSpPr/>
          <p:nvPr/>
        </p:nvSpPr>
        <p:spPr>
          <a:xfrm>
            <a:off x="3401568" y="3602736"/>
            <a:ext cx="201168" cy="201168"/>
          </a:xfrm>
          <a:prstGeom prst="ellipse">
            <a:avLst/>
          </a:prstGeom>
          <a:solidFill>
            <a:srgbClr val="0EA5E9"/>
          </a:solidFill>
          <a:ln w="12700">
            <a:solidFill>
              <a:srgbClr val="0EA5E9"/>
            </a:solidFill>
            <a:prstDash val="solid"/>
          </a:ln>
        </p:spPr>
      </p:sp>
      <p:sp>
        <p:nvSpPr>
          <p:cNvPr id="28" name="Text 26"/>
          <p:cNvSpPr/>
          <p:nvPr/>
        </p:nvSpPr>
        <p:spPr>
          <a:xfrm>
            <a:off x="3675888" y="3529584"/>
            <a:ext cx="2194560" cy="347472"/>
          </a:xfrm>
          <a:prstGeom prst="rect">
            <a:avLst/>
          </a:prstGeom>
          <a:noFill/>
          <a:ln/>
        </p:spPr>
        <p:txBody>
          <a:bodyPr wrap="square" lIns="0" tIns="0" rIns="0" bIns="0" rtlCol="0" anchor="ctr"/>
          <a:lstStyle/>
          <a:p>
            <a:pPr marL="0" indent="0">
              <a:buNone/>
            </a:pPr>
            <a:r>
              <a:rPr lang="en-US" sz="1050" dirty="0">
                <a:solidFill>
                  <a:srgbClr val="1E293B"/>
                </a:solidFill>
              </a:rPr>
              <a:t>Async notifications (@Async)</a:t>
            </a:r>
            <a:endParaRPr lang="en-US" sz="1050" dirty="0"/>
          </a:p>
        </p:txBody>
      </p:sp>
      <p:sp>
        <p:nvSpPr>
          <p:cNvPr id="29" name="Shape 27"/>
          <p:cNvSpPr/>
          <p:nvPr/>
        </p:nvSpPr>
        <p:spPr>
          <a:xfrm>
            <a:off x="3401568" y="4215384"/>
            <a:ext cx="201168" cy="201168"/>
          </a:xfrm>
          <a:prstGeom prst="ellipse">
            <a:avLst/>
          </a:prstGeom>
          <a:solidFill>
            <a:srgbClr val="0EA5E9"/>
          </a:solidFill>
          <a:ln w="12700">
            <a:solidFill>
              <a:srgbClr val="0EA5E9"/>
            </a:solidFill>
            <a:prstDash val="solid"/>
          </a:ln>
        </p:spPr>
      </p:sp>
      <p:sp>
        <p:nvSpPr>
          <p:cNvPr id="30" name="Text 28"/>
          <p:cNvSpPr/>
          <p:nvPr/>
        </p:nvSpPr>
        <p:spPr>
          <a:xfrm>
            <a:off x="3675888" y="4142232"/>
            <a:ext cx="2194560" cy="347472"/>
          </a:xfrm>
          <a:prstGeom prst="rect">
            <a:avLst/>
          </a:prstGeom>
          <a:noFill/>
          <a:ln/>
        </p:spPr>
        <p:txBody>
          <a:bodyPr wrap="square" lIns="0" tIns="0" rIns="0" bIns="0" rtlCol="0" anchor="ctr"/>
          <a:lstStyle/>
          <a:p>
            <a:pPr marL="0" indent="0">
              <a:buNone/>
            </a:pPr>
            <a:r>
              <a:rPr lang="en-US" sz="1050" dirty="0">
                <a:solidFill>
                  <a:srgbClr val="1E293B"/>
                </a:solidFill>
              </a:rPr>
              <a:t>Clean DTOs — no entity exposure</a:t>
            </a:r>
            <a:endParaRPr lang="en-US" sz="1050" dirty="0"/>
          </a:p>
        </p:txBody>
      </p:sp>
      <p:sp>
        <p:nvSpPr>
          <p:cNvPr id="31" name="Shape 29"/>
          <p:cNvSpPr/>
          <p:nvPr/>
        </p:nvSpPr>
        <p:spPr>
          <a:xfrm>
            <a:off x="6163056" y="1051560"/>
            <a:ext cx="2743200" cy="3749040"/>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32" name="Shape 30"/>
          <p:cNvSpPr/>
          <p:nvPr/>
        </p:nvSpPr>
        <p:spPr>
          <a:xfrm>
            <a:off x="6163056" y="1051560"/>
            <a:ext cx="2743200" cy="502920"/>
          </a:xfrm>
          <a:prstGeom prst="roundRect">
            <a:avLst>
              <a:gd name="adj" fmla="val 21818"/>
            </a:avLst>
          </a:prstGeom>
          <a:solidFill>
            <a:srgbClr val="22C55E"/>
          </a:solidFill>
          <a:ln w="12700">
            <a:solidFill>
              <a:srgbClr val="22C55E"/>
            </a:solidFill>
            <a:prstDash val="solid"/>
          </a:ln>
        </p:spPr>
      </p:sp>
      <p:sp>
        <p:nvSpPr>
          <p:cNvPr id="33" name="Shape 31"/>
          <p:cNvSpPr/>
          <p:nvPr/>
        </p:nvSpPr>
        <p:spPr>
          <a:xfrm>
            <a:off x="6163056" y="1325880"/>
            <a:ext cx="2743200" cy="228600"/>
          </a:xfrm>
          <a:prstGeom prst="rect">
            <a:avLst/>
          </a:prstGeom>
          <a:solidFill>
            <a:srgbClr val="22C55E"/>
          </a:solidFill>
          <a:ln w="12700">
            <a:solidFill>
              <a:srgbClr val="22C55E"/>
            </a:solidFill>
            <a:prstDash val="solid"/>
          </a:ln>
        </p:spPr>
      </p:sp>
      <p:sp>
        <p:nvSpPr>
          <p:cNvPr id="34" name="Text 32"/>
          <p:cNvSpPr/>
          <p:nvPr/>
        </p:nvSpPr>
        <p:spPr>
          <a:xfrm>
            <a:off x="6163056" y="1051560"/>
            <a:ext cx="2743200" cy="502920"/>
          </a:xfrm>
          <a:prstGeom prst="rect">
            <a:avLst/>
          </a:prstGeom>
          <a:noFill/>
          <a:ln/>
        </p:spPr>
        <p:txBody>
          <a:bodyPr wrap="square" lIns="0" tIns="0" rIns="0" bIns="0" rtlCol="0" anchor="ctr"/>
          <a:lstStyle/>
          <a:p>
            <a:pPr marL="0" indent="0" algn="ctr">
              <a:buNone/>
            </a:pPr>
            <a:r>
              <a:rPr lang="en-US" sz="1200" b="1" dirty="0">
                <a:solidFill>
                  <a:srgbClr val="FFFFFF"/>
                </a:solidFill>
              </a:rPr>
              <a:t>Documentation</a:t>
            </a:r>
            <a:endParaRPr lang="en-US" sz="1200" dirty="0"/>
          </a:p>
        </p:txBody>
      </p:sp>
      <p:sp>
        <p:nvSpPr>
          <p:cNvPr id="35" name="Shape 33"/>
          <p:cNvSpPr/>
          <p:nvPr/>
        </p:nvSpPr>
        <p:spPr>
          <a:xfrm>
            <a:off x="6345936" y="1764792"/>
            <a:ext cx="201168" cy="201168"/>
          </a:xfrm>
          <a:prstGeom prst="ellipse">
            <a:avLst/>
          </a:prstGeom>
          <a:solidFill>
            <a:srgbClr val="22C55E"/>
          </a:solidFill>
          <a:ln w="12700">
            <a:solidFill>
              <a:srgbClr val="22C55E"/>
            </a:solidFill>
            <a:prstDash val="solid"/>
          </a:ln>
        </p:spPr>
      </p:sp>
      <p:sp>
        <p:nvSpPr>
          <p:cNvPr id="36" name="Text 34"/>
          <p:cNvSpPr/>
          <p:nvPr/>
        </p:nvSpPr>
        <p:spPr>
          <a:xfrm>
            <a:off x="6620256" y="1691640"/>
            <a:ext cx="2194560" cy="347472"/>
          </a:xfrm>
          <a:prstGeom prst="rect">
            <a:avLst/>
          </a:prstGeom>
          <a:noFill/>
          <a:ln/>
        </p:spPr>
        <p:txBody>
          <a:bodyPr wrap="square" lIns="0" tIns="0" rIns="0" bIns="0" rtlCol="0" anchor="ctr"/>
          <a:lstStyle/>
          <a:p>
            <a:pPr marL="0" indent="0">
              <a:buNone/>
            </a:pPr>
            <a:r>
              <a:rPr lang="en-US" sz="1050" dirty="0">
                <a:solidFill>
                  <a:srgbClr val="1E293B"/>
                </a:solidFill>
              </a:rPr>
              <a:t>Swagger UI — live interactive API docs</a:t>
            </a:r>
            <a:endParaRPr lang="en-US" sz="1050" dirty="0"/>
          </a:p>
        </p:txBody>
      </p:sp>
      <p:sp>
        <p:nvSpPr>
          <p:cNvPr id="37" name="Shape 35"/>
          <p:cNvSpPr/>
          <p:nvPr/>
        </p:nvSpPr>
        <p:spPr>
          <a:xfrm>
            <a:off x="6345936" y="2377440"/>
            <a:ext cx="201168" cy="201168"/>
          </a:xfrm>
          <a:prstGeom prst="ellipse">
            <a:avLst/>
          </a:prstGeom>
          <a:solidFill>
            <a:srgbClr val="22C55E"/>
          </a:solidFill>
          <a:ln w="12700">
            <a:solidFill>
              <a:srgbClr val="22C55E"/>
            </a:solidFill>
            <a:prstDash val="solid"/>
          </a:ln>
        </p:spPr>
      </p:sp>
      <p:sp>
        <p:nvSpPr>
          <p:cNvPr id="38" name="Text 36"/>
          <p:cNvSpPr/>
          <p:nvPr/>
        </p:nvSpPr>
        <p:spPr>
          <a:xfrm>
            <a:off x="6620256" y="2304288"/>
            <a:ext cx="2194560" cy="347472"/>
          </a:xfrm>
          <a:prstGeom prst="rect">
            <a:avLst/>
          </a:prstGeom>
          <a:noFill/>
          <a:ln/>
        </p:spPr>
        <p:txBody>
          <a:bodyPr wrap="square" lIns="0" tIns="0" rIns="0" bIns="0" rtlCol="0" anchor="ctr"/>
          <a:lstStyle/>
          <a:p>
            <a:pPr marL="0" indent="0">
              <a:buNone/>
            </a:pPr>
            <a:r>
              <a:rPr lang="en-US" sz="1050" dirty="0">
                <a:solidFill>
                  <a:srgbClr val="1E293B"/>
                </a:solidFill>
              </a:rPr>
              <a:t>README with Week 3 &amp; Week 4 clearly separated</a:t>
            </a:r>
            <a:endParaRPr lang="en-US" sz="1050" dirty="0"/>
          </a:p>
        </p:txBody>
      </p:sp>
      <p:sp>
        <p:nvSpPr>
          <p:cNvPr id="39" name="Shape 37"/>
          <p:cNvSpPr/>
          <p:nvPr/>
        </p:nvSpPr>
        <p:spPr>
          <a:xfrm>
            <a:off x="6345936" y="2990088"/>
            <a:ext cx="201168" cy="201168"/>
          </a:xfrm>
          <a:prstGeom prst="ellipse">
            <a:avLst/>
          </a:prstGeom>
          <a:solidFill>
            <a:srgbClr val="22C55E"/>
          </a:solidFill>
          <a:ln w="12700">
            <a:solidFill>
              <a:srgbClr val="22C55E"/>
            </a:solidFill>
            <a:prstDash val="solid"/>
          </a:ln>
        </p:spPr>
      </p:sp>
      <p:sp>
        <p:nvSpPr>
          <p:cNvPr id="40" name="Text 38"/>
          <p:cNvSpPr/>
          <p:nvPr/>
        </p:nvSpPr>
        <p:spPr>
          <a:xfrm>
            <a:off x="6620256" y="2916936"/>
            <a:ext cx="2194560" cy="347472"/>
          </a:xfrm>
          <a:prstGeom prst="rect">
            <a:avLst/>
          </a:prstGeom>
          <a:noFill/>
          <a:ln/>
        </p:spPr>
        <p:txBody>
          <a:bodyPr wrap="square" lIns="0" tIns="0" rIns="0" bIns="0" rtlCol="0" anchor="ctr"/>
          <a:lstStyle/>
          <a:p>
            <a:pPr marL="0" indent="0">
              <a:buNone/>
            </a:pPr>
            <a:r>
              <a:rPr lang="en-US" sz="1050" dirty="0">
                <a:solidFill>
                  <a:srgbClr val="1E293B"/>
                </a:solidFill>
              </a:rPr>
              <a:t>API endpoint tables</a:t>
            </a:r>
            <a:endParaRPr lang="en-US" sz="1050" dirty="0"/>
          </a:p>
        </p:txBody>
      </p:sp>
      <p:sp>
        <p:nvSpPr>
          <p:cNvPr id="41" name="Shape 39"/>
          <p:cNvSpPr/>
          <p:nvPr/>
        </p:nvSpPr>
        <p:spPr>
          <a:xfrm>
            <a:off x="6345936" y="3602736"/>
            <a:ext cx="201168" cy="201168"/>
          </a:xfrm>
          <a:prstGeom prst="ellipse">
            <a:avLst/>
          </a:prstGeom>
          <a:solidFill>
            <a:srgbClr val="22C55E"/>
          </a:solidFill>
          <a:ln w="12700">
            <a:solidFill>
              <a:srgbClr val="22C55E"/>
            </a:solidFill>
            <a:prstDash val="solid"/>
          </a:ln>
        </p:spPr>
      </p:sp>
      <p:sp>
        <p:nvSpPr>
          <p:cNvPr id="42" name="Text 40"/>
          <p:cNvSpPr/>
          <p:nvPr/>
        </p:nvSpPr>
        <p:spPr>
          <a:xfrm>
            <a:off x="6620256" y="3529584"/>
            <a:ext cx="2194560" cy="347472"/>
          </a:xfrm>
          <a:prstGeom prst="rect">
            <a:avLst/>
          </a:prstGeom>
          <a:noFill/>
          <a:ln/>
        </p:spPr>
        <p:txBody>
          <a:bodyPr wrap="square" lIns="0" tIns="0" rIns="0" bIns="0" rtlCol="0" anchor="ctr"/>
          <a:lstStyle/>
          <a:p>
            <a:pPr marL="0" indent="0">
              <a:buNone/>
            </a:pPr>
            <a:r>
              <a:rPr lang="en-US" sz="1050" dirty="0">
                <a:solidFill>
                  <a:srgbClr val="1E293B"/>
                </a:solidFill>
              </a:rPr>
              <a:t>Access control matrix</a:t>
            </a:r>
            <a:endParaRPr lang="en-US" sz="1050" dirty="0"/>
          </a:p>
        </p:txBody>
      </p:sp>
      <p:sp>
        <p:nvSpPr>
          <p:cNvPr id="43" name="Shape 41"/>
          <p:cNvSpPr/>
          <p:nvPr/>
        </p:nvSpPr>
        <p:spPr>
          <a:xfrm>
            <a:off x="6345936" y="4215384"/>
            <a:ext cx="201168" cy="201168"/>
          </a:xfrm>
          <a:prstGeom prst="ellipse">
            <a:avLst/>
          </a:prstGeom>
          <a:solidFill>
            <a:srgbClr val="22C55E"/>
          </a:solidFill>
          <a:ln w="12700">
            <a:solidFill>
              <a:srgbClr val="22C55E"/>
            </a:solidFill>
            <a:prstDash val="solid"/>
          </a:ln>
        </p:spPr>
      </p:sp>
      <p:sp>
        <p:nvSpPr>
          <p:cNvPr id="44" name="Text 42"/>
          <p:cNvSpPr/>
          <p:nvPr/>
        </p:nvSpPr>
        <p:spPr>
          <a:xfrm>
            <a:off x="6620256" y="4142232"/>
            <a:ext cx="2194560" cy="347472"/>
          </a:xfrm>
          <a:prstGeom prst="rect">
            <a:avLst/>
          </a:prstGeom>
          <a:noFill/>
          <a:ln/>
        </p:spPr>
        <p:txBody>
          <a:bodyPr wrap="square" lIns="0" tIns="0" rIns="0" bIns="0" rtlCol="0" anchor="ctr"/>
          <a:lstStyle/>
          <a:p>
            <a:pPr marL="0" indent="0">
              <a:buNone/>
            </a:pPr>
            <a:r>
              <a:rPr lang="en-US" sz="1050" dirty="0">
                <a:solidFill>
                  <a:srgbClr val="1E293B"/>
                </a:solidFill>
              </a:rPr>
              <a:t>.env.example for deployment reference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1B4F9C">
              <a:alpha val="25000"/>
            </a:srgbClr>
          </a:solidFill>
          <a:ln w="12700">
            <a:solidFill>
              <a:srgbClr val="1B4F9C">
                <a:alpha val="25000"/>
              </a:srgbClr>
            </a:solidFill>
            <a:prstDash val="solid"/>
          </a:ln>
        </p:spPr>
      </p:sp>
      <p:sp>
        <p:nvSpPr>
          <p:cNvPr id="3" name="Shape 1"/>
          <p:cNvSpPr/>
          <p:nvPr/>
        </p:nvSpPr>
        <p:spPr>
          <a:xfrm>
            <a:off x="6400800" y="1828800"/>
            <a:ext cx="3657600" cy="3657600"/>
          </a:xfrm>
          <a:prstGeom prst="ellipse">
            <a:avLst/>
          </a:prstGeom>
          <a:solidFill>
            <a:srgbClr val="0EA5E9">
              <a:alpha val="20000"/>
            </a:srgbClr>
          </a:solidFill>
          <a:ln w="12700">
            <a:solidFill>
              <a:srgbClr val="0EA5E9">
                <a:alpha val="20000"/>
              </a:srgbClr>
            </a:solidFill>
            <a:prstDash val="solid"/>
          </a:ln>
        </p:spPr>
      </p:sp>
      <p:sp>
        <p:nvSpPr>
          <p:cNvPr id="4" name="Text 2"/>
          <p:cNvSpPr/>
          <p:nvPr/>
        </p:nvSpPr>
        <p:spPr>
          <a:xfrm>
            <a:off x="457200" y="914400"/>
            <a:ext cx="8229600" cy="914400"/>
          </a:xfrm>
          <a:prstGeom prst="rect">
            <a:avLst/>
          </a:prstGeom>
          <a:noFill/>
          <a:ln/>
        </p:spPr>
        <p:txBody>
          <a:bodyPr wrap="square" rtlCol="0" anchor="ctr"/>
          <a:lstStyle/>
          <a:p>
            <a:pPr marL="0" indent="0" algn="ctr">
              <a:buNone/>
            </a:pPr>
            <a:r>
              <a:rPr lang="en-US" sz="5200" b="1" dirty="0">
                <a:solidFill>
                  <a:srgbClr val="FFFFFF"/>
                </a:solidFill>
              </a:rPr>
              <a:t>Thank You!</a:t>
            </a:r>
            <a:endParaRPr lang="en-US" sz="5200" dirty="0"/>
          </a:p>
        </p:txBody>
      </p:sp>
      <p:sp>
        <p:nvSpPr>
          <p:cNvPr id="5" name="Text 3"/>
          <p:cNvSpPr/>
          <p:nvPr/>
        </p:nvSpPr>
        <p:spPr>
          <a:xfrm>
            <a:off x="457200" y="1874520"/>
            <a:ext cx="8229600" cy="457200"/>
          </a:xfrm>
          <a:prstGeom prst="rect">
            <a:avLst/>
          </a:prstGeom>
          <a:noFill/>
          <a:ln/>
        </p:spPr>
        <p:txBody>
          <a:bodyPr wrap="square" rtlCol="0" anchor="ctr"/>
          <a:lstStyle/>
          <a:p>
            <a:pPr marL="0" indent="0" algn="ctr">
              <a:buNone/>
            </a:pPr>
            <a:r>
              <a:rPr lang="en-US" sz="2000" dirty="0">
                <a:solidFill>
                  <a:srgbClr val="0EA5E9"/>
                </a:solidFill>
              </a:rPr>
              <a:t>Questions &amp; Live Demo</a:t>
            </a:r>
            <a:endParaRPr lang="en-US" sz="2000" dirty="0"/>
          </a:p>
        </p:txBody>
      </p:sp>
      <p:sp>
        <p:nvSpPr>
          <p:cNvPr id="6" name="Shape 4"/>
          <p:cNvSpPr/>
          <p:nvPr/>
        </p:nvSpPr>
        <p:spPr>
          <a:xfrm>
            <a:off x="3200400" y="2468880"/>
            <a:ext cx="2743200" cy="36576"/>
          </a:xfrm>
          <a:prstGeom prst="rect">
            <a:avLst/>
          </a:prstGeom>
          <a:solidFill>
            <a:srgbClr val="1B3A6B"/>
          </a:solidFill>
          <a:ln w="12700">
            <a:solidFill>
              <a:srgbClr val="1B3A6B"/>
            </a:solidFill>
            <a:prstDash val="solid"/>
          </a:ln>
        </p:spPr>
      </p:sp>
      <p:sp>
        <p:nvSpPr>
          <p:cNvPr id="7" name="Text 5"/>
          <p:cNvSpPr/>
          <p:nvPr/>
        </p:nvSpPr>
        <p:spPr>
          <a:xfrm>
            <a:off x="457200" y="2743200"/>
            <a:ext cx="8229600" cy="365760"/>
          </a:xfrm>
          <a:prstGeom prst="rect">
            <a:avLst/>
          </a:prstGeom>
          <a:noFill/>
          <a:ln/>
        </p:spPr>
        <p:txBody>
          <a:bodyPr wrap="square" rtlCol="0" anchor="ctr"/>
          <a:lstStyle/>
          <a:p>
            <a:pPr marL="0" indent="0" algn="ctr">
              <a:buNone/>
            </a:pPr>
            <a:r>
              <a:rPr lang="en-US" sz="1300" b="1" dirty="0">
                <a:solidFill>
                  <a:srgbClr val="94A3B8"/>
                </a:solidFill>
              </a:rPr>
              <a:t>🌐  Live App: </a:t>
            </a:r>
            <a:r>
              <a:rPr lang="en-US" sz="1300" dirty="0">
                <a:solidFill>
                  <a:srgbClr val="0EA5E9"/>
                </a:solidFill>
              </a:rPr>
              <a:t>https://week3-taskmanagement.onrender.com</a:t>
            </a:r>
            <a:endParaRPr lang="en-US" sz="1300" dirty="0"/>
          </a:p>
        </p:txBody>
      </p:sp>
      <p:sp>
        <p:nvSpPr>
          <p:cNvPr id="8" name="Text 6"/>
          <p:cNvSpPr/>
          <p:nvPr/>
        </p:nvSpPr>
        <p:spPr>
          <a:xfrm>
            <a:off x="457200" y="4297680"/>
            <a:ext cx="8229600" cy="365760"/>
          </a:xfrm>
          <a:prstGeom prst="rect">
            <a:avLst/>
          </a:prstGeom>
          <a:noFill/>
          <a:ln/>
        </p:spPr>
        <p:txBody>
          <a:bodyPr wrap="square" rtlCol="0" anchor="ctr"/>
          <a:lstStyle/>
          <a:p>
            <a:pPr marL="0" indent="0" algn="ctr">
              <a:buNone/>
            </a:pPr>
            <a:r>
              <a:rPr lang="en-US" sz="1200" b="1" dirty="0">
                <a:solidFill>
                  <a:srgbClr val="FFFFFF"/>
                </a:solidFill>
              </a:rPr>
              <a:t>Jeevan Kumar Gujja  </a:t>
            </a:r>
            <a:r>
              <a:rPr lang="en-US" sz="1200" dirty="0">
                <a:solidFill>
                  <a:srgbClr val="64748B"/>
                </a:solidFill>
              </a:rPr>
              <a:t>|  Java Developer Trainee  |  Hashclick Solutions LLC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1185</Words>
  <Application>Microsoft Office PowerPoint</Application>
  <PresentationFormat>On-screen Show (16:9)</PresentationFormat>
  <Paragraphs>195</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Management System - Hashclick Week 3 &amp; 4</dc:title>
  <dc:subject>PptxGenJS Presentation</dc:subject>
  <dc:creator>Jeevan Kumar Gujja</dc:creator>
  <cp:lastModifiedBy>jeevan kumar</cp:lastModifiedBy>
  <cp:revision>3</cp:revision>
  <dcterms:created xsi:type="dcterms:W3CDTF">2026-06-12T05:57:33Z</dcterms:created>
  <dcterms:modified xsi:type="dcterms:W3CDTF">2026-06-12T06:17:39Z</dcterms:modified>
</cp:coreProperties>
</file>