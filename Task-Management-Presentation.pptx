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Say: Today I'll walk you through my Week 3 and Week 4 project — a full-stack Task Management System built with Spring Boot, JWT security, Role-Based Access Control, and deployed live on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agenda overview. Tell them: We'll start with the tech stack, then walk through what I built in Week 3, what I added in Week 4, and end with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tech stack. Highlight: Spring Boot for the backend API, Spring Security + JWT for authentication, H2 for local dev and MySQL for production, and Swagger for API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3 was about building the foundation. JWT auth, full CRUD for tasks, and a clean frontend UI. The app already had role enums but they weren't enforced yet — that came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4 added the advanced features. The biggest ones are RBAC — where roles are now actually enforced, not just stored — and the Admin Panel where you can manage users from the UI. Also added overdue detection, email notifications, Swagger docs, and deployed to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access control table. Key point: regular users can only see their own tasks. Only admins can view all tasks, assign tasks, and manage users. This is enforced with @PreAuthorize annotations on every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deployed live on Render using Docker. Every push to GitHub triggers an automatic redeploy. The free tier is good enough for demo purposes. Show the live URL to 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of endpoints. Auth is public. Task endpoints require a JWT token. Admin endpoints require ROLE_ADMIN. The overdue endpoint is new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Spring Boot layered architecture. Each layer has a clear responsibility. Files marked W4 are new in Week 4. The security layer handles JWT filtering for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directly to the evaluation criteria from HR. Technical implementation is covered by RBAC, notifications, and deployment. Code quality shows in the architecture and validation. Documentation is the Swagger UI and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a live demo. Open the browser, go to the live URL, register a new user, create a task with a past due date to show overdue badge, then log in as admin to show the admin panel. Open Swagger UI as the final wow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6858000" y="-1371600"/>
            <a:ext cx="4572000" cy="4572000"/>
          </a:xfrm>
          <a:prstGeom prst="ellipse">
            <a:avLst/>
          </a:prstGeom>
          <a:solidFill>
            <a:srgbClr val="1B4F9C">
              <a:alpha val="25000"/>
            </a:srgbClr>
          </a:solidFill>
          <a:ln w="12700">
            <a:solidFill>
              <a:srgbClr val="1B4F9C">
                <a:alpha val="25000"/>
              </a:srgbClr>
            </a:solidFill>
            <a:prstDash val="solid"/>
          </a:ln>
        </p:spPr>
      </p:sp>
      <p:sp>
        <p:nvSpPr>
          <p:cNvPr id="3" name="Shape 1"/>
          <p:cNvSpPr/>
          <p:nvPr/>
        </p:nvSpPr>
        <p:spPr>
          <a:xfrm>
            <a:off x="-914400" y="2286000"/>
            <a:ext cx="3200400" cy="3200400"/>
          </a:xfrm>
          <a:prstGeom prst="ellipse">
            <a:avLst/>
          </a:prstGeom>
          <a:solidFill>
            <a:srgbClr val="0EA5E9">
              <a:alpha val="20000"/>
            </a:srgbClr>
          </a:solidFill>
          <a:ln w="12700">
            <a:solidFill>
              <a:srgbClr val="0EA5E9">
                <a:alpha val="20000"/>
              </a:srgbClr>
            </a:solidFill>
            <a:prstDash val="solid"/>
          </a:ln>
        </p:spPr>
      </p:sp>
      <p:sp>
        <p:nvSpPr>
          <p:cNvPr id="4" name="Text 2"/>
          <p:cNvSpPr/>
          <p:nvPr/>
        </p:nvSpPr>
        <p:spPr>
          <a:xfrm>
            <a:off x="548640" y="1097280"/>
            <a:ext cx="8046720" cy="457200"/>
          </a:xfrm>
          <a:prstGeom prst="rect">
            <a:avLst/>
          </a:prstGeom>
          <a:noFill/>
          <a:ln/>
        </p:spPr>
        <p:txBody>
          <a:bodyPr wrap="square" rtlCol="0" anchor="ctr"/>
          <a:lstStyle/>
          <a:p>
            <a:pPr algn="l" indent="0" marL="0">
              <a:buNone/>
            </a:pPr>
            <a:r>
              <a:rPr lang="en-US" sz="1300" b="1" spc="400" kern="0" dirty="0">
                <a:solidFill>
                  <a:srgbClr val="0EA5E9"/>
                </a:solidFill>
              </a:rPr>
              <a:t>TASK MANAGEMENT SYSTEM</a:t>
            </a:r>
            <a:endParaRPr lang="en-US" sz="1300" dirty="0"/>
          </a:p>
        </p:txBody>
      </p:sp>
      <p:sp>
        <p:nvSpPr>
          <p:cNvPr id="5" name="Text 3"/>
          <p:cNvSpPr/>
          <p:nvPr/>
        </p:nvSpPr>
        <p:spPr>
          <a:xfrm>
            <a:off x="548640" y="1600200"/>
            <a:ext cx="7315200" cy="1005840"/>
          </a:xfrm>
          <a:prstGeom prst="rect">
            <a:avLst/>
          </a:prstGeom>
          <a:noFill/>
          <a:ln/>
        </p:spPr>
        <p:txBody>
          <a:bodyPr wrap="square" rtlCol="0" anchor="ctr"/>
          <a:lstStyle/>
          <a:p>
            <a:pPr algn="l" indent="0" marL="0">
              <a:buNone/>
            </a:pPr>
            <a:r>
              <a:rPr lang="en-US" sz="4800" b="1" dirty="0">
                <a:solidFill>
                  <a:srgbClr val="FFFFFF"/>
                </a:solidFill>
              </a:rPr>
              <a:t>Week 3 + Week 4</a:t>
            </a:r>
            <a:endParaRPr lang="en-US" sz="4800" dirty="0"/>
          </a:p>
        </p:txBody>
      </p:sp>
      <p:sp>
        <p:nvSpPr>
          <p:cNvPr id="6" name="Text 4"/>
          <p:cNvSpPr/>
          <p:nvPr/>
        </p:nvSpPr>
        <p:spPr>
          <a:xfrm>
            <a:off x="548640" y="2651760"/>
            <a:ext cx="7315200" cy="457200"/>
          </a:xfrm>
          <a:prstGeom prst="rect">
            <a:avLst/>
          </a:prstGeom>
          <a:noFill/>
          <a:ln/>
        </p:spPr>
        <p:txBody>
          <a:bodyPr wrap="square" rtlCol="0" anchor="ctr"/>
          <a:lstStyle/>
          <a:p>
            <a:pPr algn="l" indent="0" marL="0">
              <a:buNone/>
            </a:pPr>
            <a:r>
              <a:rPr lang="en-US" sz="1800" dirty="0">
                <a:solidFill>
                  <a:srgbClr val="94A3B8"/>
                </a:solidFill>
              </a:rPr>
              <a:t>Final Project Presentation</a:t>
            </a:r>
            <a:endParaRPr lang="en-US" sz="1800" dirty="0"/>
          </a:p>
        </p:txBody>
      </p:sp>
      <p:sp>
        <p:nvSpPr>
          <p:cNvPr id="7" name="Shape 5"/>
          <p:cNvSpPr/>
          <p:nvPr/>
        </p:nvSpPr>
        <p:spPr>
          <a:xfrm>
            <a:off x="548640" y="3246120"/>
            <a:ext cx="2286000" cy="45720"/>
          </a:xfrm>
          <a:prstGeom prst="rect">
            <a:avLst/>
          </a:prstGeom>
          <a:solidFill>
            <a:srgbClr val="0EA5E9"/>
          </a:solidFill>
          <a:ln w="12700">
            <a:solidFill>
              <a:srgbClr val="0EA5E9"/>
            </a:solidFill>
            <a:prstDash val="solid"/>
          </a:ln>
        </p:spPr>
      </p:sp>
      <p:sp>
        <p:nvSpPr>
          <p:cNvPr id="8" name="Text 6"/>
          <p:cNvSpPr/>
          <p:nvPr/>
        </p:nvSpPr>
        <p:spPr>
          <a:xfrm>
            <a:off x="548640" y="3429000"/>
            <a:ext cx="7315200" cy="822960"/>
          </a:xfrm>
          <a:prstGeom prst="rect">
            <a:avLst/>
          </a:prstGeom>
          <a:noFill/>
          <a:ln/>
        </p:spPr>
        <p:txBody>
          <a:bodyPr wrap="square" rtlCol="0" anchor="ctr"/>
          <a:lstStyle/>
          <a:p>
            <a:pPr algn="l" indent="0" marL="0">
              <a:buNone/>
            </a:pPr>
            <a:r>
              <a:rPr lang="en-US" sz="1400" b="1" dirty="0">
                <a:solidFill>
                  <a:srgbClr val="94A3B8"/>
                </a:solidFill>
              </a:rPr>
              <a:t>Jeevan Kumar Gujja</a:t>
            </a:r>
            <a:endParaRPr lang="en-US" sz="1400" dirty="0"/>
          </a:p>
          <a:p>
            <a:pPr algn="l" indent="0" marL="0">
              <a:buNone/>
            </a:pPr>
            <a:r>
              <a:rPr lang="en-US" sz="1400" dirty="0">
                <a:solidFill>
                  <a:srgbClr val="94A3B8"/>
                </a:solidFill>
              </a:rPr>
              <a:t>Java Developer Trainee  |  Hashclick Solutions LLC</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rtlCol="0" anchor="ctr"/>
          <a:lstStyle/>
          <a:p>
            <a:pPr indent="0" marL="0">
              <a:buNone/>
            </a:pPr>
            <a:r>
              <a:rPr lang="en-US" sz="3200" b="1" dirty="0">
                <a:solidFill>
                  <a:srgbClr val="0A1628"/>
                </a:solidFill>
              </a:rPr>
              <a:t>Agenda</a:t>
            </a:r>
            <a:endParaRPr lang="en-US" sz="3200" dirty="0"/>
          </a:p>
        </p:txBody>
      </p:sp>
      <p:sp>
        <p:nvSpPr>
          <p:cNvPr id="3" name="Shape 1"/>
          <p:cNvSpPr/>
          <p:nvPr/>
        </p:nvSpPr>
        <p:spPr>
          <a:xfrm>
            <a:off x="457200" y="914400"/>
            <a:ext cx="8229600" cy="36576"/>
          </a:xfrm>
          <a:prstGeom prst="rect">
            <a:avLst/>
          </a:prstGeom>
          <a:solidFill>
            <a:srgbClr val="F0F7FF"/>
          </a:solidFill>
          <a:ln w="12700">
            <a:solidFill>
              <a:srgbClr val="F0F7FF"/>
            </a:solidFill>
            <a:prstDash val="solid"/>
          </a:ln>
        </p:spPr>
      </p:sp>
      <p:sp>
        <p:nvSpPr>
          <p:cNvPr id="4" name="Shape 2"/>
          <p:cNvSpPr/>
          <p:nvPr/>
        </p:nvSpPr>
        <p:spPr>
          <a:xfrm>
            <a:off x="457200" y="1051560"/>
            <a:ext cx="8229600" cy="658368"/>
          </a:xfrm>
          <a:prstGeom prst="roundRect">
            <a:avLst>
              <a:gd name="adj" fmla="val 11111"/>
            </a:avLst>
          </a:prstGeom>
          <a:solidFill>
            <a:srgbClr val="F0F7FF"/>
          </a:solidFill>
          <a:ln w="12700">
            <a:solidFill>
              <a:srgbClr val="E2E8F0"/>
            </a:solidFill>
            <a:prstDash val="solid"/>
          </a:ln>
        </p:spPr>
      </p:sp>
      <p:sp>
        <p:nvSpPr>
          <p:cNvPr id="5" name="Shape 3"/>
          <p:cNvSpPr/>
          <p:nvPr/>
        </p:nvSpPr>
        <p:spPr>
          <a:xfrm>
            <a:off x="566928" y="1161288"/>
            <a:ext cx="438912" cy="438912"/>
          </a:xfrm>
          <a:prstGeom prst="roundRect">
            <a:avLst>
              <a:gd name="adj" fmla="val 12500"/>
            </a:avLst>
          </a:prstGeom>
          <a:solidFill>
            <a:srgbClr val="1B4F9C"/>
          </a:solidFill>
          <a:ln w="12700">
            <a:solidFill>
              <a:srgbClr val="1B4F9C"/>
            </a:solidFill>
            <a:prstDash val="solid"/>
          </a:ln>
        </p:spPr>
      </p:sp>
      <p:sp>
        <p:nvSpPr>
          <p:cNvPr id="6" name="Text 4"/>
          <p:cNvSpPr/>
          <p:nvPr/>
        </p:nvSpPr>
        <p:spPr>
          <a:xfrm>
            <a:off x="566928" y="1161288"/>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p:nvPr/>
        </p:nvSpPr>
        <p:spPr>
          <a:xfrm>
            <a:off x="1115568" y="1124712"/>
            <a:ext cx="4114800" cy="256032"/>
          </a:xfrm>
          <a:prstGeom prst="rect">
            <a:avLst/>
          </a:prstGeom>
          <a:noFill/>
          <a:ln/>
        </p:spPr>
        <p:txBody>
          <a:bodyPr wrap="square" lIns="0" tIns="0" rIns="0" bIns="0" rtlCol="0" anchor="ctr"/>
          <a:lstStyle/>
          <a:p>
            <a:pPr indent="0" marL="0">
              <a:buNone/>
            </a:pPr>
            <a:r>
              <a:rPr lang="en-US" sz="1300" b="1" dirty="0">
                <a:solidFill>
                  <a:srgbClr val="1E293B"/>
                </a:solidFill>
              </a:rPr>
              <a:t>Project Overview</a:t>
            </a:r>
            <a:endParaRPr lang="en-US" sz="1300" dirty="0"/>
          </a:p>
        </p:txBody>
      </p:sp>
      <p:sp>
        <p:nvSpPr>
          <p:cNvPr id="8" name="Text 6"/>
          <p:cNvSpPr/>
          <p:nvPr/>
        </p:nvSpPr>
        <p:spPr>
          <a:xfrm>
            <a:off x="1115568" y="1380744"/>
            <a:ext cx="5029200" cy="219456"/>
          </a:xfrm>
          <a:prstGeom prst="rect">
            <a:avLst/>
          </a:prstGeom>
          <a:noFill/>
          <a:ln/>
        </p:spPr>
        <p:txBody>
          <a:bodyPr wrap="square" lIns="0" tIns="0" rIns="0" bIns="0" rtlCol="0" anchor="ctr"/>
          <a:lstStyle/>
          <a:p>
            <a:pPr indent="0" marL="0">
              <a:buNone/>
            </a:pPr>
            <a:r>
              <a:rPr lang="en-US" sz="1100" dirty="0">
                <a:solidFill>
                  <a:srgbClr val="64748B"/>
                </a:solidFill>
              </a:rPr>
              <a:t>Tech stack &amp; architecture</a:t>
            </a:r>
            <a:endParaRPr lang="en-US" sz="1100" dirty="0"/>
          </a:p>
        </p:txBody>
      </p:sp>
      <p:sp>
        <p:nvSpPr>
          <p:cNvPr id="9" name="Shape 7"/>
          <p:cNvSpPr/>
          <p:nvPr/>
        </p:nvSpPr>
        <p:spPr>
          <a:xfrm>
            <a:off x="457200" y="1819656"/>
            <a:ext cx="8229600" cy="658368"/>
          </a:xfrm>
          <a:prstGeom prst="roundRect">
            <a:avLst>
              <a:gd name="adj" fmla="val 11111"/>
            </a:avLst>
          </a:prstGeom>
          <a:solidFill>
            <a:srgbClr val="F8FAFC"/>
          </a:solidFill>
          <a:ln w="12700">
            <a:solidFill>
              <a:srgbClr val="E2E8F0"/>
            </a:solidFill>
            <a:prstDash val="solid"/>
          </a:ln>
        </p:spPr>
      </p:sp>
      <p:sp>
        <p:nvSpPr>
          <p:cNvPr id="10" name="Shape 8"/>
          <p:cNvSpPr/>
          <p:nvPr/>
        </p:nvSpPr>
        <p:spPr>
          <a:xfrm>
            <a:off x="566928" y="1929384"/>
            <a:ext cx="438912" cy="438912"/>
          </a:xfrm>
          <a:prstGeom prst="roundRect">
            <a:avLst>
              <a:gd name="adj" fmla="val 12500"/>
            </a:avLst>
          </a:prstGeom>
          <a:solidFill>
            <a:srgbClr val="1B4F9C"/>
          </a:solidFill>
          <a:ln w="12700">
            <a:solidFill>
              <a:srgbClr val="1B4F9C"/>
            </a:solidFill>
            <a:prstDash val="solid"/>
          </a:ln>
        </p:spPr>
      </p:sp>
      <p:sp>
        <p:nvSpPr>
          <p:cNvPr id="11" name="Text 9"/>
          <p:cNvSpPr/>
          <p:nvPr/>
        </p:nvSpPr>
        <p:spPr>
          <a:xfrm>
            <a:off x="566928" y="19293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2" name="Text 10"/>
          <p:cNvSpPr/>
          <p:nvPr/>
        </p:nvSpPr>
        <p:spPr>
          <a:xfrm>
            <a:off x="1115568" y="1892808"/>
            <a:ext cx="4114800" cy="256032"/>
          </a:xfrm>
          <a:prstGeom prst="rect">
            <a:avLst/>
          </a:prstGeom>
          <a:noFill/>
          <a:ln/>
        </p:spPr>
        <p:txBody>
          <a:bodyPr wrap="square" lIns="0" tIns="0" rIns="0" bIns="0" rtlCol="0" anchor="ctr"/>
          <a:lstStyle/>
          <a:p>
            <a:pPr indent="0" marL="0">
              <a:buNone/>
            </a:pPr>
            <a:r>
              <a:rPr lang="en-US" sz="1300" b="1" dirty="0">
                <a:solidFill>
                  <a:srgbClr val="1E293B"/>
                </a:solidFill>
              </a:rPr>
              <a:t>Week 3 — Core Features</a:t>
            </a:r>
            <a:endParaRPr lang="en-US" sz="1300" dirty="0"/>
          </a:p>
        </p:txBody>
      </p:sp>
      <p:sp>
        <p:nvSpPr>
          <p:cNvPr id="13" name="Text 11"/>
          <p:cNvSpPr/>
          <p:nvPr/>
        </p:nvSpPr>
        <p:spPr>
          <a:xfrm>
            <a:off x="1115568" y="2148840"/>
            <a:ext cx="5029200" cy="219456"/>
          </a:xfrm>
          <a:prstGeom prst="rect">
            <a:avLst/>
          </a:prstGeom>
          <a:noFill/>
          <a:ln/>
        </p:spPr>
        <p:txBody>
          <a:bodyPr wrap="square" lIns="0" tIns="0" rIns="0" bIns="0" rtlCol="0" anchor="ctr"/>
          <a:lstStyle/>
          <a:p>
            <a:pPr indent="0" marL="0">
              <a:buNone/>
            </a:pPr>
            <a:r>
              <a:rPr lang="en-US" sz="1100" dirty="0">
                <a:solidFill>
                  <a:srgbClr val="64748B"/>
                </a:solidFill>
              </a:rPr>
              <a:t>JWT auth, Task CRUD, Frontend UI</a:t>
            </a:r>
            <a:endParaRPr lang="en-US" sz="1100" dirty="0"/>
          </a:p>
        </p:txBody>
      </p:sp>
      <p:sp>
        <p:nvSpPr>
          <p:cNvPr id="14" name="Shape 12"/>
          <p:cNvSpPr/>
          <p:nvPr/>
        </p:nvSpPr>
        <p:spPr>
          <a:xfrm>
            <a:off x="457200" y="2587752"/>
            <a:ext cx="8229600" cy="658368"/>
          </a:xfrm>
          <a:prstGeom prst="roundRect">
            <a:avLst>
              <a:gd name="adj" fmla="val 11111"/>
            </a:avLst>
          </a:prstGeom>
          <a:solidFill>
            <a:srgbClr val="F0F7FF"/>
          </a:solidFill>
          <a:ln w="12700">
            <a:solidFill>
              <a:srgbClr val="E2E8F0"/>
            </a:solidFill>
            <a:prstDash val="solid"/>
          </a:ln>
        </p:spPr>
      </p:sp>
      <p:sp>
        <p:nvSpPr>
          <p:cNvPr id="15" name="Shape 13"/>
          <p:cNvSpPr/>
          <p:nvPr/>
        </p:nvSpPr>
        <p:spPr>
          <a:xfrm>
            <a:off x="566928" y="2697480"/>
            <a:ext cx="438912" cy="438912"/>
          </a:xfrm>
          <a:prstGeom prst="roundRect">
            <a:avLst>
              <a:gd name="adj" fmla="val 12500"/>
            </a:avLst>
          </a:prstGeom>
          <a:solidFill>
            <a:srgbClr val="1B4F9C"/>
          </a:solidFill>
          <a:ln w="12700">
            <a:solidFill>
              <a:srgbClr val="1B4F9C"/>
            </a:solidFill>
            <a:prstDash val="solid"/>
          </a:ln>
        </p:spPr>
      </p:sp>
      <p:sp>
        <p:nvSpPr>
          <p:cNvPr id="16" name="Text 14"/>
          <p:cNvSpPr/>
          <p:nvPr/>
        </p:nvSpPr>
        <p:spPr>
          <a:xfrm>
            <a:off x="566928" y="2697480"/>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7" name="Text 15"/>
          <p:cNvSpPr/>
          <p:nvPr/>
        </p:nvSpPr>
        <p:spPr>
          <a:xfrm>
            <a:off x="1115568" y="2660904"/>
            <a:ext cx="4114800" cy="256032"/>
          </a:xfrm>
          <a:prstGeom prst="rect">
            <a:avLst/>
          </a:prstGeom>
          <a:noFill/>
          <a:ln/>
        </p:spPr>
        <p:txBody>
          <a:bodyPr wrap="square" lIns="0" tIns="0" rIns="0" bIns="0" rtlCol="0" anchor="ctr"/>
          <a:lstStyle/>
          <a:p>
            <a:pPr indent="0" marL="0">
              <a:buNone/>
            </a:pPr>
            <a:r>
              <a:rPr lang="en-US" sz="1300" b="1" dirty="0">
                <a:solidFill>
                  <a:srgbClr val="1E293B"/>
                </a:solidFill>
              </a:rPr>
              <a:t>Week 4 — Advanced Features</a:t>
            </a:r>
            <a:endParaRPr lang="en-US" sz="1300" dirty="0"/>
          </a:p>
        </p:txBody>
      </p:sp>
      <p:sp>
        <p:nvSpPr>
          <p:cNvPr id="18" name="Text 16"/>
          <p:cNvSpPr/>
          <p:nvPr/>
        </p:nvSpPr>
        <p:spPr>
          <a:xfrm>
            <a:off x="1115568" y="2916936"/>
            <a:ext cx="5029200" cy="219456"/>
          </a:xfrm>
          <a:prstGeom prst="rect">
            <a:avLst/>
          </a:prstGeom>
          <a:noFill/>
          <a:ln/>
        </p:spPr>
        <p:txBody>
          <a:bodyPr wrap="square" lIns="0" tIns="0" rIns="0" bIns="0" rtlCol="0" anchor="ctr"/>
          <a:lstStyle/>
          <a:p>
            <a:pPr indent="0" marL="0">
              <a:buNone/>
            </a:pPr>
            <a:r>
              <a:rPr lang="en-US" sz="1100" dirty="0">
                <a:solidFill>
                  <a:srgbClr val="64748B"/>
                </a:solidFill>
              </a:rPr>
              <a:t>RBAC, Notifications, Admin Panel, Swagger</a:t>
            </a:r>
            <a:endParaRPr lang="en-US" sz="1100" dirty="0"/>
          </a:p>
        </p:txBody>
      </p:sp>
      <p:sp>
        <p:nvSpPr>
          <p:cNvPr id="19" name="Shape 17"/>
          <p:cNvSpPr/>
          <p:nvPr/>
        </p:nvSpPr>
        <p:spPr>
          <a:xfrm>
            <a:off x="457200" y="3355848"/>
            <a:ext cx="8229600" cy="658368"/>
          </a:xfrm>
          <a:prstGeom prst="roundRect">
            <a:avLst>
              <a:gd name="adj" fmla="val 11111"/>
            </a:avLst>
          </a:prstGeom>
          <a:solidFill>
            <a:srgbClr val="F8FAFC"/>
          </a:solidFill>
          <a:ln w="12700">
            <a:solidFill>
              <a:srgbClr val="E2E8F0"/>
            </a:solidFill>
            <a:prstDash val="solid"/>
          </a:ln>
        </p:spPr>
      </p:sp>
      <p:sp>
        <p:nvSpPr>
          <p:cNvPr id="20" name="Shape 18"/>
          <p:cNvSpPr/>
          <p:nvPr/>
        </p:nvSpPr>
        <p:spPr>
          <a:xfrm>
            <a:off x="566928" y="3465576"/>
            <a:ext cx="438912" cy="438912"/>
          </a:xfrm>
          <a:prstGeom prst="roundRect">
            <a:avLst>
              <a:gd name="adj" fmla="val 12500"/>
            </a:avLst>
          </a:prstGeom>
          <a:solidFill>
            <a:srgbClr val="1B4F9C"/>
          </a:solidFill>
          <a:ln w="12700">
            <a:solidFill>
              <a:srgbClr val="1B4F9C"/>
            </a:solidFill>
            <a:prstDash val="solid"/>
          </a:ln>
        </p:spPr>
      </p:sp>
      <p:sp>
        <p:nvSpPr>
          <p:cNvPr id="21" name="Text 19"/>
          <p:cNvSpPr/>
          <p:nvPr/>
        </p:nvSpPr>
        <p:spPr>
          <a:xfrm>
            <a:off x="566928" y="3465576"/>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22" name="Text 20"/>
          <p:cNvSpPr/>
          <p:nvPr/>
        </p:nvSpPr>
        <p:spPr>
          <a:xfrm>
            <a:off x="1115568" y="3429000"/>
            <a:ext cx="4114800" cy="256032"/>
          </a:xfrm>
          <a:prstGeom prst="rect">
            <a:avLst/>
          </a:prstGeom>
          <a:noFill/>
          <a:ln/>
        </p:spPr>
        <p:txBody>
          <a:bodyPr wrap="square" lIns="0" tIns="0" rIns="0" bIns="0" rtlCol="0" anchor="ctr"/>
          <a:lstStyle/>
          <a:p>
            <a:pPr indent="0" marL="0">
              <a:buNone/>
            </a:pPr>
            <a:r>
              <a:rPr lang="en-US" sz="1300" b="1" dirty="0">
                <a:solidFill>
                  <a:srgbClr val="1E293B"/>
                </a:solidFill>
              </a:rPr>
              <a:t>Live Deployment</a:t>
            </a:r>
            <a:endParaRPr lang="en-US" sz="1300" dirty="0"/>
          </a:p>
        </p:txBody>
      </p:sp>
      <p:sp>
        <p:nvSpPr>
          <p:cNvPr id="23" name="Text 21"/>
          <p:cNvSpPr/>
          <p:nvPr/>
        </p:nvSpPr>
        <p:spPr>
          <a:xfrm>
            <a:off x="1115568" y="3685032"/>
            <a:ext cx="5029200" cy="219456"/>
          </a:xfrm>
          <a:prstGeom prst="rect">
            <a:avLst/>
          </a:prstGeom>
          <a:noFill/>
          <a:ln/>
        </p:spPr>
        <p:txBody>
          <a:bodyPr wrap="square" lIns="0" tIns="0" rIns="0" bIns="0" rtlCol="0" anchor="ctr"/>
          <a:lstStyle/>
          <a:p>
            <a:pPr indent="0" marL="0">
              <a:buNone/>
            </a:pPr>
            <a:r>
              <a:rPr lang="en-US" sz="1100" dirty="0">
                <a:solidFill>
                  <a:srgbClr val="64748B"/>
                </a:solidFill>
              </a:rPr>
              <a:t>Render cloud deployment + live demo</a:t>
            </a:r>
            <a:endParaRPr lang="en-US" sz="1100" dirty="0"/>
          </a:p>
        </p:txBody>
      </p:sp>
      <p:sp>
        <p:nvSpPr>
          <p:cNvPr id="24" name="Shape 22"/>
          <p:cNvSpPr/>
          <p:nvPr/>
        </p:nvSpPr>
        <p:spPr>
          <a:xfrm>
            <a:off x="457200" y="4123944"/>
            <a:ext cx="8229600" cy="658368"/>
          </a:xfrm>
          <a:prstGeom prst="roundRect">
            <a:avLst>
              <a:gd name="adj" fmla="val 11111"/>
            </a:avLst>
          </a:prstGeom>
          <a:solidFill>
            <a:srgbClr val="F0F7FF"/>
          </a:solidFill>
          <a:ln w="12700">
            <a:solidFill>
              <a:srgbClr val="E2E8F0"/>
            </a:solidFill>
            <a:prstDash val="solid"/>
          </a:ln>
        </p:spPr>
      </p:sp>
      <p:sp>
        <p:nvSpPr>
          <p:cNvPr id="25" name="Shape 23"/>
          <p:cNvSpPr/>
          <p:nvPr/>
        </p:nvSpPr>
        <p:spPr>
          <a:xfrm>
            <a:off x="566928" y="4233672"/>
            <a:ext cx="438912" cy="438912"/>
          </a:xfrm>
          <a:prstGeom prst="roundRect">
            <a:avLst>
              <a:gd name="adj" fmla="val 12500"/>
            </a:avLst>
          </a:prstGeom>
          <a:solidFill>
            <a:srgbClr val="1B4F9C"/>
          </a:solidFill>
          <a:ln w="12700">
            <a:solidFill>
              <a:srgbClr val="1B4F9C"/>
            </a:solidFill>
            <a:prstDash val="solid"/>
          </a:ln>
        </p:spPr>
      </p:sp>
      <p:sp>
        <p:nvSpPr>
          <p:cNvPr id="26" name="Text 24"/>
          <p:cNvSpPr/>
          <p:nvPr/>
        </p:nvSpPr>
        <p:spPr>
          <a:xfrm>
            <a:off x="566928" y="4233672"/>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7" name="Text 25"/>
          <p:cNvSpPr/>
          <p:nvPr/>
        </p:nvSpPr>
        <p:spPr>
          <a:xfrm>
            <a:off x="1115568" y="4197096"/>
            <a:ext cx="4114800" cy="256032"/>
          </a:xfrm>
          <a:prstGeom prst="rect">
            <a:avLst/>
          </a:prstGeom>
          <a:noFill/>
          <a:ln/>
        </p:spPr>
        <p:txBody>
          <a:bodyPr wrap="square" lIns="0" tIns="0" rIns="0" bIns="0" rtlCol="0" anchor="ctr"/>
          <a:lstStyle/>
          <a:p>
            <a:pPr indent="0" marL="0">
              <a:buNone/>
            </a:pPr>
            <a:r>
              <a:rPr lang="en-US" sz="1300" b="1" dirty="0">
                <a:solidFill>
                  <a:srgbClr val="1E293B"/>
                </a:solidFill>
              </a:rPr>
              <a:t>API Documentation</a:t>
            </a:r>
            <a:endParaRPr lang="en-US" sz="1300" dirty="0"/>
          </a:p>
        </p:txBody>
      </p:sp>
      <p:sp>
        <p:nvSpPr>
          <p:cNvPr id="28" name="Text 26"/>
          <p:cNvSpPr/>
          <p:nvPr/>
        </p:nvSpPr>
        <p:spPr>
          <a:xfrm>
            <a:off x="1115568" y="4453128"/>
            <a:ext cx="5029200" cy="219456"/>
          </a:xfrm>
          <a:prstGeom prst="rect">
            <a:avLst/>
          </a:prstGeom>
          <a:noFill/>
          <a:ln/>
        </p:spPr>
        <p:txBody>
          <a:bodyPr wrap="square" lIns="0" tIns="0" rIns="0" bIns="0" rtlCol="0" anchor="ctr"/>
          <a:lstStyle/>
          <a:p>
            <a:pPr indent="0" marL="0">
              <a:buNone/>
            </a:pPr>
            <a:r>
              <a:rPr lang="en-US" sz="1100" dirty="0">
                <a:solidFill>
                  <a:srgbClr val="64748B"/>
                </a:solidFill>
              </a:rPr>
              <a:t>Swagger UI walkthrough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rtlCol="0" anchor="ctr"/>
          <a:lstStyle/>
          <a:p>
            <a:pPr indent="0" marL="0">
              <a:buNone/>
            </a:pPr>
            <a:r>
              <a:rPr lang="en-US" sz="3200" b="1" dirty="0">
                <a:solidFill>
                  <a:srgbClr val="0A1628"/>
                </a:solidFill>
              </a:rPr>
              <a:t>Tech Stack</a:t>
            </a:r>
            <a:endParaRPr lang="en-US" sz="3200" dirty="0"/>
          </a:p>
        </p:txBody>
      </p:sp>
      <p:sp>
        <p:nvSpPr>
          <p:cNvPr id="3" name="Text 1"/>
          <p:cNvSpPr/>
          <p:nvPr/>
        </p:nvSpPr>
        <p:spPr>
          <a:xfrm>
            <a:off x="457200" y="804672"/>
            <a:ext cx="8229600" cy="274320"/>
          </a:xfrm>
          <a:prstGeom prst="rect">
            <a:avLst/>
          </a:prstGeom>
          <a:noFill/>
          <a:ln/>
        </p:spPr>
        <p:txBody>
          <a:bodyPr wrap="square" rtlCol="0" anchor="ctr"/>
          <a:lstStyle/>
          <a:p>
            <a:pPr indent="0" marL="0">
              <a:buNone/>
            </a:pPr>
            <a:r>
              <a:rPr lang="en-US" sz="1300" dirty="0">
                <a:solidFill>
                  <a:srgbClr val="64748B"/>
                </a:solidFill>
              </a:rPr>
              <a:t>Technologies used to build the system</a:t>
            </a:r>
            <a:endParaRPr lang="en-US" sz="1300" dirty="0"/>
          </a:p>
        </p:txBody>
      </p:sp>
      <p:sp>
        <p:nvSpPr>
          <p:cNvPr id="4" name="Shape 2"/>
          <p:cNvSpPr/>
          <p:nvPr/>
        </p:nvSpPr>
        <p:spPr>
          <a:xfrm>
            <a:off x="365760" y="123444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1005840" y="1417320"/>
            <a:ext cx="640080" cy="640080"/>
          </a:xfrm>
          <a:prstGeom prst="roundRect">
            <a:avLst>
              <a:gd name="adj" fmla="val 11429"/>
            </a:avLst>
          </a:prstGeom>
          <a:solidFill>
            <a:srgbClr val="E84D22"/>
          </a:solidFill>
          <a:ln w="12700">
            <a:solidFill>
              <a:srgbClr val="E84D22"/>
            </a:solidFill>
            <a:prstDash val="solid"/>
          </a:ln>
        </p:spPr>
      </p:sp>
      <p:sp>
        <p:nvSpPr>
          <p:cNvPr id="6" name="Text 4"/>
          <p:cNvSpPr/>
          <p:nvPr/>
        </p:nvSpPr>
        <p:spPr>
          <a:xfrm>
            <a:off x="365760" y="214884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Java 17</a:t>
            </a:r>
            <a:endParaRPr lang="en-US" sz="1200" dirty="0"/>
          </a:p>
        </p:txBody>
      </p:sp>
      <p:sp>
        <p:nvSpPr>
          <p:cNvPr id="7" name="Text 5"/>
          <p:cNvSpPr/>
          <p:nvPr/>
        </p:nvSpPr>
        <p:spPr>
          <a:xfrm>
            <a:off x="365760" y="240487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Language</a:t>
            </a:r>
            <a:endParaRPr lang="en-US" sz="1000" dirty="0"/>
          </a:p>
        </p:txBody>
      </p:sp>
      <p:sp>
        <p:nvSpPr>
          <p:cNvPr id="8" name="Shape 6"/>
          <p:cNvSpPr/>
          <p:nvPr/>
        </p:nvSpPr>
        <p:spPr>
          <a:xfrm>
            <a:off x="2487168" y="123444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9" name="Shape 7"/>
          <p:cNvSpPr/>
          <p:nvPr/>
        </p:nvSpPr>
        <p:spPr>
          <a:xfrm>
            <a:off x="3127248" y="1417320"/>
            <a:ext cx="640080" cy="640080"/>
          </a:xfrm>
          <a:prstGeom prst="roundRect">
            <a:avLst>
              <a:gd name="adj" fmla="val 11429"/>
            </a:avLst>
          </a:prstGeom>
          <a:solidFill>
            <a:srgbClr val="6DB33F"/>
          </a:solidFill>
          <a:ln w="12700">
            <a:solidFill>
              <a:srgbClr val="6DB33F"/>
            </a:solidFill>
            <a:prstDash val="solid"/>
          </a:ln>
        </p:spPr>
      </p:sp>
      <p:sp>
        <p:nvSpPr>
          <p:cNvPr id="10" name="Text 8"/>
          <p:cNvSpPr/>
          <p:nvPr/>
        </p:nvSpPr>
        <p:spPr>
          <a:xfrm>
            <a:off x="2487168" y="214884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Spring Boot 3</a:t>
            </a:r>
            <a:endParaRPr lang="en-US" sz="1200" dirty="0"/>
          </a:p>
        </p:txBody>
      </p:sp>
      <p:sp>
        <p:nvSpPr>
          <p:cNvPr id="11" name="Text 9"/>
          <p:cNvSpPr/>
          <p:nvPr/>
        </p:nvSpPr>
        <p:spPr>
          <a:xfrm>
            <a:off x="2487168" y="240487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Framework</a:t>
            </a:r>
            <a:endParaRPr lang="en-US" sz="1000" dirty="0"/>
          </a:p>
        </p:txBody>
      </p:sp>
      <p:sp>
        <p:nvSpPr>
          <p:cNvPr id="12" name="Shape 10"/>
          <p:cNvSpPr/>
          <p:nvPr/>
        </p:nvSpPr>
        <p:spPr>
          <a:xfrm>
            <a:off x="4608576" y="123444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3" name="Shape 11"/>
          <p:cNvSpPr/>
          <p:nvPr/>
        </p:nvSpPr>
        <p:spPr>
          <a:xfrm>
            <a:off x="5248656" y="1417320"/>
            <a:ext cx="640080" cy="640080"/>
          </a:xfrm>
          <a:prstGeom prst="roundRect">
            <a:avLst>
              <a:gd name="adj" fmla="val 11429"/>
            </a:avLst>
          </a:prstGeom>
          <a:solidFill>
            <a:srgbClr val="1B4F9C"/>
          </a:solidFill>
          <a:ln w="12700">
            <a:solidFill>
              <a:srgbClr val="1B4F9C"/>
            </a:solidFill>
            <a:prstDash val="solid"/>
          </a:ln>
        </p:spPr>
      </p:sp>
      <p:sp>
        <p:nvSpPr>
          <p:cNvPr id="14" name="Text 12"/>
          <p:cNvSpPr/>
          <p:nvPr/>
        </p:nvSpPr>
        <p:spPr>
          <a:xfrm>
            <a:off x="4608576" y="214884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Spring Security</a:t>
            </a:r>
            <a:endParaRPr lang="en-US" sz="1200" dirty="0"/>
          </a:p>
        </p:txBody>
      </p:sp>
      <p:sp>
        <p:nvSpPr>
          <p:cNvPr id="15" name="Text 13"/>
          <p:cNvSpPr/>
          <p:nvPr/>
        </p:nvSpPr>
        <p:spPr>
          <a:xfrm>
            <a:off x="4608576" y="240487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Auth &amp; RBAC</a:t>
            </a:r>
            <a:endParaRPr lang="en-US" sz="1000" dirty="0"/>
          </a:p>
        </p:txBody>
      </p:sp>
      <p:sp>
        <p:nvSpPr>
          <p:cNvPr id="16" name="Shape 14"/>
          <p:cNvSpPr/>
          <p:nvPr/>
        </p:nvSpPr>
        <p:spPr>
          <a:xfrm>
            <a:off x="6729984" y="123444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7" name="Shape 15"/>
          <p:cNvSpPr/>
          <p:nvPr/>
        </p:nvSpPr>
        <p:spPr>
          <a:xfrm>
            <a:off x="7370064" y="1417320"/>
            <a:ext cx="640080" cy="640080"/>
          </a:xfrm>
          <a:prstGeom prst="roundRect">
            <a:avLst>
              <a:gd name="adj" fmla="val 11429"/>
            </a:avLst>
          </a:prstGeom>
          <a:solidFill>
            <a:srgbClr val="F59E0B"/>
          </a:solidFill>
          <a:ln w="12700">
            <a:solidFill>
              <a:srgbClr val="F59E0B"/>
            </a:solidFill>
            <a:prstDash val="solid"/>
          </a:ln>
        </p:spPr>
      </p:sp>
      <p:sp>
        <p:nvSpPr>
          <p:cNvPr id="18" name="Text 16"/>
          <p:cNvSpPr/>
          <p:nvPr/>
        </p:nvSpPr>
        <p:spPr>
          <a:xfrm>
            <a:off x="6729984" y="214884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JWT</a:t>
            </a:r>
            <a:endParaRPr lang="en-US" sz="1200" dirty="0"/>
          </a:p>
        </p:txBody>
      </p:sp>
      <p:sp>
        <p:nvSpPr>
          <p:cNvPr id="19" name="Text 17"/>
          <p:cNvSpPr/>
          <p:nvPr/>
        </p:nvSpPr>
        <p:spPr>
          <a:xfrm>
            <a:off x="6729984" y="240487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Token Auth</a:t>
            </a:r>
            <a:endParaRPr lang="en-US" sz="1000" dirty="0"/>
          </a:p>
        </p:txBody>
      </p:sp>
      <p:sp>
        <p:nvSpPr>
          <p:cNvPr id="20" name="Shape 18"/>
          <p:cNvSpPr/>
          <p:nvPr/>
        </p:nvSpPr>
        <p:spPr>
          <a:xfrm>
            <a:off x="365760" y="292608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1" name="Shape 19"/>
          <p:cNvSpPr/>
          <p:nvPr/>
        </p:nvSpPr>
        <p:spPr>
          <a:xfrm>
            <a:off x="1005840" y="3108960"/>
            <a:ext cx="640080" cy="640080"/>
          </a:xfrm>
          <a:prstGeom prst="roundRect">
            <a:avLst>
              <a:gd name="adj" fmla="val 11429"/>
            </a:avLst>
          </a:prstGeom>
          <a:solidFill>
            <a:srgbClr val="0074C1"/>
          </a:solidFill>
          <a:ln w="12700">
            <a:solidFill>
              <a:srgbClr val="0074C1"/>
            </a:solidFill>
            <a:prstDash val="solid"/>
          </a:ln>
        </p:spPr>
      </p:sp>
      <p:sp>
        <p:nvSpPr>
          <p:cNvPr id="22" name="Text 20"/>
          <p:cNvSpPr/>
          <p:nvPr/>
        </p:nvSpPr>
        <p:spPr>
          <a:xfrm>
            <a:off x="365760" y="384048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H2 / MySQL</a:t>
            </a:r>
            <a:endParaRPr lang="en-US" sz="1200" dirty="0"/>
          </a:p>
        </p:txBody>
      </p:sp>
      <p:sp>
        <p:nvSpPr>
          <p:cNvPr id="23" name="Text 21"/>
          <p:cNvSpPr/>
          <p:nvPr/>
        </p:nvSpPr>
        <p:spPr>
          <a:xfrm>
            <a:off x="365760" y="409651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Database</a:t>
            </a:r>
            <a:endParaRPr lang="en-US" sz="1000" dirty="0"/>
          </a:p>
        </p:txBody>
      </p:sp>
      <p:sp>
        <p:nvSpPr>
          <p:cNvPr id="24" name="Shape 22"/>
          <p:cNvSpPr/>
          <p:nvPr/>
        </p:nvSpPr>
        <p:spPr>
          <a:xfrm>
            <a:off x="2487168" y="292608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5" name="Shape 23"/>
          <p:cNvSpPr/>
          <p:nvPr/>
        </p:nvSpPr>
        <p:spPr>
          <a:xfrm>
            <a:off x="3127248" y="3108960"/>
            <a:ext cx="640080" cy="640080"/>
          </a:xfrm>
          <a:prstGeom prst="roundRect">
            <a:avLst>
              <a:gd name="adj" fmla="val 11429"/>
            </a:avLst>
          </a:prstGeom>
          <a:solidFill>
            <a:srgbClr val="59666C"/>
          </a:solidFill>
          <a:ln w="12700">
            <a:solidFill>
              <a:srgbClr val="59666C"/>
            </a:solidFill>
            <a:prstDash val="solid"/>
          </a:ln>
        </p:spPr>
      </p:sp>
      <p:sp>
        <p:nvSpPr>
          <p:cNvPr id="26" name="Text 24"/>
          <p:cNvSpPr/>
          <p:nvPr/>
        </p:nvSpPr>
        <p:spPr>
          <a:xfrm>
            <a:off x="2487168" y="384048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JPA/Hibernate</a:t>
            </a:r>
            <a:endParaRPr lang="en-US" sz="1200" dirty="0"/>
          </a:p>
        </p:txBody>
      </p:sp>
      <p:sp>
        <p:nvSpPr>
          <p:cNvPr id="27" name="Text 25"/>
          <p:cNvSpPr/>
          <p:nvPr/>
        </p:nvSpPr>
        <p:spPr>
          <a:xfrm>
            <a:off x="2487168" y="409651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ORM</a:t>
            </a:r>
            <a:endParaRPr lang="en-US" sz="1000" dirty="0"/>
          </a:p>
        </p:txBody>
      </p:sp>
      <p:sp>
        <p:nvSpPr>
          <p:cNvPr id="28" name="Shape 26"/>
          <p:cNvSpPr/>
          <p:nvPr/>
        </p:nvSpPr>
        <p:spPr>
          <a:xfrm>
            <a:off x="4608576" y="292608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9" name="Shape 27"/>
          <p:cNvSpPr/>
          <p:nvPr/>
        </p:nvSpPr>
        <p:spPr>
          <a:xfrm>
            <a:off x="5248656" y="3108960"/>
            <a:ext cx="640080" cy="640080"/>
          </a:xfrm>
          <a:prstGeom prst="roundRect">
            <a:avLst>
              <a:gd name="adj" fmla="val 11429"/>
            </a:avLst>
          </a:prstGeom>
          <a:solidFill>
            <a:srgbClr val="85EA2D"/>
          </a:solidFill>
          <a:ln w="12700">
            <a:solidFill>
              <a:srgbClr val="85EA2D"/>
            </a:solidFill>
            <a:prstDash val="solid"/>
          </a:ln>
        </p:spPr>
      </p:sp>
      <p:sp>
        <p:nvSpPr>
          <p:cNvPr id="30" name="Text 28"/>
          <p:cNvSpPr/>
          <p:nvPr/>
        </p:nvSpPr>
        <p:spPr>
          <a:xfrm>
            <a:off x="4608576" y="384048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Swagger UI</a:t>
            </a:r>
            <a:endParaRPr lang="en-US" sz="1200" dirty="0"/>
          </a:p>
        </p:txBody>
      </p:sp>
      <p:sp>
        <p:nvSpPr>
          <p:cNvPr id="31" name="Text 29"/>
          <p:cNvSpPr/>
          <p:nvPr/>
        </p:nvSpPr>
        <p:spPr>
          <a:xfrm>
            <a:off x="4608576" y="409651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API Docs</a:t>
            </a:r>
            <a:endParaRPr lang="en-US" sz="1000" dirty="0"/>
          </a:p>
        </p:txBody>
      </p:sp>
      <p:sp>
        <p:nvSpPr>
          <p:cNvPr id="32" name="Shape 30"/>
          <p:cNvSpPr/>
          <p:nvPr/>
        </p:nvSpPr>
        <p:spPr>
          <a:xfrm>
            <a:off x="6729984" y="2926080"/>
            <a:ext cx="1920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33" name="Shape 31"/>
          <p:cNvSpPr/>
          <p:nvPr/>
        </p:nvSpPr>
        <p:spPr>
          <a:xfrm>
            <a:off x="7370064" y="3108960"/>
            <a:ext cx="640080" cy="640080"/>
          </a:xfrm>
          <a:prstGeom prst="roundRect">
            <a:avLst>
              <a:gd name="adj" fmla="val 11429"/>
            </a:avLst>
          </a:prstGeom>
          <a:solidFill>
            <a:srgbClr val="46E3B7"/>
          </a:solidFill>
          <a:ln w="12700">
            <a:solidFill>
              <a:srgbClr val="46E3B7"/>
            </a:solidFill>
            <a:prstDash val="solid"/>
          </a:ln>
        </p:spPr>
      </p:sp>
      <p:sp>
        <p:nvSpPr>
          <p:cNvPr id="34" name="Text 32"/>
          <p:cNvSpPr/>
          <p:nvPr/>
        </p:nvSpPr>
        <p:spPr>
          <a:xfrm>
            <a:off x="6729984" y="3840480"/>
            <a:ext cx="1920240" cy="274320"/>
          </a:xfrm>
          <a:prstGeom prst="rect">
            <a:avLst/>
          </a:prstGeom>
          <a:noFill/>
          <a:ln/>
        </p:spPr>
        <p:txBody>
          <a:bodyPr wrap="square" lIns="0" tIns="0" rIns="0" bIns="0" rtlCol="0" anchor="ctr"/>
          <a:lstStyle/>
          <a:p>
            <a:pPr algn="ctr" indent="0" marL="0">
              <a:buNone/>
            </a:pPr>
            <a:r>
              <a:rPr lang="en-US" sz="1200" b="1" dirty="0">
                <a:solidFill>
                  <a:srgbClr val="1E293B"/>
                </a:solidFill>
              </a:rPr>
              <a:t>Render</a:t>
            </a:r>
            <a:endParaRPr lang="en-US" sz="1200" dirty="0"/>
          </a:p>
        </p:txBody>
      </p:sp>
      <p:sp>
        <p:nvSpPr>
          <p:cNvPr id="35" name="Text 33"/>
          <p:cNvSpPr/>
          <p:nvPr/>
        </p:nvSpPr>
        <p:spPr>
          <a:xfrm>
            <a:off x="6729984" y="4096512"/>
            <a:ext cx="1920240" cy="201168"/>
          </a:xfrm>
          <a:prstGeom prst="rect">
            <a:avLst/>
          </a:prstGeom>
          <a:noFill/>
          <a:ln/>
        </p:spPr>
        <p:txBody>
          <a:bodyPr wrap="square" lIns="0" tIns="0" rIns="0" bIns="0" rtlCol="0" anchor="ctr"/>
          <a:lstStyle/>
          <a:p>
            <a:pPr algn="ctr" indent="0" marL="0">
              <a:buNone/>
            </a:pPr>
            <a:r>
              <a:rPr lang="en-US" sz="1000" dirty="0">
                <a:solidFill>
                  <a:srgbClr val="64748B"/>
                </a:solidFill>
              </a:rPr>
              <a:t>Deployment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65760" y="228600"/>
            <a:ext cx="2011680" cy="457200"/>
          </a:xfrm>
          <a:prstGeom prst="roundRect">
            <a:avLst>
              <a:gd name="adj" fmla="val 50000"/>
            </a:avLst>
          </a:prstGeom>
          <a:solidFill>
            <a:srgbClr val="1B4F9C"/>
          </a:solidFill>
          <a:ln w="12700">
            <a:solidFill>
              <a:srgbClr val="1B4F9C"/>
            </a:solidFill>
            <a:prstDash val="solid"/>
          </a:ln>
        </p:spPr>
      </p:sp>
      <p:sp>
        <p:nvSpPr>
          <p:cNvPr id="3" name="Text 1"/>
          <p:cNvSpPr/>
          <p:nvPr/>
        </p:nvSpPr>
        <p:spPr>
          <a:xfrm>
            <a:off x="365760" y="228600"/>
            <a:ext cx="2011680" cy="457200"/>
          </a:xfrm>
          <a:prstGeom prst="rect">
            <a:avLst/>
          </a:prstGeom>
          <a:noFill/>
          <a:ln/>
        </p:spPr>
        <p:txBody>
          <a:bodyPr wrap="square" lIns="0" tIns="0" rIns="0" bIns="0" rtlCol="0" anchor="ctr"/>
          <a:lstStyle/>
          <a:p>
            <a:pPr algn="ctr" indent="0" marL="0">
              <a:buNone/>
            </a:pPr>
            <a:r>
              <a:rPr lang="en-US" sz="1300" b="1" dirty="0">
                <a:solidFill>
                  <a:srgbClr val="FFFFFF"/>
                </a:solidFill>
              </a:rPr>
              <a:t>WEEK 3</a:t>
            </a:r>
            <a:endParaRPr lang="en-US" sz="1300" dirty="0"/>
          </a:p>
        </p:txBody>
      </p:sp>
      <p:sp>
        <p:nvSpPr>
          <p:cNvPr id="4" name="Text 2"/>
          <p:cNvSpPr/>
          <p:nvPr/>
        </p:nvSpPr>
        <p:spPr>
          <a:xfrm>
            <a:off x="365760" y="777240"/>
            <a:ext cx="8412480" cy="594360"/>
          </a:xfrm>
          <a:prstGeom prst="rect">
            <a:avLst/>
          </a:prstGeom>
          <a:noFill/>
          <a:ln/>
        </p:spPr>
        <p:txBody>
          <a:bodyPr wrap="square" rtlCol="0" anchor="ctr"/>
          <a:lstStyle/>
          <a:p>
            <a:pPr indent="0" marL="0">
              <a:buNone/>
            </a:pPr>
            <a:r>
              <a:rPr lang="en-US" sz="3000" b="1" dirty="0">
                <a:solidFill>
                  <a:srgbClr val="FFFFFF"/>
                </a:solidFill>
              </a:rPr>
              <a:t>Core Task Management System</a:t>
            </a:r>
            <a:endParaRPr lang="en-US" sz="3000" dirty="0"/>
          </a:p>
        </p:txBody>
      </p:sp>
      <p:sp>
        <p:nvSpPr>
          <p:cNvPr id="5" name="Text 3"/>
          <p:cNvSpPr/>
          <p:nvPr/>
        </p:nvSpPr>
        <p:spPr>
          <a:xfrm>
            <a:off x="365760" y="1389888"/>
            <a:ext cx="8229600" cy="320040"/>
          </a:xfrm>
          <a:prstGeom prst="rect">
            <a:avLst/>
          </a:prstGeom>
          <a:noFill/>
          <a:ln/>
        </p:spPr>
        <p:txBody>
          <a:bodyPr wrap="square" rtlCol="0" anchor="ctr"/>
          <a:lstStyle/>
          <a:p>
            <a:pPr indent="0" marL="0">
              <a:buNone/>
            </a:pPr>
            <a:r>
              <a:rPr lang="en-US" sz="1300" dirty="0">
                <a:solidFill>
                  <a:srgbClr val="94A3B8"/>
                </a:solidFill>
              </a:rPr>
              <a:t>JWT Authentication  •  Task CRUD  •  Frontend UI</a:t>
            </a:r>
            <a:endParaRPr lang="en-US" sz="1300" dirty="0"/>
          </a:p>
        </p:txBody>
      </p:sp>
      <p:sp>
        <p:nvSpPr>
          <p:cNvPr id="6" name="Shape 4"/>
          <p:cNvSpPr/>
          <p:nvPr/>
        </p:nvSpPr>
        <p:spPr>
          <a:xfrm>
            <a:off x="365760" y="1874520"/>
            <a:ext cx="4206240" cy="1325880"/>
          </a:xfrm>
          <a:prstGeom prst="roundRect">
            <a:avLst>
              <a:gd name="adj" fmla="val 6897"/>
            </a:avLst>
          </a:prstGeom>
          <a:solidFill>
            <a:srgbClr val="132040"/>
          </a:solidFill>
          <a:ln w="12700">
            <a:solidFill>
              <a:srgbClr val="1B3A6B"/>
            </a:solidFill>
            <a:prstDash val="solid"/>
          </a:ln>
        </p:spPr>
      </p:sp>
      <p:sp>
        <p:nvSpPr>
          <p:cNvPr id="7" name="Text 5"/>
          <p:cNvSpPr/>
          <p:nvPr/>
        </p:nvSpPr>
        <p:spPr>
          <a:xfrm>
            <a:off x="530352" y="1965960"/>
            <a:ext cx="3840480" cy="274320"/>
          </a:xfrm>
          <a:prstGeom prst="rect">
            <a:avLst/>
          </a:prstGeom>
          <a:noFill/>
          <a:ln/>
        </p:spPr>
        <p:txBody>
          <a:bodyPr wrap="square" lIns="0" tIns="0" rIns="0" bIns="0" rtlCol="0" anchor="ctr"/>
          <a:lstStyle/>
          <a:p>
            <a:pPr indent="0" marL="0">
              <a:buNone/>
            </a:pPr>
            <a:r>
              <a:rPr lang="en-US" sz="1300" b="1" dirty="0">
                <a:solidFill>
                  <a:srgbClr val="0EA5E9"/>
                </a:solidFill>
              </a:rPr>
              <a:t>JWT Authentication</a:t>
            </a:r>
            <a:endParaRPr lang="en-US" sz="1300" dirty="0"/>
          </a:p>
        </p:txBody>
      </p:sp>
      <p:sp>
        <p:nvSpPr>
          <p:cNvPr id="8" name="Text 6"/>
          <p:cNvSpPr/>
          <p:nvPr/>
        </p:nvSpPr>
        <p:spPr>
          <a:xfrm>
            <a:off x="530352" y="2258568"/>
            <a:ext cx="3840480" cy="822960"/>
          </a:xfrm>
          <a:prstGeom prst="rect">
            <a:avLst/>
          </a:prstGeom>
          <a:noFill/>
          <a:ln/>
        </p:spPr>
        <p:txBody>
          <a:bodyPr wrap="square" lIns="0" tIns="0" rIns="0" bIns="0" rtlCol="0" anchor="ctr"/>
          <a:lstStyle/>
          <a:p>
            <a:pPr indent="0" marL="0">
              <a:buNone/>
            </a:pPr>
            <a:r>
              <a:rPr lang="en-US" sz="1100" dirty="0">
                <a:solidFill>
                  <a:srgbClr val="CBD5E1"/>
                </a:solidFill>
              </a:rPr>
              <a:t>User Register &amp; Login</a:t>
            </a:r>
            <a:endParaRPr lang="en-US" sz="1100" dirty="0"/>
          </a:p>
          <a:p>
            <a:pPr indent="0" marL="0">
              <a:buNone/>
            </a:pPr>
            <a:r>
              <a:rPr lang="en-US" sz="1100" dirty="0">
                <a:solidFill>
                  <a:srgbClr val="CBD5E1"/>
                </a:solidFill>
              </a:rPr>
              <a:t>BCrypt password encoding</a:t>
            </a:r>
            <a:endParaRPr lang="en-US" sz="1100" dirty="0"/>
          </a:p>
          <a:p>
            <a:pPr indent="0" marL="0">
              <a:buNone/>
            </a:pPr>
            <a:r>
              <a:rPr lang="en-US" sz="1100" dirty="0">
                <a:solidFill>
                  <a:srgbClr val="CBD5E1"/>
                </a:solidFill>
              </a:rPr>
              <a:t>Token-based stateless auth</a:t>
            </a:r>
            <a:endParaRPr lang="en-US" sz="1100" dirty="0"/>
          </a:p>
        </p:txBody>
      </p:sp>
      <p:sp>
        <p:nvSpPr>
          <p:cNvPr id="9" name="Shape 7"/>
          <p:cNvSpPr/>
          <p:nvPr/>
        </p:nvSpPr>
        <p:spPr>
          <a:xfrm>
            <a:off x="4800600" y="1874520"/>
            <a:ext cx="4206240" cy="1325880"/>
          </a:xfrm>
          <a:prstGeom prst="roundRect">
            <a:avLst>
              <a:gd name="adj" fmla="val 6897"/>
            </a:avLst>
          </a:prstGeom>
          <a:solidFill>
            <a:srgbClr val="132040"/>
          </a:solidFill>
          <a:ln w="12700">
            <a:solidFill>
              <a:srgbClr val="1B3A6B"/>
            </a:solidFill>
            <a:prstDash val="solid"/>
          </a:ln>
        </p:spPr>
      </p:sp>
      <p:sp>
        <p:nvSpPr>
          <p:cNvPr id="10" name="Text 8"/>
          <p:cNvSpPr/>
          <p:nvPr/>
        </p:nvSpPr>
        <p:spPr>
          <a:xfrm>
            <a:off x="4965192" y="1965960"/>
            <a:ext cx="3840480" cy="274320"/>
          </a:xfrm>
          <a:prstGeom prst="rect">
            <a:avLst/>
          </a:prstGeom>
          <a:noFill/>
          <a:ln/>
        </p:spPr>
        <p:txBody>
          <a:bodyPr wrap="square" lIns="0" tIns="0" rIns="0" bIns="0" rtlCol="0" anchor="ctr"/>
          <a:lstStyle/>
          <a:p>
            <a:pPr indent="0" marL="0">
              <a:buNone/>
            </a:pPr>
            <a:r>
              <a:rPr lang="en-US" sz="1300" b="1" dirty="0">
                <a:solidFill>
                  <a:srgbClr val="0EA5E9"/>
                </a:solidFill>
              </a:rPr>
              <a:t>Task CRUD</a:t>
            </a:r>
            <a:endParaRPr lang="en-US" sz="1300" dirty="0"/>
          </a:p>
        </p:txBody>
      </p:sp>
      <p:sp>
        <p:nvSpPr>
          <p:cNvPr id="11" name="Text 9"/>
          <p:cNvSpPr/>
          <p:nvPr/>
        </p:nvSpPr>
        <p:spPr>
          <a:xfrm>
            <a:off x="4965192" y="2258568"/>
            <a:ext cx="3840480" cy="822960"/>
          </a:xfrm>
          <a:prstGeom prst="rect">
            <a:avLst/>
          </a:prstGeom>
          <a:noFill/>
          <a:ln/>
        </p:spPr>
        <p:txBody>
          <a:bodyPr wrap="square" lIns="0" tIns="0" rIns="0" bIns="0" rtlCol="0" anchor="ctr"/>
          <a:lstStyle/>
          <a:p>
            <a:pPr indent="0" marL="0">
              <a:buNone/>
            </a:pPr>
            <a:r>
              <a:rPr lang="en-US" sz="1100" dirty="0">
                <a:solidFill>
                  <a:srgbClr val="CBD5E1"/>
                </a:solidFill>
              </a:rPr>
              <a:t>Create, Read, Update, Delete</a:t>
            </a:r>
            <a:endParaRPr lang="en-US" sz="1100" dirty="0"/>
          </a:p>
          <a:p>
            <a:pPr indent="0" marL="0">
              <a:buNone/>
            </a:pPr>
            <a:r>
              <a:rPr lang="en-US" sz="1100" dirty="0">
                <a:solidFill>
                  <a:srgbClr val="CBD5E1"/>
                </a:solidFill>
              </a:rPr>
              <a:t>Assign tasks to users</a:t>
            </a:r>
            <a:endParaRPr lang="en-US" sz="1100" dirty="0"/>
          </a:p>
          <a:p>
            <a:pPr indent="0" marL="0">
              <a:buNone/>
            </a:pPr>
            <a:r>
              <a:rPr lang="en-US" sz="1100" dirty="0">
                <a:solidFill>
                  <a:srgbClr val="CBD5E1"/>
                </a:solidFill>
              </a:rPr>
              <a:t>Filter by status &amp; priority</a:t>
            </a:r>
            <a:endParaRPr lang="en-US" sz="1100" dirty="0"/>
          </a:p>
        </p:txBody>
      </p:sp>
      <p:sp>
        <p:nvSpPr>
          <p:cNvPr id="12" name="Shape 10"/>
          <p:cNvSpPr/>
          <p:nvPr/>
        </p:nvSpPr>
        <p:spPr>
          <a:xfrm>
            <a:off x="365760" y="3337560"/>
            <a:ext cx="4206240" cy="1325880"/>
          </a:xfrm>
          <a:prstGeom prst="roundRect">
            <a:avLst>
              <a:gd name="adj" fmla="val 6897"/>
            </a:avLst>
          </a:prstGeom>
          <a:solidFill>
            <a:srgbClr val="132040"/>
          </a:solidFill>
          <a:ln w="12700">
            <a:solidFill>
              <a:srgbClr val="1B3A6B"/>
            </a:solidFill>
            <a:prstDash val="solid"/>
          </a:ln>
        </p:spPr>
      </p:sp>
      <p:sp>
        <p:nvSpPr>
          <p:cNvPr id="13" name="Text 11"/>
          <p:cNvSpPr/>
          <p:nvPr/>
        </p:nvSpPr>
        <p:spPr>
          <a:xfrm>
            <a:off x="530352" y="3429000"/>
            <a:ext cx="3840480" cy="274320"/>
          </a:xfrm>
          <a:prstGeom prst="rect">
            <a:avLst/>
          </a:prstGeom>
          <a:noFill/>
          <a:ln/>
        </p:spPr>
        <p:txBody>
          <a:bodyPr wrap="square" lIns="0" tIns="0" rIns="0" bIns="0" rtlCol="0" anchor="ctr"/>
          <a:lstStyle/>
          <a:p>
            <a:pPr indent="0" marL="0">
              <a:buNone/>
            </a:pPr>
            <a:r>
              <a:rPr lang="en-US" sz="1300" b="1" dirty="0">
                <a:solidFill>
                  <a:srgbClr val="0EA5E9"/>
                </a:solidFill>
              </a:rPr>
              <a:t>Data Models</a:t>
            </a:r>
            <a:endParaRPr lang="en-US" sz="1300" dirty="0"/>
          </a:p>
        </p:txBody>
      </p:sp>
      <p:sp>
        <p:nvSpPr>
          <p:cNvPr id="14" name="Text 12"/>
          <p:cNvSpPr/>
          <p:nvPr/>
        </p:nvSpPr>
        <p:spPr>
          <a:xfrm>
            <a:off x="530352" y="3721608"/>
            <a:ext cx="3840480" cy="822960"/>
          </a:xfrm>
          <a:prstGeom prst="rect">
            <a:avLst/>
          </a:prstGeom>
          <a:noFill/>
          <a:ln/>
        </p:spPr>
        <p:txBody>
          <a:bodyPr wrap="square" lIns="0" tIns="0" rIns="0" bIns="0" rtlCol="0" anchor="ctr"/>
          <a:lstStyle/>
          <a:p>
            <a:pPr indent="0" marL="0">
              <a:buNone/>
            </a:pPr>
            <a:r>
              <a:rPr lang="en-US" sz="1100" dirty="0">
                <a:solidFill>
                  <a:srgbClr val="CBD5E1"/>
                </a:solidFill>
              </a:rPr>
              <a:t>User — name, email, role</a:t>
            </a:r>
            <a:endParaRPr lang="en-US" sz="1100" dirty="0"/>
          </a:p>
          <a:p>
            <a:pPr indent="0" marL="0">
              <a:buNone/>
            </a:pPr>
            <a:r>
              <a:rPr lang="en-US" sz="1100" dirty="0">
                <a:solidFill>
                  <a:srgbClr val="CBD5E1"/>
                </a:solidFill>
              </a:rPr>
              <a:t>Task — title, status, priority</a:t>
            </a:r>
            <a:endParaRPr lang="en-US" sz="1100" dirty="0"/>
          </a:p>
          <a:p>
            <a:pPr indent="0" marL="0">
              <a:buNone/>
            </a:pPr>
            <a:r>
              <a:rPr lang="en-US" sz="1100" dirty="0">
                <a:solidFill>
                  <a:srgbClr val="CBD5E1"/>
                </a:solidFill>
              </a:rPr>
              <a:t>Due date &amp; assignment</a:t>
            </a:r>
            <a:endParaRPr lang="en-US" sz="1100" dirty="0"/>
          </a:p>
        </p:txBody>
      </p:sp>
      <p:sp>
        <p:nvSpPr>
          <p:cNvPr id="15" name="Shape 13"/>
          <p:cNvSpPr/>
          <p:nvPr/>
        </p:nvSpPr>
        <p:spPr>
          <a:xfrm>
            <a:off x="4800600" y="3337560"/>
            <a:ext cx="4206240" cy="1325880"/>
          </a:xfrm>
          <a:prstGeom prst="roundRect">
            <a:avLst>
              <a:gd name="adj" fmla="val 6897"/>
            </a:avLst>
          </a:prstGeom>
          <a:solidFill>
            <a:srgbClr val="132040"/>
          </a:solidFill>
          <a:ln w="12700">
            <a:solidFill>
              <a:srgbClr val="1B3A6B"/>
            </a:solidFill>
            <a:prstDash val="solid"/>
          </a:ln>
        </p:spPr>
      </p:sp>
      <p:sp>
        <p:nvSpPr>
          <p:cNvPr id="16" name="Text 14"/>
          <p:cNvSpPr/>
          <p:nvPr/>
        </p:nvSpPr>
        <p:spPr>
          <a:xfrm>
            <a:off x="4965192" y="3429000"/>
            <a:ext cx="3840480" cy="274320"/>
          </a:xfrm>
          <a:prstGeom prst="rect">
            <a:avLst/>
          </a:prstGeom>
          <a:noFill/>
          <a:ln/>
        </p:spPr>
        <p:txBody>
          <a:bodyPr wrap="square" lIns="0" tIns="0" rIns="0" bIns="0" rtlCol="0" anchor="ctr"/>
          <a:lstStyle/>
          <a:p>
            <a:pPr indent="0" marL="0">
              <a:buNone/>
            </a:pPr>
            <a:r>
              <a:rPr lang="en-US" sz="1300" b="1" dirty="0">
                <a:solidFill>
                  <a:srgbClr val="0EA5E9"/>
                </a:solidFill>
              </a:rPr>
              <a:t>Frontend UI</a:t>
            </a:r>
            <a:endParaRPr lang="en-US" sz="1300" dirty="0"/>
          </a:p>
        </p:txBody>
      </p:sp>
      <p:sp>
        <p:nvSpPr>
          <p:cNvPr id="17" name="Text 15"/>
          <p:cNvSpPr/>
          <p:nvPr/>
        </p:nvSpPr>
        <p:spPr>
          <a:xfrm>
            <a:off x="4965192" y="3721608"/>
            <a:ext cx="3840480" cy="822960"/>
          </a:xfrm>
          <a:prstGeom prst="rect">
            <a:avLst/>
          </a:prstGeom>
          <a:noFill/>
          <a:ln/>
        </p:spPr>
        <p:txBody>
          <a:bodyPr wrap="square" lIns="0" tIns="0" rIns="0" bIns="0" rtlCol="0" anchor="ctr"/>
          <a:lstStyle/>
          <a:p>
            <a:pPr indent="0" marL="0">
              <a:buNone/>
            </a:pPr>
            <a:r>
              <a:rPr lang="en-US" sz="1100" dirty="0">
                <a:solidFill>
                  <a:srgbClr val="CBD5E1"/>
                </a:solidFill>
              </a:rPr>
              <a:t>Login / Register page</a:t>
            </a:r>
            <a:endParaRPr lang="en-US" sz="1100" dirty="0"/>
          </a:p>
          <a:p>
            <a:pPr indent="0" marL="0">
              <a:buNone/>
            </a:pPr>
            <a:r>
              <a:rPr lang="en-US" sz="1100" dirty="0">
                <a:solidFill>
                  <a:srgbClr val="CBD5E1"/>
                </a:solidFill>
              </a:rPr>
              <a:t>Task dashboard with stats</a:t>
            </a:r>
            <a:endParaRPr lang="en-US" sz="1100" dirty="0"/>
          </a:p>
          <a:p>
            <a:pPr indent="0" marL="0">
              <a:buNone/>
            </a:pPr>
            <a:r>
              <a:rPr lang="en-US" sz="1100" dirty="0">
                <a:solidFill>
                  <a:srgbClr val="CBD5E1"/>
                </a:solidFill>
              </a:rPr>
              <a:t>Create/Edit modals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228600"/>
            <a:ext cx="2011680" cy="457200"/>
          </a:xfrm>
          <a:prstGeom prst="roundRect">
            <a:avLst>
              <a:gd name="adj" fmla="val 50000"/>
            </a:avLst>
          </a:prstGeom>
          <a:solidFill>
            <a:srgbClr val="0EA5E9"/>
          </a:solidFill>
          <a:ln w="12700">
            <a:solidFill>
              <a:srgbClr val="0EA5E9"/>
            </a:solidFill>
            <a:prstDash val="solid"/>
          </a:ln>
        </p:spPr>
      </p:sp>
      <p:sp>
        <p:nvSpPr>
          <p:cNvPr id="3" name="Text 1"/>
          <p:cNvSpPr/>
          <p:nvPr/>
        </p:nvSpPr>
        <p:spPr>
          <a:xfrm>
            <a:off x="365760" y="228600"/>
            <a:ext cx="2011680" cy="457200"/>
          </a:xfrm>
          <a:prstGeom prst="rect">
            <a:avLst/>
          </a:prstGeom>
          <a:noFill/>
          <a:ln/>
        </p:spPr>
        <p:txBody>
          <a:bodyPr wrap="square" lIns="0" tIns="0" rIns="0" bIns="0" rtlCol="0" anchor="ctr"/>
          <a:lstStyle/>
          <a:p>
            <a:pPr algn="ctr" indent="0" marL="0">
              <a:buNone/>
            </a:pPr>
            <a:r>
              <a:rPr lang="en-US" sz="1300" b="1" dirty="0">
                <a:solidFill>
                  <a:srgbClr val="FFFFFF"/>
                </a:solidFill>
              </a:rPr>
              <a:t>WEEK 4</a:t>
            </a:r>
            <a:endParaRPr lang="en-US" sz="1300" dirty="0"/>
          </a:p>
        </p:txBody>
      </p:sp>
      <p:sp>
        <p:nvSpPr>
          <p:cNvPr id="4" name="Text 2"/>
          <p:cNvSpPr/>
          <p:nvPr/>
        </p:nvSpPr>
        <p:spPr>
          <a:xfrm>
            <a:off x="365760" y="777240"/>
            <a:ext cx="8412480" cy="594360"/>
          </a:xfrm>
          <a:prstGeom prst="rect">
            <a:avLst/>
          </a:prstGeom>
          <a:noFill/>
          <a:ln/>
        </p:spPr>
        <p:txBody>
          <a:bodyPr wrap="square" rtlCol="0" anchor="ctr"/>
          <a:lstStyle/>
          <a:p>
            <a:pPr indent="0" marL="0">
              <a:buNone/>
            </a:pPr>
            <a:r>
              <a:rPr lang="en-US" sz="3000" b="1" dirty="0">
                <a:solidFill>
                  <a:srgbClr val="0A1628"/>
                </a:solidFill>
              </a:rPr>
              <a:t>Advanced Features + Deployment</a:t>
            </a:r>
            <a:endParaRPr lang="en-US" sz="3000" dirty="0"/>
          </a:p>
        </p:txBody>
      </p:sp>
      <p:sp>
        <p:nvSpPr>
          <p:cNvPr id="5" name="Text 3"/>
          <p:cNvSpPr/>
          <p:nvPr/>
        </p:nvSpPr>
        <p:spPr>
          <a:xfrm>
            <a:off x="365760" y="1389888"/>
            <a:ext cx="8229600" cy="320040"/>
          </a:xfrm>
          <a:prstGeom prst="rect">
            <a:avLst/>
          </a:prstGeom>
          <a:noFill/>
          <a:ln/>
        </p:spPr>
        <p:txBody>
          <a:bodyPr wrap="square" rtlCol="0" anchor="ctr"/>
          <a:lstStyle/>
          <a:p>
            <a:pPr indent="0" marL="0">
              <a:buNone/>
            </a:pPr>
            <a:r>
              <a:rPr lang="en-US" sz="1300" dirty="0">
                <a:solidFill>
                  <a:srgbClr val="64748B"/>
                </a:solidFill>
              </a:rPr>
              <a:t>RBAC  •  Notifications  •  Admin Panel  •  Swagger  •  Cloud Deploy</a:t>
            </a:r>
            <a:endParaRPr lang="en-US" sz="1300" dirty="0"/>
          </a:p>
        </p:txBody>
      </p:sp>
      <p:sp>
        <p:nvSpPr>
          <p:cNvPr id="6" name="Shape 4"/>
          <p:cNvSpPr/>
          <p:nvPr/>
        </p:nvSpPr>
        <p:spPr>
          <a:xfrm>
            <a:off x="274320" y="1828800"/>
            <a:ext cx="2743200" cy="1371600"/>
          </a:xfrm>
          <a:prstGeom prst="roundRect">
            <a:avLst>
              <a:gd name="adj" fmla="val 6667"/>
            </a:avLst>
          </a:prstGeom>
          <a:solidFill>
            <a:srgbClr val="F0F7FF"/>
          </a:solidFill>
          <a:ln w="12700">
            <a:solidFill>
              <a:srgbClr val="DBEAFE"/>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411480" y="1938528"/>
            <a:ext cx="2468880" cy="320040"/>
          </a:xfrm>
          <a:prstGeom prst="rect">
            <a:avLst/>
          </a:prstGeom>
          <a:noFill/>
          <a:ln/>
        </p:spPr>
        <p:txBody>
          <a:bodyPr wrap="square" lIns="0" tIns="0" rIns="0" bIns="0" rtlCol="0" anchor="ctr"/>
          <a:lstStyle/>
          <a:p>
            <a:pPr indent="0" marL="0">
              <a:buNone/>
            </a:pPr>
            <a:r>
              <a:rPr lang="en-US" sz="1300" b="1" dirty="0">
                <a:solidFill>
                  <a:srgbClr val="1B4F9C"/>
                </a:solidFill>
              </a:rPr>
              <a:t>🔐  RBAC</a:t>
            </a:r>
            <a:endParaRPr lang="en-US" sz="1300" dirty="0"/>
          </a:p>
        </p:txBody>
      </p:sp>
      <p:sp>
        <p:nvSpPr>
          <p:cNvPr id="8" name="Text 6"/>
          <p:cNvSpPr/>
          <p:nvPr/>
        </p:nvSpPr>
        <p:spPr>
          <a:xfrm>
            <a:off x="411480" y="2286000"/>
            <a:ext cx="2468880" cy="777240"/>
          </a:xfrm>
          <a:prstGeom prst="rect">
            <a:avLst/>
          </a:prstGeom>
          <a:noFill/>
          <a:ln/>
        </p:spPr>
        <p:txBody>
          <a:bodyPr wrap="square" lIns="0" tIns="0" rIns="0" bIns="0" rtlCol="0" anchor="ctr"/>
          <a:lstStyle/>
          <a:p>
            <a:pPr indent="0" marL="0">
              <a:buNone/>
            </a:pPr>
            <a:r>
              <a:rPr lang="en-US" sz="1100" dirty="0">
                <a:solidFill>
                  <a:srgbClr val="1E293B"/>
                </a:solidFill>
              </a:rPr>
              <a:t>@PreAuthorize on all endpoints</a:t>
            </a:r>
            <a:endParaRPr lang="en-US" sz="1100" dirty="0"/>
          </a:p>
          <a:p>
            <a:pPr indent="0" marL="0">
              <a:buNone/>
            </a:pPr>
            <a:r>
              <a:rPr lang="en-US" sz="1100" dirty="0">
                <a:solidFill>
                  <a:srgbClr val="1E293B"/>
                </a:solidFill>
              </a:rPr>
              <a:t>ADMIN vs USER access control</a:t>
            </a:r>
            <a:endParaRPr lang="en-US" sz="1100" dirty="0"/>
          </a:p>
        </p:txBody>
      </p:sp>
      <p:sp>
        <p:nvSpPr>
          <p:cNvPr id="9" name="Shape 7"/>
          <p:cNvSpPr/>
          <p:nvPr/>
        </p:nvSpPr>
        <p:spPr>
          <a:xfrm>
            <a:off x="3218688" y="1828800"/>
            <a:ext cx="2743200" cy="1371600"/>
          </a:xfrm>
          <a:prstGeom prst="roundRect">
            <a:avLst>
              <a:gd name="adj" fmla="val 6667"/>
            </a:avLst>
          </a:prstGeom>
          <a:solidFill>
            <a:srgbClr val="F0F7FF"/>
          </a:solidFill>
          <a:ln w="12700">
            <a:solidFill>
              <a:srgbClr val="DBEAFE"/>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3355848" y="1938528"/>
            <a:ext cx="2468880" cy="320040"/>
          </a:xfrm>
          <a:prstGeom prst="rect">
            <a:avLst/>
          </a:prstGeom>
          <a:noFill/>
          <a:ln/>
        </p:spPr>
        <p:txBody>
          <a:bodyPr wrap="square" lIns="0" tIns="0" rIns="0" bIns="0" rtlCol="0" anchor="ctr"/>
          <a:lstStyle/>
          <a:p>
            <a:pPr indent="0" marL="0">
              <a:buNone/>
            </a:pPr>
            <a:r>
              <a:rPr lang="en-US" sz="1300" b="1" dirty="0">
                <a:solidFill>
                  <a:srgbClr val="1B4F9C"/>
                </a:solidFill>
              </a:rPr>
              <a:t>👑  Admin Panel</a:t>
            </a:r>
            <a:endParaRPr lang="en-US" sz="1300" dirty="0"/>
          </a:p>
        </p:txBody>
      </p:sp>
      <p:sp>
        <p:nvSpPr>
          <p:cNvPr id="11" name="Text 9"/>
          <p:cNvSpPr/>
          <p:nvPr/>
        </p:nvSpPr>
        <p:spPr>
          <a:xfrm>
            <a:off x="3355848" y="2286000"/>
            <a:ext cx="2468880" cy="777240"/>
          </a:xfrm>
          <a:prstGeom prst="rect">
            <a:avLst/>
          </a:prstGeom>
          <a:noFill/>
          <a:ln/>
        </p:spPr>
        <p:txBody>
          <a:bodyPr wrap="square" lIns="0" tIns="0" rIns="0" bIns="0" rtlCol="0" anchor="ctr"/>
          <a:lstStyle/>
          <a:p>
            <a:pPr indent="0" marL="0">
              <a:buNone/>
            </a:pPr>
            <a:r>
              <a:rPr lang="en-US" sz="1100" dirty="0">
                <a:solidFill>
                  <a:srgbClr val="1E293B"/>
                </a:solidFill>
              </a:rPr>
              <a:t>User management UI</a:t>
            </a:r>
            <a:endParaRPr lang="en-US" sz="1100" dirty="0"/>
          </a:p>
          <a:p>
            <a:pPr indent="0" marL="0">
              <a:buNone/>
            </a:pPr>
            <a:r>
              <a:rPr lang="en-US" sz="1100" dirty="0">
                <a:solidFill>
                  <a:srgbClr val="1E293B"/>
                </a:solidFill>
              </a:rPr>
              <a:t>Promote/demote/delete users</a:t>
            </a:r>
            <a:endParaRPr lang="en-US" sz="1100" dirty="0"/>
          </a:p>
        </p:txBody>
      </p:sp>
      <p:sp>
        <p:nvSpPr>
          <p:cNvPr id="12" name="Shape 10"/>
          <p:cNvSpPr/>
          <p:nvPr/>
        </p:nvSpPr>
        <p:spPr>
          <a:xfrm>
            <a:off x="6163056" y="1828800"/>
            <a:ext cx="2743200" cy="1371600"/>
          </a:xfrm>
          <a:prstGeom prst="roundRect">
            <a:avLst>
              <a:gd name="adj" fmla="val 6667"/>
            </a:avLst>
          </a:prstGeom>
          <a:solidFill>
            <a:srgbClr val="F0F7FF"/>
          </a:solidFill>
          <a:ln w="12700">
            <a:solidFill>
              <a:srgbClr val="DBEAFE"/>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6300216" y="1938528"/>
            <a:ext cx="2468880" cy="320040"/>
          </a:xfrm>
          <a:prstGeom prst="rect">
            <a:avLst/>
          </a:prstGeom>
          <a:noFill/>
          <a:ln/>
        </p:spPr>
        <p:txBody>
          <a:bodyPr wrap="square" lIns="0" tIns="0" rIns="0" bIns="0" rtlCol="0" anchor="ctr"/>
          <a:lstStyle/>
          <a:p>
            <a:pPr indent="0" marL="0">
              <a:buNone/>
            </a:pPr>
            <a:r>
              <a:rPr lang="en-US" sz="1300" b="1" dirty="0">
                <a:solidFill>
                  <a:srgbClr val="1B4F9C"/>
                </a:solidFill>
              </a:rPr>
              <a:t>⏰  Overdue Detection</a:t>
            </a:r>
            <a:endParaRPr lang="en-US" sz="1300" dirty="0"/>
          </a:p>
        </p:txBody>
      </p:sp>
      <p:sp>
        <p:nvSpPr>
          <p:cNvPr id="14" name="Text 12"/>
          <p:cNvSpPr/>
          <p:nvPr/>
        </p:nvSpPr>
        <p:spPr>
          <a:xfrm>
            <a:off x="6300216" y="2286000"/>
            <a:ext cx="2468880" cy="777240"/>
          </a:xfrm>
          <a:prstGeom prst="rect">
            <a:avLst/>
          </a:prstGeom>
          <a:noFill/>
          <a:ln/>
        </p:spPr>
        <p:txBody>
          <a:bodyPr wrap="square" lIns="0" tIns="0" rIns="0" bIns="0" rtlCol="0" anchor="ctr"/>
          <a:lstStyle/>
          <a:p>
            <a:pPr indent="0" marL="0">
              <a:buNone/>
            </a:pPr>
            <a:r>
              <a:rPr lang="en-US" sz="1100" dirty="0">
                <a:solidFill>
                  <a:srgbClr val="1E293B"/>
                </a:solidFill>
              </a:rPr>
              <a:t>Overdue badge on task cards</a:t>
            </a:r>
            <a:endParaRPr lang="en-US" sz="1100" dirty="0"/>
          </a:p>
          <a:p>
            <a:pPr indent="0" marL="0">
              <a:buNone/>
            </a:pPr>
            <a:r>
              <a:rPr lang="en-US" sz="1100" dirty="0">
                <a:solidFill>
                  <a:srgbClr val="1E293B"/>
                </a:solidFill>
              </a:rPr>
              <a:t>Daily 8AM alert scheduler</a:t>
            </a:r>
            <a:endParaRPr lang="en-US" sz="1100" dirty="0"/>
          </a:p>
        </p:txBody>
      </p:sp>
      <p:sp>
        <p:nvSpPr>
          <p:cNvPr id="15" name="Shape 13"/>
          <p:cNvSpPr/>
          <p:nvPr/>
        </p:nvSpPr>
        <p:spPr>
          <a:xfrm>
            <a:off x="274320" y="3337560"/>
            <a:ext cx="2743200" cy="1371600"/>
          </a:xfrm>
          <a:prstGeom prst="roundRect">
            <a:avLst>
              <a:gd name="adj" fmla="val 6667"/>
            </a:avLst>
          </a:prstGeom>
          <a:solidFill>
            <a:srgbClr val="F0F7FF"/>
          </a:solidFill>
          <a:ln w="12700">
            <a:solidFill>
              <a:srgbClr val="DBEAFE"/>
            </a:solidFill>
            <a:prstDash val="solid"/>
          </a:ln>
          <a:effectLst>
            <a:outerShdw sx="100000" sy="100000" kx="0" ky="0" algn="bl" rotWithShape="0" blurRad="101600" dist="38100" dir="2700000">
              <a:srgbClr val="000000">
                <a:alpha val="12000"/>
              </a:srgbClr>
            </a:outerShdw>
          </a:effectLst>
        </p:spPr>
      </p:sp>
      <p:sp>
        <p:nvSpPr>
          <p:cNvPr id="16" name="Text 14"/>
          <p:cNvSpPr/>
          <p:nvPr/>
        </p:nvSpPr>
        <p:spPr>
          <a:xfrm>
            <a:off x="411480" y="3447288"/>
            <a:ext cx="2468880" cy="320040"/>
          </a:xfrm>
          <a:prstGeom prst="rect">
            <a:avLst/>
          </a:prstGeom>
          <a:noFill/>
          <a:ln/>
        </p:spPr>
        <p:txBody>
          <a:bodyPr wrap="square" lIns="0" tIns="0" rIns="0" bIns="0" rtlCol="0" anchor="ctr"/>
          <a:lstStyle/>
          <a:p>
            <a:pPr indent="0" marL="0">
              <a:buNone/>
            </a:pPr>
            <a:r>
              <a:rPr lang="en-US" sz="1300" b="1" dirty="0">
                <a:solidFill>
                  <a:srgbClr val="1B4F9C"/>
                </a:solidFill>
              </a:rPr>
              <a:t>📧  Notifications</a:t>
            </a:r>
            <a:endParaRPr lang="en-US" sz="1300" dirty="0"/>
          </a:p>
        </p:txBody>
      </p:sp>
      <p:sp>
        <p:nvSpPr>
          <p:cNvPr id="17" name="Text 15"/>
          <p:cNvSpPr/>
          <p:nvPr/>
        </p:nvSpPr>
        <p:spPr>
          <a:xfrm>
            <a:off x="411480" y="3794760"/>
            <a:ext cx="2468880" cy="777240"/>
          </a:xfrm>
          <a:prstGeom prst="rect">
            <a:avLst/>
          </a:prstGeom>
          <a:noFill/>
          <a:ln/>
        </p:spPr>
        <p:txBody>
          <a:bodyPr wrap="square" lIns="0" tIns="0" rIns="0" bIns="0" rtlCol="0" anchor="ctr"/>
          <a:lstStyle/>
          <a:p>
            <a:pPr indent="0" marL="0">
              <a:buNone/>
            </a:pPr>
            <a:r>
              <a:rPr lang="en-US" sz="1100" dirty="0">
                <a:solidFill>
                  <a:srgbClr val="1E293B"/>
                </a:solidFill>
              </a:rPr>
              <a:t>Email on task assignment</a:t>
            </a:r>
            <a:endParaRPr lang="en-US" sz="1100" dirty="0"/>
          </a:p>
          <a:p>
            <a:pPr indent="0" marL="0">
              <a:buNone/>
            </a:pPr>
            <a:r>
              <a:rPr lang="en-US" sz="1100" dirty="0">
                <a:solidFill>
                  <a:srgbClr val="1E293B"/>
                </a:solidFill>
              </a:rPr>
              <a:t>Async non-blocking delivery</a:t>
            </a:r>
            <a:endParaRPr lang="en-US" sz="1100" dirty="0"/>
          </a:p>
        </p:txBody>
      </p:sp>
      <p:sp>
        <p:nvSpPr>
          <p:cNvPr id="18" name="Shape 16"/>
          <p:cNvSpPr/>
          <p:nvPr/>
        </p:nvSpPr>
        <p:spPr>
          <a:xfrm>
            <a:off x="3218688" y="3337560"/>
            <a:ext cx="2743200" cy="1371600"/>
          </a:xfrm>
          <a:prstGeom prst="roundRect">
            <a:avLst>
              <a:gd name="adj" fmla="val 6667"/>
            </a:avLst>
          </a:prstGeom>
          <a:solidFill>
            <a:srgbClr val="F0F7FF"/>
          </a:solidFill>
          <a:ln w="12700">
            <a:solidFill>
              <a:srgbClr val="DBEAFE"/>
            </a:solidFill>
            <a:prstDash val="solid"/>
          </a:ln>
          <a:effectLst>
            <a:outerShdw sx="100000" sy="100000" kx="0" ky="0" algn="bl" rotWithShape="0" blurRad="101600" dist="38100" dir="2700000">
              <a:srgbClr val="000000">
                <a:alpha val="12000"/>
              </a:srgbClr>
            </a:outerShdw>
          </a:effectLst>
        </p:spPr>
      </p:sp>
      <p:sp>
        <p:nvSpPr>
          <p:cNvPr id="19" name="Text 17"/>
          <p:cNvSpPr/>
          <p:nvPr/>
        </p:nvSpPr>
        <p:spPr>
          <a:xfrm>
            <a:off x="3355848" y="3447288"/>
            <a:ext cx="2468880" cy="320040"/>
          </a:xfrm>
          <a:prstGeom prst="rect">
            <a:avLst/>
          </a:prstGeom>
          <a:noFill/>
          <a:ln/>
        </p:spPr>
        <p:txBody>
          <a:bodyPr wrap="square" lIns="0" tIns="0" rIns="0" bIns="0" rtlCol="0" anchor="ctr"/>
          <a:lstStyle/>
          <a:p>
            <a:pPr indent="0" marL="0">
              <a:buNone/>
            </a:pPr>
            <a:r>
              <a:rPr lang="en-US" sz="1300" b="1" dirty="0">
                <a:solidFill>
                  <a:srgbClr val="1B4F9C"/>
                </a:solidFill>
              </a:rPr>
              <a:t>📋  Swagger Docs</a:t>
            </a:r>
            <a:endParaRPr lang="en-US" sz="1300" dirty="0"/>
          </a:p>
        </p:txBody>
      </p:sp>
      <p:sp>
        <p:nvSpPr>
          <p:cNvPr id="20" name="Text 18"/>
          <p:cNvSpPr/>
          <p:nvPr/>
        </p:nvSpPr>
        <p:spPr>
          <a:xfrm>
            <a:off x="3355848" y="3794760"/>
            <a:ext cx="2468880" cy="777240"/>
          </a:xfrm>
          <a:prstGeom prst="rect">
            <a:avLst/>
          </a:prstGeom>
          <a:noFill/>
          <a:ln/>
        </p:spPr>
        <p:txBody>
          <a:bodyPr wrap="square" lIns="0" tIns="0" rIns="0" bIns="0" rtlCol="0" anchor="ctr"/>
          <a:lstStyle/>
          <a:p>
            <a:pPr indent="0" marL="0">
              <a:buNone/>
            </a:pPr>
            <a:r>
              <a:rPr lang="en-US" sz="1100" dirty="0">
                <a:solidFill>
                  <a:srgbClr val="1E293B"/>
                </a:solidFill>
              </a:rPr>
              <a:t>Live API docs at /swagger-ui</a:t>
            </a:r>
            <a:endParaRPr lang="en-US" sz="1100" dirty="0"/>
          </a:p>
          <a:p>
            <a:pPr indent="0" marL="0">
              <a:buNone/>
            </a:pPr>
            <a:r>
              <a:rPr lang="en-US" sz="1100" dirty="0">
                <a:solidFill>
                  <a:srgbClr val="1E293B"/>
                </a:solidFill>
              </a:rPr>
              <a:t>JWT auth integrated in UI</a:t>
            </a:r>
            <a:endParaRPr lang="en-US" sz="1100" dirty="0"/>
          </a:p>
        </p:txBody>
      </p:sp>
      <p:sp>
        <p:nvSpPr>
          <p:cNvPr id="21" name="Shape 19"/>
          <p:cNvSpPr/>
          <p:nvPr/>
        </p:nvSpPr>
        <p:spPr>
          <a:xfrm>
            <a:off x="6163056" y="3337560"/>
            <a:ext cx="2743200" cy="1371600"/>
          </a:xfrm>
          <a:prstGeom prst="roundRect">
            <a:avLst>
              <a:gd name="adj" fmla="val 6667"/>
            </a:avLst>
          </a:prstGeom>
          <a:solidFill>
            <a:srgbClr val="F0F7FF"/>
          </a:solidFill>
          <a:ln w="12700">
            <a:solidFill>
              <a:srgbClr val="DBEAFE"/>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6300216" y="3447288"/>
            <a:ext cx="2468880" cy="320040"/>
          </a:xfrm>
          <a:prstGeom prst="rect">
            <a:avLst/>
          </a:prstGeom>
          <a:noFill/>
          <a:ln/>
        </p:spPr>
        <p:txBody>
          <a:bodyPr wrap="square" lIns="0" tIns="0" rIns="0" bIns="0" rtlCol="0" anchor="ctr"/>
          <a:lstStyle/>
          <a:p>
            <a:pPr indent="0" marL="0">
              <a:buNone/>
            </a:pPr>
            <a:r>
              <a:rPr lang="en-US" sz="1300" b="1" dirty="0">
                <a:solidFill>
                  <a:srgbClr val="1B4F9C"/>
                </a:solidFill>
              </a:rPr>
              <a:t>🚀  Deployment</a:t>
            </a:r>
            <a:endParaRPr lang="en-US" sz="1300" dirty="0"/>
          </a:p>
        </p:txBody>
      </p:sp>
      <p:sp>
        <p:nvSpPr>
          <p:cNvPr id="23" name="Text 21"/>
          <p:cNvSpPr/>
          <p:nvPr/>
        </p:nvSpPr>
        <p:spPr>
          <a:xfrm>
            <a:off x="6300216" y="3794760"/>
            <a:ext cx="2468880" cy="777240"/>
          </a:xfrm>
          <a:prstGeom prst="rect">
            <a:avLst/>
          </a:prstGeom>
          <a:noFill/>
          <a:ln/>
        </p:spPr>
        <p:txBody>
          <a:bodyPr wrap="square" lIns="0" tIns="0" rIns="0" bIns="0" rtlCol="0" anchor="ctr"/>
          <a:lstStyle/>
          <a:p>
            <a:pPr indent="0" marL="0">
              <a:buNone/>
            </a:pPr>
            <a:r>
              <a:rPr lang="en-US" sz="1100" dirty="0">
                <a:solidFill>
                  <a:srgbClr val="1E293B"/>
                </a:solidFill>
              </a:rPr>
              <a:t>Docker + Render cloud</a:t>
            </a:r>
            <a:endParaRPr lang="en-US" sz="1100" dirty="0"/>
          </a:p>
          <a:p>
            <a:pPr indent="0" marL="0">
              <a:buNone/>
            </a:pPr>
            <a:r>
              <a:rPr lang="en-US" sz="1100" dirty="0">
                <a:solidFill>
                  <a:srgbClr val="1E293B"/>
                </a:solidFill>
              </a:rPr>
              <a:t>Live public URL</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rtlCol="0" anchor="ctr"/>
          <a:lstStyle/>
          <a:p>
            <a:pPr indent="0" marL="0">
              <a:buNone/>
            </a:pPr>
            <a:r>
              <a:rPr lang="en-US" sz="3000" b="1" dirty="0">
                <a:solidFill>
                  <a:srgbClr val="0A1628"/>
                </a:solidFill>
              </a:rPr>
              <a:t>Role-Based Access Control</a:t>
            </a:r>
            <a:endParaRPr lang="en-US" sz="3000" dirty="0"/>
          </a:p>
        </p:txBody>
      </p:sp>
      <p:sp>
        <p:nvSpPr>
          <p:cNvPr id="3" name="Text 1"/>
          <p:cNvSpPr/>
          <p:nvPr/>
        </p:nvSpPr>
        <p:spPr>
          <a:xfrm>
            <a:off x="457200" y="804672"/>
            <a:ext cx="8229600" cy="274320"/>
          </a:xfrm>
          <a:prstGeom prst="rect">
            <a:avLst/>
          </a:prstGeom>
          <a:noFill/>
          <a:ln/>
        </p:spPr>
        <p:txBody>
          <a:bodyPr wrap="square" rtlCol="0" anchor="ctr"/>
          <a:lstStyle/>
          <a:p>
            <a:pPr indent="0" marL="0">
              <a:buNone/>
            </a:pPr>
            <a:r>
              <a:rPr lang="en-US" sz="1300" dirty="0">
                <a:solidFill>
                  <a:srgbClr val="64748B"/>
                </a:solidFill>
              </a:rPr>
              <a:t>Who can do what in the system</a:t>
            </a:r>
            <a:endParaRPr lang="en-US" sz="1300" dirty="0"/>
          </a:p>
        </p:txBody>
      </p:sp>
      <p:sp>
        <p:nvSpPr>
          <p:cNvPr id="4" name="Shape 2"/>
          <p:cNvSpPr/>
          <p:nvPr/>
        </p:nvSpPr>
        <p:spPr>
          <a:xfrm>
            <a:off x="365760" y="1188720"/>
            <a:ext cx="8412480" cy="411480"/>
          </a:xfrm>
          <a:prstGeom prst="roundRect">
            <a:avLst/>
          </a:prstGeom>
          <a:solidFill>
            <a:srgbClr val="1B4F9C"/>
          </a:solidFill>
          <a:ln w="12700">
            <a:solidFill>
              <a:srgbClr val="1B4F9C"/>
            </a:solidFill>
            <a:prstDash val="solid"/>
          </a:ln>
        </p:spPr>
      </p:sp>
      <p:sp>
        <p:nvSpPr>
          <p:cNvPr id="5" name="Text 3"/>
          <p:cNvSpPr/>
          <p:nvPr/>
        </p:nvSpPr>
        <p:spPr>
          <a:xfrm>
            <a:off x="457200" y="1188720"/>
            <a:ext cx="5029200" cy="411480"/>
          </a:xfrm>
          <a:prstGeom prst="rect">
            <a:avLst/>
          </a:prstGeom>
          <a:noFill/>
          <a:ln/>
        </p:spPr>
        <p:txBody>
          <a:bodyPr wrap="square" lIns="0" tIns="0" rIns="0" bIns="0" rtlCol="0" anchor="ctr"/>
          <a:lstStyle/>
          <a:p>
            <a:pPr indent="0" marL="0">
              <a:buNone/>
            </a:pPr>
            <a:r>
              <a:rPr lang="en-US" sz="1200" b="1" dirty="0">
                <a:solidFill>
                  <a:srgbClr val="FFFFFF"/>
                </a:solidFill>
              </a:rPr>
              <a:t>Action</a:t>
            </a:r>
            <a:endParaRPr lang="en-US" sz="1200" dirty="0"/>
          </a:p>
        </p:txBody>
      </p:sp>
      <p:sp>
        <p:nvSpPr>
          <p:cNvPr id="6" name="Text 4"/>
          <p:cNvSpPr/>
          <p:nvPr/>
        </p:nvSpPr>
        <p:spPr>
          <a:xfrm>
            <a:off x="5486400" y="1188720"/>
            <a:ext cx="1371600" cy="411480"/>
          </a:xfrm>
          <a:prstGeom prst="rect">
            <a:avLst/>
          </a:prstGeom>
          <a:noFill/>
          <a:ln/>
        </p:spPr>
        <p:txBody>
          <a:bodyPr wrap="square" lIns="0" tIns="0" rIns="0" bIns="0" rtlCol="0" anchor="ctr"/>
          <a:lstStyle/>
          <a:p>
            <a:pPr algn="ctr" indent="0" marL="0">
              <a:buNone/>
            </a:pPr>
            <a:r>
              <a:rPr lang="en-US" sz="1200" b="1" dirty="0">
                <a:solidFill>
                  <a:srgbClr val="FFFFFF"/>
                </a:solidFill>
              </a:rPr>
              <a:t>USER</a:t>
            </a:r>
            <a:endParaRPr lang="en-US" sz="1200" dirty="0"/>
          </a:p>
        </p:txBody>
      </p:sp>
      <p:sp>
        <p:nvSpPr>
          <p:cNvPr id="7" name="Text 5"/>
          <p:cNvSpPr/>
          <p:nvPr/>
        </p:nvSpPr>
        <p:spPr>
          <a:xfrm>
            <a:off x="7132320" y="1188720"/>
            <a:ext cx="1554480" cy="411480"/>
          </a:xfrm>
          <a:prstGeom prst="rect">
            <a:avLst/>
          </a:prstGeom>
          <a:noFill/>
          <a:ln/>
        </p:spPr>
        <p:txBody>
          <a:bodyPr wrap="square" lIns="0" tIns="0" rIns="0" bIns="0" rtlCol="0" anchor="ctr"/>
          <a:lstStyle/>
          <a:p>
            <a:pPr algn="ctr" indent="0" marL="0">
              <a:buNone/>
            </a:pPr>
            <a:r>
              <a:rPr lang="en-US" sz="1200" b="1" dirty="0">
                <a:solidFill>
                  <a:srgbClr val="FFFFFF"/>
                </a:solidFill>
              </a:rPr>
              <a:t>ADMIN</a:t>
            </a:r>
            <a:endParaRPr lang="en-US" sz="1200" dirty="0"/>
          </a:p>
        </p:txBody>
      </p:sp>
      <p:sp>
        <p:nvSpPr>
          <p:cNvPr id="8" name="Shape 6"/>
          <p:cNvSpPr/>
          <p:nvPr/>
        </p:nvSpPr>
        <p:spPr>
          <a:xfrm>
            <a:off x="365760" y="1600200"/>
            <a:ext cx="8412480" cy="457200"/>
          </a:xfrm>
          <a:prstGeom prst="rect">
            <a:avLst/>
          </a:prstGeom>
          <a:solidFill>
            <a:srgbClr val="F0F7FF"/>
          </a:solidFill>
          <a:ln w="12700">
            <a:solidFill>
              <a:srgbClr val="E2E8F0"/>
            </a:solidFill>
            <a:prstDash val="solid"/>
          </a:ln>
        </p:spPr>
      </p:sp>
      <p:sp>
        <p:nvSpPr>
          <p:cNvPr id="9" name="Text 7"/>
          <p:cNvSpPr/>
          <p:nvPr/>
        </p:nvSpPr>
        <p:spPr>
          <a:xfrm>
            <a:off x="502920" y="16002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Register / Login</a:t>
            </a:r>
            <a:endParaRPr lang="en-US" sz="1200" dirty="0"/>
          </a:p>
        </p:txBody>
      </p:sp>
      <p:sp>
        <p:nvSpPr>
          <p:cNvPr id="10" name="Text 8"/>
          <p:cNvSpPr/>
          <p:nvPr/>
        </p:nvSpPr>
        <p:spPr>
          <a:xfrm>
            <a:off x="5486400" y="1600200"/>
            <a:ext cx="137160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11" name="Text 9"/>
          <p:cNvSpPr/>
          <p:nvPr/>
        </p:nvSpPr>
        <p:spPr>
          <a:xfrm>
            <a:off x="7132320" y="1600200"/>
            <a:ext cx="155448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12" name="Shape 10"/>
          <p:cNvSpPr/>
          <p:nvPr/>
        </p:nvSpPr>
        <p:spPr>
          <a:xfrm>
            <a:off x="365760" y="2057400"/>
            <a:ext cx="8412480" cy="457200"/>
          </a:xfrm>
          <a:prstGeom prst="rect">
            <a:avLst/>
          </a:prstGeom>
          <a:solidFill>
            <a:srgbClr val="F8FAFC"/>
          </a:solidFill>
          <a:ln w="12700">
            <a:solidFill>
              <a:srgbClr val="E2E8F0"/>
            </a:solidFill>
            <a:prstDash val="solid"/>
          </a:ln>
        </p:spPr>
      </p:sp>
      <p:sp>
        <p:nvSpPr>
          <p:cNvPr id="13" name="Text 11"/>
          <p:cNvSpPr/>
          <p:nvPr/>
        </p:nvSpPr>
        <p:spPr>
          <a:xfrm>
            <a:off x="502920" y="20574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Create &amp; update own tasks</a:t>
            </a:r>
            <a:endParaRPr lang="en-US" sz="1200" dirty="0"/>
          </a:p>
        </p:txBody>
      </p:sp>
      <p:sp>
        <p:nvSpPr>
          <p:cNvPr id="14" name="Text 12"/>
          <p:cNvSpPr/>
          <p:nvPr/>
        </p:nvSpPr>
        <p:spPr>
          <a:xfrm>
            <a:off x="5486400" y="2057400"/>
            <a:ext cx="137160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15" name="Text 13"/>
          <p:cNvSpPr/>
          <p:nvPr/>
        </p:nvSpPr>
        <p:spPr>
          <a:xfrm>
            <a:off x="7132320" y="2057400"/>
            <a:ext cx="155448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16" name="Shape 14"/>
          <p:cNvSpPr/>
          <p:nvPr/>
        </p:nvSpPr>
        <p:spPr>
          <a:xfrm>
            <a:off x="365760" y="2514600"/>
            <a:ext cx="8412480" cy="457200"/>
          </a:xfrm>
          <a:prstGeom prst="rect">
            <a:avLst/>
          </a:prstGeom>
          <a:solidFill>
            <a:srgbClr val="F0F7FF"/>
          </a:solidFill>
          <a:ln w="12700">
            <a:solidFill>
              <a:srgbClr val="E2E8F0"/>
            </a:solidFill>
            <a:prstDash val="solid"/>
          </a:ln>
        </p:spPr>
      </p:sp>
      <p:sp>
        <p:nvSpPr>
          <p:cNvPr id="17" name="Text 15"/>
          <p:cNvSpPr/>
          <p:nvPr/>
        </p:nvSpPr>
        <p:spPr>
          <a:xfrm>
            <a:off x="502920" y="25146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View own tasks only</a:t>
            </a:r>
            <a:endParaRPr lang="en-US" sz="1200" dirty="0"/>
          </a:p>
        </p:txBody>
      </p:sp>
      <p:sp>
        <p:nvSpPr>
          <p:cNvPr id="18" name="Text 16"/>
          <p:cNvSpPr/>
          <p:nvPr/>
        </p:nvSpPr>
        <p:spPr>
          <a:xfrm>
            <a:off x="5486400" y="2514600"/>
            <a:ext cx="137160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19" name="Text 17"/>
          <p:cNvSpPr/>
          <p:nvPr/>
        </p:nvSpPr>
        <p:spPr>
          <a:xfrm>
            <a:off x="7132320" y="2514600"/>
            <a:ext cx="1554480" cy="457200"/>
          </a:xfrm>
          <a:prstGeom prst="rect">
            <a:avLst/>
          </a:prstGeom>
          <a:noFill/>
          <a:ln/>
        </p:spPr>
        <p:txBody>
          <a:bodyPr wrap="square" lIns="0" tIns="0" rIns="0" bIns="0" rtlCol="0" anchor="ctr"/>
          <a:lstStyle/>
          <a:p>
            <a:pPr algn="ctr" indent="0" marL="0">
              <a:buNone/>
            </a:pPr>
            <a:r>
              <a:rPr lang="en-US" sz="1400" b="1" dirty="0">
                <a:solidFill>
                  <a:srgbClr val="EF4444"/>
                </a:solidFill>
              </a:rPr>
              <a:t>✗</a:t>
            </a:r>
            <a:endParaRPr lang="en-US" sz="1400" dirty="0"/>
          </a:p>
        </p:txBody>
      </p:sp>
      <p:sp>
        <p:nvSpPr>
          <p:cNvPr id="20" name="Shape 18"/>
          <p:cNvSpPr/>
          <p:nvPr/>
        </p:nvSpPr>
        <p:spPr>
          <a:xfrm>
            <a:off x="365760" y="2971800"/>
            <a:ext cx="8412480" cy="457200"/>
          </a:xfrm>
          <a:prstGeom prst="rect">
            <a:avLst/>
          </a:prstGeom>
          <a:solidFill>
            <a:srgbClr val="F8FAFC"/>
          </a:solidFill>
          <a:ln w="12700">
            <a:solidFill>
              <a:srgbClr val="E2E8F0"/>
            </a:solidFill>
            <a:prstDash val="solid"/>
          </a:ln>
        </p:spPr>
      </p:sp>
      <p:sp>
        <p:nvSpPr>
          <p:cNvPr id="21" name="Text 19"/>
          <p:cNvSpPr/>
          <p:nvPr/>
        </p:nvSpPr>
        <p:spPr>
          <a:xfrm>
            <a:off x="502920" y="29718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View ALL tasks</a:t>
            </a:r>
            <a:endParaRPr lang="en-US" sz="1200" dirty="0"/>
          </a:p>
        </p:txBody>
      </p:sp>
      <p:sp>
        <p:nvSpPr>
          <p:cNvPr id="22" name="Text 20"/>
          <p:cNvSpPr/>
          <p:nvPr/>
        </p:nvSpPr>
        <p:spPr>
          <a:xfrm>
            <a:off x="5486400" y="2971800"/>
            <a:ext cx="1371600" cy="457200"/>
          </a:xfrm>
          <a:prstGeom prst="rect">
            <a:avLst/>
          </a:prstGeom>
          <a:noFill/>
          <a:ln/>
        </p:spPr>
        <p:txBody>
          <a:bodyPr wrap="square" lIns="0" tIns="0" rIns="0" bIns="0" rtlCol="0" anchor="ctr"/>
          <a:lstStyle/>
          <a:p>
            <a:pPr algn="ctr" indent="0" marL="0">
              <a:buNone/>
            </a:pPr>
            <a:r>
              <a:rPr lang="en-US" sz="1400" b="1" dirty="0">
                <a:solidFill>
                  <a:srgbClr val="EF4444"/>
                </a:solidFill>
              </a:rPr>
              <a:t>✗</a:t>
            </a:r>
            <a:endParaRPr lang="en-US" sz="1400" dirty="0"/>
          </a:p>
        </p:txBody>
      </p:sp>
      <p:sp>
        <p:nvSpPr>
          <p:cNvPr id="23" name="Text 21"/>
          <p:cNvSpPr/>
          <p:nvPr/>
        </p:nvSpPr>
        <p:spPr>
          <a:xfrm>
            <a:off x="7132320" y="2971800"/>
            <a:ext cx="155448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24" name="Shape 22"/>
          <p:cNvSpPr/>
          <p:nvPr/>
        </p:nvSpPr>
        <p:spPr>
          <a:xfrm>
            <a:off x="365760" y="3429000"/>
            <a:ext cx="8412480" cy="457200"/>
          </a:xfrm>
          <a:prstGeom prst="rect">
            <a:avLst/>
          </a:prstGeom>
          <a:solidFill>
            <a:srgbClr val="F0F7FF"/>
          </a:solidFill>
          <a:ln w="12700">
            <a:solidFill>
              <a:srgbClr val="E2E8F0"/>
            </a:solidFill>
            <a:prstDash val="solid"/>
          </a:ln>
        </p:spPr>
      </p:sp>
      <p:sp>
        <p:nvSpPr>
          <p:cNvPr id="25" name="Text 23"/>
          <p:cNvSpPr/>
          <p:nvPr/>
        </p:nvSpPr>
        <p:spPr>
          <a:xfrm>
            <a:off x="502920" y="34290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Assign task to user</a:t>
            </a:r>
            <a:endParaRPr lang="en-US" sz="1200" dirty="0"/>
          </a:p>
        </p:txBody>
      </p:sp>
      <p:sp>
        <p:nvSpPr>
          <p:cNvPr id="26" name="Text 24"/>
          <p:cNvSpPr/>
          <p:nvPr/>
        </p:nvSpPr>
        <p:spPr>
          <a:xfrm>
            <a:off x="5486400" y="3429000"/>
            <a:ext cx="1371600" cy="457200"/>
          </a:xfrm>
          <a:prstGeom prst="rect">
            <a:avLst/>
          </a:prstGeom>
          <a:noFill/>
          <a:ln/>
        </p:spPr>
        <p:txBody>
          <a:bodyPr wrap="square" lIns="0" tIns="0" rIns="0" bIns="0" rtlCol="0" anchor="ctr"/>
          <a:lstStyle/>
          <a:p>
            <a:pPr algn="ctr" indent="0" marL="0">
              <a:buNone/>
            </a:pPr>
            <a:r>
              <a:rPr lang="en-US" sz="1400" b="1" dirty="0">
                <a:solidFill>
                  <a:srgbClr val="EF4444"/>
                </a:solidFill>
              </a:rPr>
              <a:t>✗</a:t>
            </a:r>
            <a:endParaRPr lang="en-US" sz="1400" dirty="0"/>
          </a:p>
        </p:txBody>
      </p:sp>
      <p:sp>
        <p:nvSpPr>
          <p:cNvPr id="27" name="Text 25"/>
          <p:cNvSpPr/>
          <p:nvPr/>
        </p:nvSpPr>
        <p:spPr>
          <a:xfrm>
            <a:off x="7132320" y="3429000"/>
            <a:ext cx="155448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28" name="Shape 26"/>
          <p:cNvSpPr/>
          <p:nvPr/>
        </p:nvSpPr>
        <p:spPr>
          <a:xfrm>
            <a:off x="365760" y="3886200"/>
            <a:ext cx="8412480" cy="457200"/>
          </a:xfrm>
          <a:prstGeom prst="rect">
            <a:avLst/>
          </a:prstGeom>
          <a:solidFill>
            <a:srgbClr val="F8FAFC"/>
          </a:solidFill>
          <a:ln w="12700">
            <a:solidFill>
              <a:srgbClr val="E2E8F0"/>
            </a:solidFill>
            <a:prstDash val="solid"/>
          </a:ln>
        </p:spPr>
      </p:sp>
      <p:sp>
        <p:nvSpPr>
          <p:cNvPr id="29" name="Text 27"/>
          <p:cNvSpPr/>
          <p:nvPr/>
        </p:nvSpPr>
        <p:spPr>
          <a:xfrm>
            <a:off x="502920" y="38862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Manage users (promote/delete)</a:t>
            </a:r>
            <a:endParaRPr lang="en-US" sz="1200" dirty="0"/>
          </a:p>
        </p:txBody>
      </p:sp>
      <p:sp>
        <p:nvSpPr>
          <p:cNvPr id="30" name="Text 28"/>
          <p:cNvSpPr/>
          <p:nvPr/>
        </p:nvSpPr>
        <p:spPr>
          <a:xfrm>
            <a:off x="5486400" y="3886200"/>
            <a:ext cx="1371600" cy="457200"/>
          </a:xfrm>
          <a:prstGeom prst="rect">
            <a:avLst/>
          </a:prstGeom>
          <a:noFill/>
          <a:ln/>
        </p:spPr>
        <p:txBody>
          <a:bodyPr wrap="square" lIns="0" tIns="0" rIns="0" bIns="0" rtlCol="0" anchor="ctr"/>
          <a:lstStyle/>
          <a:p>
            <a:pPr algn="ctr" indent="0" marL="0">
              <a:buNone/>
            </a:pPr>
            <a:r>
              <a:rPr lang="en-US" sz="1400" b="1" dirty="0">
                <a:solidFill>
                  <a:srgbClr val="EF4444"/>
                </a:solidFill>
              </a:rPr>
              <a:t>✗</a:t>
            </a:r>
            <a:endParaRPr lang="en-US" sz="1400" dirty="0"/>
          </a:p>
        </p:txBody>
      </p:sp>
      <p:sp>
        <p:nvSpPr>
          <p:cNvPr id="31" name="Text 29"/>
          <p:cNvSpPr/>
          <p:nvPr/>
        </p:nvSpPr>
        <p:spPr>
          <a:xfrm>
            <a:off x="7132320" y="3886200"/>
            <a:ext cx="155448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
        <p:nvSpPr>
          <p:cNvPr id="32" name="Shape 30"/>
          <p:cNvSpPr/>
          <p:nvPr/>
        </p:nvSpPr>
        <p:spPr>
          <a:xfrm>
            <a:off x="365760" y="4343400"/>
            <a:ext cx="8412480" cy="457200"/>
          </a:xfrm>
          <a:prstGeom prst="rect">
            <a:avLst/>
          </a:prstGeom>
          <a:solidFill>
            <a:srgbClr val="F0F7FF"/>
          </a:solidFill>
          <a:ln w="12700">
            <a:solidFill>
              <a:srgbClr val="E2E8F0"/>
            </a:solidFill>
            <a:prstDash val="solid"/>
          </a:ln>
        </p:spPr>
      </p:sp>
      <p:sp>
        <p:nvSpPr>
          <p:cNvPr id="33" name="Text 31"/>
          <p:cNvSpPr/>
          <p:nvPr/>
        </p:nvSpPr>
        <p:spPr>
          <a:xfrm>
            <a:off x="502920" y="4343400"/>
            <a:ext cx="4846320" cy="457200"/>
          </a:xfrm>
          <a:prstGeom prst="rect">
            <a:avLst/>
          </a:prstGeom>
          <a:noFill/>
          <a:ln/>
        </p:spPr>
        <p:txBody>
          <a:bodyPr wrap="square" lIns="0" tIns="0" rIns="0" bIns="0" rtlCol="0" anchor="ctr"/>
          <a:lstStyle/>
          <a:p>
            <a:pPr indent="0" marL="0">
              <a:buNone/>
            </a:pPr>
            <a:r>
              <a:rPr lang="en-US" sz="1200" dirty="0">
                <a:solidFill>
                  <a:srgbClr val="1E293B"/>
                </a:solidFill>
              </a:rPr>
              <a:t>View dashboard statistics</a:t>
            </a:r>
            <a:endParaRPr lang="en-US" sz="1200" dirty="0"/>
          </a:p>
        </p:txBody>
      </p:sp>
      <p:sp>
        <p:nvSpPr>
          <p:cNvPr id="34" name="Text 32"/>
          <p:cNvSpPr/>
          <p:nvPr/>
        </p:nvSpPr>
        <p:spPr>
          <a:xfrm>
            <a:off x="5486400" y="4343400"/>
            <a:ext cx="1371600" cy="457200"/>
          </a:xfrm>
          <a:prstGeom prst="rect">
            <a:avLst/>
          </a:prstGeom>
          <a:noFill/>
          <a:ln/>
        </p:spPr>
        <p:txBody>
          <a:bodyPr wrap="square" lIns="0" tIns="0" rIns="0" bIns="0" rtlCol="0" anchor="ctr"/>
          <a:lstStyle/>
          <a:p>
            <a:pPr algn="ctr" indent="0" marL="0">
              <a:buNone/>
            </a:pPr>
            <a:r>
              <a:rPr lang="en-US" sz="1400" b="1" dirty="0">
                <a:solidFill>
                  <a:srgbClr val="EF4444"/>
                </a:solidFill>
              </a:rPr>
              <a:t>✗</a:t>
            </a:r>
            <a:endParaRPr lang="en-US" sz="1400" dirty="0"/>
          </a:p>
        </p:txBody>
      </p:sp>
      <p:sp>
        <p:nvSpPr>
          <p:cNvPr id="35" name="Text 33"/>
          <p:cNvSpPr/>
          <p:nvPr/>
        </p:nvSpPr>
        <p:spPr>
          <a:xfrm>
            <a:off x="7132320" y="4343400"/>
            <a:ext cx="1554480" cy="457200"/>
          </a:xfrm>
          <a:prstGeom prst="rect">
            <a:avLst/>
          </a:prstGeom>
          <a:noFill/>
          <a:ln/>
        </p:spPr>
        <p:txBody>
          <a:bodyPr wrap="square" lIns="0" tIns="0" rIns="0" bIns="0" rtlCol="0" anchor="ctr"/>
          <a:lstStyle/>
          <a:p>
            <a:pPr algn="ctr" indent="0" marL="0">
              <a:buNone/>
            </a:pPr>
            <a:r>
              <a:rPr lang="en-US" sz="1400" b="1" dirty="0">
                <a:solidFill>
                  <a:srgbClr val="22C55E"/>
                </a:solidFill>
              </a:rPr>
              <a: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5943600" y="-457200"/>
            <a:ext cx="4114800" cy="4114800"/>
          </a:xfrm>
          <a:prstGeom prst="ellipse">
            <a:avLst/>
          </a:prstGeom>
          <a:solidFill>
            <a:srgbClr val="0EA5E9">
              <a:alpha val="15000"/>
            </a:srgbClr>
          </a:solidFill>
          <a:ln w="12700">
            <a:solidFill>
              <a:srgbClr val="0EA5E9">
                <a:alpha val="15000"/>
              </a:srgbClr>
            </a:solidFill>
            <a:prstDash val="solid"/>
          </a:ln>
        </p:spPr>
      </p:sp>
      <p:sp>
        <p:nvSpPr>
          <p:cNvPr id="3" name="Text 1"/>
          <p:cNvSpPr/>
          <p:nvPr/>
        </p:nvSpPr>
        <p:spPr>
          <a:xfrm>
            <a:off x="457200" y="365760"/>
            <a:ext cx="8229600" cy="548640"/>
          </a:xfrm>
          <a:prstGeom prst="rect">
            <a:avLst/>
          </a:prstGeom>
          <a:noFill/>
          <a:ln/>
        </p:spPr>
        <p:txBody>
          <a:bodyPr wrap="square" rtlCol="0" anchor="ctr"/>
          <a:lstStyle/>
          <a:p>
            <a:pPr indent="0" marL="0">
              <a:buNone/>
            </a:pPr>
            <a:r>
              <a:rPr lang="en-US" sz="3200" b="1" dirty="0">
                <a:solidFill>
                  <a:srgbClr val="FFFFFF"/>
                </a:solidFill>
              </a:rPr>
              <a:t>Live Deployment</a:t>
            </a:r>
            <a:endParaRPr lang="en-US" sz="32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dirty="0">
                <a:solidFill>
                  <a:srgbClr val="94A3B8"/>
                </a:solidFill>
              </a:rPr>
              <a:t>Deployed on Render — Free tier with Docker</a:t>
            </a:r>
            <a:endParaRPr lang="en-US" sz="1400" dirty="0"/>
          </a:p>
        </p:txBody>
      </p:sp>
      <p:sp>
        <p:nvSpPr>
          <p:cNvPr id="5" name="Shape 3"/>
          <p:cNvSpPr/>
          <p:nvPr/>
        </p:nvSpPr>
        <p:spPr>
          <a:xfrm>
            <a:off x="457200" y="1463040"/>
            <a:ext cx="8229600" cy="804672"/>
          </a:xfrm>
          <a:prstGeom prst="roundRect">
            <a:avLst>
              <a:gd name="adj" fmla="val 11364"/>
            </a:avLst>
          </a:prstGeom>
          <a:solidFill>
            <a:srgbClr val="132040"/>
          </a:solidFill>
          <a:ln w="12700">
            <a:solidFill>
              <a:srgbClr val="1B3A6B"/>
            </a:solidFill>
            <a:prstDash val="solid"/>
          </a:ln>
        </p:spPr>
      </p:sp>
      <p:sp>
        <p:nvSpPr>
          <p:cNvPr id="6" name="Text 4"/>
          <p:cNvSpPr/>
          <p:nvPr/>
        </p:nvSpPr>
        <p:spPr>
          <a:xfrm>
            <a:off x="685800" y="1536192"/>
            <a:ext cx="7772400" cy="256032"/>
          </a:xfrm>
          <a:prstGeom prst="rect">
            <a:avLst/>
          </a:prstGeom>
          <a:noFill/>
          <a:ln/>
        </p:spPr>
        <p:txBody>
          <a:bodyPr wrap="square" lIns="0" tIns="0" rIns="0" bIns="0" rtlCol="0" anchor="ctr"/>
          <a:lstStyle/>
          <a:p>
            <a:pPr indent="0" marL="0">
              <a:buNone/>
            </a:pPr>
            <a:r>
              <a:rPr lang="en-US" sz="1200" b="1" dirty="0">
                <a:solidFill>
                  <a:srgbClr val="0EA5E9"/>
                </a:solidFill>
              </a:rPr>
              <a:t>🌐  Live Application</a:t>
            </a:r>
            <a:endParaRPr lang="en-US" sz="1200" dirty="0"/>
          </a:p>
        </p:txBody>
      </p:sp>
      <p:sp>
        <p:nvSpPr>
          <p:cNvPr id="7" name="Text 5"/>
          <p:cNvSpPr/>
          <p:nvPr/>
        </p:nvSpPr>
        <p:spPr>
          <a:xfrm>
            <a:off x="685800" y="1847088"/>
            <a:ext cx="7772400" cy="256032"/>
          </a:xfrm>
          <a:prstGeom prst="rect">
            <a:avLst/>
          </a:prstGeom>
          <a:noFill/>
          <a:ln/>
        </p:spPr>
        <p:txBody>
          <a:bodyPr wrap="square" lIns="0" tIns="0" rIns="0" bIns="0" rtlCol="0" anchor="ctr"/>
          <a:lstStyle/>
          <a:p>
            <a:pPr indent="0" marL="0">
              <a:buNone/>
            </a:pPr>
            <a:r>
              <a:rPr lang="en-US" sz="1200" dirty="0">
                <a:solidFill>
                  <a:srgbClr val="94A3B8"/>
                </a:solidFill>
              </a:rPr>
              <a:t>https://week3-taskmanagement.onrender.com</a:t>
            </a:r>
            <a:endParaRPr lang="en-US" sz="1200" dirty="0"/>
          </a:p>
        </p:txBody>
      </p:sp>
      <p:sp>
        <p:nvSpPr>
          <p:cNvPr id="8" name="Shape 6"/>
          <p:cNvSpPr/>
          <p:nvPr/>
        </p:nvSpPr>
        <p:spPr>
          <a:xfrm>
            <a:off x="457200" y="2423160"/>
            <a:ext cx="8229600" cy="804672"/>
          </a:xfrm>
          <a:prstGeom prst="roundRect">
            <a:avLst>
              <a:gd name="adj" fmla="val 11364"/>
            </a:avLst>
          </a:prstGeom>
          <a:solidFill>
            <a:srgbClr val="0C2340"/>
          </a:solidFill>
          <a:ln w="12700">
            <a:solidFill>
              <a:srgbClr val="1B3A6B"/>
            </a:solidFill>
            <a:prstDash val="solid"/>
          </a:ln>
        </p:spPr>
      </p:sp>
      <p:sp>
        <p:nvSpPr>
          <p:cNvPr id="9" name="Text 7"/>
          <p:cNvSpPr/>
          <p:nvPr/>
        </p:nvSpPr>
        <p:spPr>
          <a:xfrm>
            <a:off x="685800" y="2496312"/>
            <a:ext cx="7772400" cy="256032"/>
          </a:xfrm>
          <a:prstGeom prst="rect">
            <a:avLst/>
          </a:prstGeom>
          <a:noFill/>
          <a:ln/>
        </p:spPr>
        <p:txBody>
          <a:bodyPr wrap="square" lIns="0" tIns="0" rIns="0" bIns="0" rtlCol="0" anchor="ctr"/>
          <a:lstStyle/>
          <a:p>
            <a:pPr indent="0" marL="0">
              <a:buNone/>
            </a:pPr>
            <a:r>
              <a:rPr lang="en-US" sz="1200" b="1" dirty="0">
                <a:solidFill>
                  <a:srgbClr val="0EA5E9"/>
                </a:solidFill>
              </a:rPr>
              <a:t>📋  Swagger API Docs</a:t>
            </a:r>
            <a:endParaRPr lang="en-US" sz="1200" dirty="0"/>
          </a:p>
        </p:txBody>
      </p:sp>
      <p:sp>
        <p:nvSpPr>
          <p:cNvPr id="10" name="Text 8"/>
          <p:cNvSpPr/>
          <p:nvPr/>
        </p:nvSpPr>
        <p:spPr>
          <a:xfrm>
            <a:off x="685800" y="2807208"/>
            <a:ext cx="7772400" cy="256032"/>
          </a:xfrm>
          <a:prstGeom prst="rect">
            <a:avLst/>
          </a:prstGeom>
          <a:noFill/>
          <a:ln/>
        </p:spPr>
        <p:txBody>
          <a:bodyPr wrap="square" lIns="0" tIns="0" rIns="0" bIns="0" rtlCol="0" anchor="ctr"/>
          <a:lstStyle/>
          <a:p>
            <a:pPr indent="0" marL="0">
              <a:buNone/>
            </a:pPr>
            <a:r>
              <a:rPr lang="en-US" sz="1200" dirty="0">
                <a:solidFill>
                  <a:srgbClr val="94A3B8"/>
                </a:solidFill>
              </a:rPr>
              <a:t>https://week3-taskmanagement.onrender.com/swagger-ui.html</a:t>
            </a:r>
            <a:endParaRPr lang="en-US" sz="1200" dirty="0"/>
          </a:p>
        </p:txBody>
      </p:sp>
      <p:sp>
        <p:nvSpPr>
          <p:cNvPr id="11" name="Shape 9"/>
          <p:cNvSpPr/>
          <p:nvPr/>
        </p:nvSpPr>
        <p:spPr>
          <a:xfrm>
            <a:off x="457200" y="3383280"/>
            <a:ext cx="8229600" cy="804672"/>
          </a:xfrm>
          <a:prstGeom prst="roundRect">
            <a:avLst>
              <a:gd name="adj" fmla="val 11364"/>
            </a:avLst>
          </a:prstGeom>
          <a:solidFill>
            <a:srgbClr val="0F1B30"/>
          </a:solidFill>
          <a:ln w="12700">
            <a:solidFill>
              <a:srgbClr val="1B3A6B"/>
            </a:solidFill>
            <a:prstDash val="solid"/>
          </a:ln>
        </p:spPr>
      </p:sp>
      <p:sp>
        <p:nvSpPr>
          <p:cNvPr id="12" name="Text 10"/>
          <p:cNvSpPr/>
          <p:nvPr/>
        </p:nvSpPr>
        <p:spPr>
          <a:xfrm>
            <a:off x="685800" y="3456432"/>
            <a:ext cx="7772400" cy="256032"/>
          </a:xfrm>
          <a:prstGeom prst="rect">
            <a:avLst/>
          </a:prstGeom>
          <a:noFill/>
          <a:ln/>
        </p:spPr>
        <p:txBody>
          <a:bodyPr wrap="square" lIns="0" tIns="0" rIns="0" bIns="0" rtlCol="0" anchor="ctr"/>
          <a:lstStyle/>
          <a:p>
            <a:pPr indent="0" marL="0">
              <a:buNone/>
            </a:pPr>
            <a:r>
              <a:rPr lang="en-US" sz="1200" b="1" dirty="0">
                <a:solidFill>
                  <a:srgbClr val="0EA5E9"/>
                </a:solidFill>
              </a:rPr>
              <a:t>💻  GitHub Repository</a:t>
            </a:r>
            <a:endParaRPr lang="en-US" sz="1200" dirty="0"/>
          </a:p>
        </p:txBody>
      </p:sp>
      <p:sp>
        <p:nvSpPr>
          <p:cNvPr id="13" name="Text 11"/>
          <p:cNvSpPr/>
          <p:nvPr/>
        </p:nvSpPr>
        <p:spPr>
          <a:xfrm>
            <a:off x="685800" y="3767328"/>
            <a:ext cx="7772400" cy="256032"/>
          </a:xfrm>
          <a:prstGeom prst="rect">
            <a:avLst/>
          </a:prstGeom>
          <a:noFill/>
          <a:ln/>
        </p:spPr>
        <p:txBody>
          <a:bodyPr wrap="square" lIns="0" tIns="0" rIns="0" bIns="0" rtlCol="0" anchor="ctr"/>
          <a:lstStyle/>
          <a:p>
            <a:pPr indent="0" marL="0">
              <a:buNone/>
            </a:pPr>
            <a:r>
              <a:rPr lang="en-US" sz="1200" dirty="0">
                <a:solidFill>
                  <a:srgbClr val="94A3B8"/>
                </a:solidFill>
              </a:rPr>
              <a:t>https://github.com/jeevankumargujja/week3-taskmanagement</a:t>
            </a:r>
            <a:endParaRPr lang="en-US" sz="1200" dirty="0"/>
          </a:p>
        </p:txBody>
      </p:sp>
      <p:sp>
        <p:nvSpPr>
          <p:cNvPr id="14" name="Text 12"/>
          <p:cNvSpPr/>
          <p:nvPr/>
        </p:nvSpPr>
        <p:spPr>
          <a:xfrm>
            <a:off x="457200" y="4480560"/>
            <a:ext cx="8229600" cy="365760"/>
          </a:xfrm>
          <a:prstGeom prst="rect">
            <a:avLst/>
          </a:prstGeom>
          <a:noFill/>
          <a:ln/>
        </p:spPr>
        <p:txBody>
          <a:bodyPr wrap="square" rtlCol="0" anchor="ctr"/>
          <a:lstStyle/>
          <a:p>
            <a:pPr algn="ctr" indent="0" marL="0">
              <a:buNone/>
            </a:pPr>
            <a:r>
              <a:rPr lang="en-US" sz="1200" dirty="0">
                <a:solidFill>
                  <a:srgbClr val="64748B"/>
                </a:solidFill>
              </a:rPr>
              <a:t>GitHub  →  Render detects push  →  Docker build  →  Live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rtlCol="0" anchor="ctr"/>
          <a:lstStyle/>
          <a:p>
            <a:pPr indent="0" marL="0">
              <a:buNone/>
            </a:pPr>
            <a:r>
              <a:rPr lang="en-US" sz="3200" b="1" dirty="0">
                <a:solidFill>
                  <a:srgbClr val="0A1628"/>
                </a:solidFill>
              </a:rPr>
              <a:t>API Endpoints</a:t>
            </a:r>
            <a:endParaRPr lang="en-US" sz="3200" dirty="0"/>
          </a:p>
        </p:txBody>
      </p:sp>
      <p:sp>
        <p:nvSpPr>
          <p:cNvPr id="3" name="Text 1"/>
          <p:cNvSpPr/>
          <p:nvPr/>
        </p:nvSpPr>
        <p:spPr>
          <a:xfrm>
            <a:off x="457200" y="804672"/>
            <a:ext cx="8229600" cy="274320"/>
          </a:xfrm>
          <a:prstGeom prst="rect">
            <a:avLst/>
          </a:prstGeom>
          <a:noFill/>
          <a:ln/>
        </p:spPr>
        <p:txBody>
          <a:bodyPr wrap="square" rtlCol="0" anchor="ctr"/>
          <a:lstStyle/>
          <a:p>
            <a:pPr indent="0" marL="0">
              <a:buNone/>
            </a:pPr>
            <a:r>
              <a:rPr lang="en-US" sz="1300" dirty="0">
                <a:solidFill>
                  <a:srgbClr val="64748B"/>
                </a:solidFill>
              </a:rPr>
              <a:t>RESTful API with JWT authentication and role-based access</a:t>
            </a:r>
            <a:endParaRPr lang="en-US" sz="1300" dirty="0"/>
          </a:p>
        </p:txBody>
      </p:sp>
      <p:sp>
        <p:nvSpPr>
          <p:cNvPr id="4" name="Shape 2"/>
          <p:cNvSpPr/>
          <p:nvPr/>
        </p:nvSpPr>
        <p:spPr>
          <a:xfrm>
            <a:off x="274320" y="1188720"/>
            <a:ext cx="2743200" cy="1453896"/>
          </a:xfrm>
          <a:prstGeom prst="roundRect">
            <a:avLst>
              <a:gd name="adj" fmla="val 6289"/>
            </a:avLst>
          </a:prstGeom>
          <a:solidFill>
            <a:srgbClr val="F8FAFC"/>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274320" y="1188720"/>
            <a:ext cx="2743200" cy="384048"/>
          </a:xfrm>
          <a:prstGeom prst="roundRect">
            <a:avLst>
              <a:gd name="adj" fmla="val 23810"/>
            </a:avLst>
          </a:prstGeom>
          <a:solidFill>
            <a:srgbClr val="22C55E"/>
          </a:solidFill>
          <a:ln w="12700">
            <a:solidFill>
              <a:srgbClr val="22C55E"/>
            </a:solidFill>
            <a:prstDash val="solid"/>
          </a:ln>
        </p:spPr>
      </p:sp>
      <p:sp>
        <p:nvSpPr>
          <p:cNvPr id="6" name="Shape 4"/>
          <p:cNvSpPr/>
          <p:nvPr/>
        </p:nvSpPr>
        <p:spPr>
          <a:xfrm>
            <a:off x="274320" y="1389888"/>
            <a:ext cx="2743200" cy="182880"/>
          </a:xfrm>
          <a:prstGeom prst="rect">
            <a:avLst/>
          </a:prstGeom>
          <a:solidFill>
            <a:srgbClr val="22C55E"/>
          </a:solidFill>
          <a:ln w="12700">
            <a:solidFill>
              <a:srgbClr val="22C55E"/>
            </a:solidFill>
            <a:prstDash val="solid"/>
          </a:ln>
        </p:spPr>
      </p:sp>
      <p:sp>
        <p:nvSpPr>
          <p:cNvPr id="7" name="Text 5"/>
          <p:cNvSpPr/>
          <p:nvPr/>
        </p:nvSpPr>
        <p:spPr>
          <a:xfrm>
            <a:off x="274320" y="1188720"/>
            <a:ext cx="2743200" cy="384048"/>
          </a:xfrm>
          <a:prstGeom prst="rect">
            <a:avLst/>
          </a:prstGeom>
          <a:noFill/>
          <a:ln/>
        </p:spPr>
        <p:txBody>
          <a:bodyPr wrap="square" lIns="0" tIns="0" rIns="0" bIns="0" rtlCol="0" anchor="ctr"/>
          <a:lstStyle/>
          <a:p>
            <a:pPr algn="ctr" indent="0" marL="0">
              <a:buNone/>
            </a:pPr>
            <a:r>
              <a:rPr lang="en-US" sz="1100" b="1" dirty="0">
                <a:solidFill>
                  <a:srgbClr val="FFFFFF"/>
                </a:solidFill>
              </a:rPr>
              <a:t>Authentication</a:t>
            </a:r>
            <a:endParaRPr lang="en-US" sz="1100" dirty="0"/>
          </a:p>
        </p:txBody>
      </p:sp>
      <p:sp>
        <p:nvSpPr>
          <p:cNvPr id="8" name="Shape 6"/>
          <p:cNvSpPr/>
          <p:nvPr/>
        </p:nvSpPr>
        <p:spPr>
          <a:xfrm>
            <a:off x="384048" y="1700784"/>
            <a:ext cx="2523744" cy="292608"/>
          </a:xfrm>
          <a:prstGeom prst="roundRect">
            <a:avLst>
              <a:gd name="adj" fmla="val 15625"/>
            </a:avLst>
          </a:prstGeom>
          <a:solidFill>
            <a:srgbClr val="FFFFFF"/>
          </a:solidFill>
          <a:ln w="12700">
            <a:solidFill>
              <a:srgbClr val="E2E8F0"/>
            </a:solidFill>
            <a:prstDash val="solid"/>
          </a:ln>
        </p:spPr>
      </p:sp>
      <p:sp>
        <p:nvSpPr>
          <p:cNvPr id="9" name="Text 7"/>
          <p:cNvSpPr/>
          <p:nvPr/>
        </p:nvSpPr>
        <p:spPr>
          <a:xfrm>
            <a:off x="438912" y="1700784"/>
            <a:ext cx="2468880" cy="292608"/>
          </a:xfrm>
          <a:prstGeom prst="rect">
            <a:avLst/>
          </a:prstGeom>
          <a:noFill/>
          <a:ln/>
        </p:spPr>
        <p:txBody>
          <a:bodyPr wrap="square" lIns="0" tIns="0" rIns="0" bIns="0" rtlCol="0" anchor="ctr"/>
          <a:lstStyle/>
          <a:p>
            <a:pPr indent="0" marL="0">
              <a:buNone/>
            </a:pPr>
            <a:r>
              <a:rPr lang="en-US" sz="950" dirty="0">
                <a:solidFill>
                  <a:srgbClr val="1E293B"/>
                </a:solidFill>
              </a:rPr>
              <a:t>POST /api/auth/register</a:t>
            </a:r>
            <a:endParaRPr lang="en-US" sz="950" dirty="0"/>
          </a:p>
        </p:txBody>
      </p:sp>
      <p:sp>
        <p:nvSpPr>
          <p:cNvPr id="10" name="Shape 8"/>
          <p:cNvSpPr/>
          <p:nvPr/>
        </p:nvSpPr>
        <p:spPr>
          <a:xfrm>
            <a:off x="384048" y="2084832"/>
            <a:ext cx="2523744" cy="292608"/>
          </a:xfrm>
          <a:prstGeom prst="roundRect">
            <a:avLst>
              <a:gd name="adj" fmla="val 15625"/>
            </a:avLst>
          </a:prstGeom>
          <a:solidFill>
            <a:srgbClr val="FFFFFF"/>
          </a:solidFill>
          <a:ln w="12700">
            <a:solidFill>
              <a:srgbClr val="E2E8F0"/>
            </a:solidFill>
            <a:prstDash val="solid"/>
          </a:ln>
        </p:spPr>
      </p:sp>
      <p:sp>
        <p:nvSpPr>
          <p:cNvPr id="11" name="Text 9"/>
          <p:cNvSpPr/>
          <p:nvPr/>
        </p:nvSpPr>
        <p:spPr>
          <a:xfrm>
            <a:off x="438912" y="2084832"/>
            <a:ext cx="2468880" cy="292608"/>
          </a:xfrm>
          <a:prstGeom prst="rect">
            <a:avLst/>
          </a:prstGeom>
          <a:noFill/>
          <a:ln/>
        </p:spPr>
        <p:txBody>
          <a:bodyPr wrap="square" lIns="0" tIns="0" rIns="0" bIns="0" rtlCol="0" anchor="ctr"/>
          <a:lstStyle/>
          <a:p>
            <a:pPr indent="0" marL="0">
              <a:buNone/>
            </a:pPr>
            <a:r>
              <a:rPr lang="en-US" sz="950" dirty="0">
                <a:solidFill>
                  <a:srgbClr val="1E293B"/>
                </a:solidFill>
              </a:rPr>
              <a:t>POST /api/auth/login</a:t>
            </a:r>
            <a:endParaRPr lang="en-US" sz="950" dirty="0"/>
          </a:p>
        </p:txBody>
      </p:sp>
      <p:sp>
        <p:nvSpPr>
          <p:cNvPr id="12" name="Shape 10"/>
          <p:cNvSpPr/>
          <p:nvPr/>
        </p:nvSpPr>
        <p:spPr>
          <a:xfrm>
            <a:off x="3246120" y="1188720"/>
            <a:ext cx="2743200" cy="2990088"/>
          </a:xfrm>
          <a:prstGeom prst="roundRect">
            <a:avLst>
              <a:gd name="adj" fmla="val 3333"/>
            </a:avLst>
          </a:prstGeom>
          <a:solidFill>
            <a:srgbClr val="F8FAFC"/>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3" name="Shape 11"/>
          <p:cNvSpPr/>
          <p:nvPr/>
        </p:nvSpPr>
        <p:spPr>
          <a:xfrm>
            <a:off x="3246120" y="1188720"/>
            <a:ext cx="2743200" cy="384048"/>
          </a:xfrm>
          <a:prstGeom prst="roundRect">
            <a:avLst>
              <a:gd name="adj" fmla="val 23810"/>
            </a:avLst>
          </a:prstGeom>
          <a:solidFill>
            <a:srgbClr val="1B4F9C"/>
          </a:solidFill>
          <a:ln w="12700">
            <a:solidFill>
              <a:srgbClr val="1B4F9C"/>
            </a:solidFill>
            <a:prstDash val="solid"/>
          </a:ln>
        </p:spPr>
      </p:sp>
      <p:sp>
        <p:nvSpPr>
          <p:cNvPr id="14" name="Shape 12"/>
          <p:cNvSpPr/>
          <p:nvPr/>
        </p:nvSpPr>
        <p:spPr>
          <a:xfrm>
            <a:off x="3246120" y="1389888"/>
            <a:ext cx="2743200" cy="182880"/>
          </a:xfrm>
          <a:prstGeom prst="rect">
            <a:avLst/>
          </a:prstGeom>
          <a:solidFill>
            <a:srgbClr val="1B4F9C"/>
          </a:solidFill>
          <a:ln w="12700">
            <a:solidFill>
              <a:srgbClr val="1B4F9C"/>
            </a:solidFill>
            <a:prstDash val="solid"/>
          </a:ln>
        </p:spPr>
      </p:sp>
      <p:sp>
        <p:nvSpPr>
          <p:cNvPr id="15" name="Text 13"/>
          <p:cNvSpPr/>
          <p:nvPr/>
        </p:nvSpPr>
        <p:spPr>
          <a:xfrm>
            <a:off x="3246120" y="1188720"/>
            <a:ext cx="2743200" cy="384048"/>
          </a:xfrm>
          <a:prstGeom prst="rect">
            <a:avLst/>
          </a:prstGeom>
          <a:noFill/>
          <a:ln/>
        </p:spPr>
        <p:txBody>
          <a:bodyPr wrap="square" lIns="0" tIns="0" rIns="0" bIns="0" rtlCol="0" anchor="ctr"/>
          <a:lstStyle/>
          <a:p>
            <a:pPr algn="ctr" indent="0" marL="0">
              <a:buNone/>
            </a:pPr>
            <a:r>
              <a:rPr lang="en-US" sz="1100" b="1" dirty="0">
                <a:solidFill>
                  <a:srgbClr val="FFFFFF"/>
                </a:solidFill>
              </a:rPr>
              <a:t>Tasks (USER + ADMIN)</a:t>
            </a:r>
            <a:endParaRPr lang="en-US" sz="1100" dirty="0"/>
          </a:p>
        </p:txBody>
      </p:sp>
      <p:sp>
        <p:nvSpPr>
          <p:cNvPr id="16" name="Shape 14"/>
          <p:cNvSpPr/>
          <p:nvPr/>
        </p:nvSpPr>
        <p:spPr>
          <a:xfrm>
            <a:off x="3355848" y="1700784"/>
            <a:ext cx="2523744" cy="292608"/>
          </a:xfrm>
          <a:prstGeom prst="roundRect">
            <a:avLst>
              <a:gd name="adj" fmla="val 15625"/>
            </a:avLst>
          </a:prstGeom>
          <a:solidFill>
            <a:srgbClr val="FFFFFF"/>
          </a:solidFill>
          <a:ln w="12700">
            <a:solidFill>
              <a:srgbClr val="E2E8F0"/>
            </a:solidFill>
            <a:prstDash val="solid"/>
          </a:ln>
        </p:spPr>
      </p:sp>
      <p:sp>
        <p:nvSpPr>
          <p:cNvPr id="17" name="Text 15"/>
          <p:cNvSpPr/>
          <p:nvPr/>
        </p:nvSpPr>
        <p:spPr>
          <a:xfrm>
            <a:off x="3410712" y="1700784"/>
            <a:ext cx="2468880" cy="292608"/>
          </a:xfrm>
          <a:prstGeom prst="rect">
            <a:avLst/>
          </a:prstGeom>
          <a:noFill/>
          <a:ln/>
        </p:spPr>
        <p:txBody>
          <a:bodyPr wrap="square" lIns="0" tIns="0" rIns="0" bIns="0" rtlCol="0" anchor="ctr"/>
          <a:lstStyle/>
          <a:p>
            <a:pPr indent="0" marL="0">
              <a:buNone/>
            </a:pPr>
            <a:r>
              <a:rPr lang="en-US" sz="950" dirty="0">
                <a:solidFill>
                  <a:srgbClr val="1E293B"/>
                </a:solidFill>
              </a:rPr>
              <a:t>GET /api/tasks</a:t>
            </a:r>
            <a:endParaRPr lang="en-US" sz="950" dirty="0"/>
          </a:p>
        </p:txBody>
      </p:sp>
      <p:sp>
        <p:nvSpPr>
          <p:cNvPr id="18" name="Shape 16"/>
          <p:cNvSpPr/>
          <p:nvPr/>
        </p:nvSpPr>
        <p:spPr>
          <a:xfrm>
            <a:off x="3355848" y="2084832"/>
            <a:ext cx="2523744" cy="292608"/>
          </a:xfrm>
          <a:prstGeom prst="roundRect">
            <a:avLst>
              <a:gd name="adj" fmla="val 15625"/>
            </a:avLst>
          </a:prstGeom>
          <a:solidFill>
            <a:srgbClr val="FFFFFF"/>
          </a:solidFill>
          <a:ln w="12700">
            <a:solidFill>
              <a:srgbClr val="E2E8F0"/>
            </a:solidFill>
            <a:prstDash val="solid"/>
          </a:ln>
        </p:spPr>
      </p:sp>
      <p:sp>
        <p:nvSpPr>
          <p:cNvPr id="19" name="Text 17"/>
          <p:cNvSpPr/>
          <p:nvPr/>
        </p:nvSpPr>
        <p:spPr>
          <a:xfrm>
            <a:off x="3410712" y="2084832"/>
            <a:ext cx="2468880" cy="292608"/>
          </a:xfrm>
          <a:prstGeom prst="rect">
            <a:avLst/>
          </a:prstGeom>
          <a:noFill/>
          <a:ln/>
        </p:spPr>
        <p:txBody>
          <a:bodyPr wrap="square" lIns="0" tIns="0" rIns="0" bIns="0" rtlCol="0" anchor="ctr"/>
          <a:lstStyle/>
          <a:p>
            <a:pPr indent="0" marL="0">
              <a:buNone/>
            </a:pPr>
            <a:r>
              <a:rPr lang="en-US" sz="950" dirty="0">
                <a:solidFill>
                  <a:srgbClr val="1E293B"/>
                </a:solidFill>
              </a:rPr>
              <a:t>POST /api/tasks</a:t>
            </a:r>
            <a:endParaRPr lang="en-US" sz="950" dirty="0"/>
          </a:p>
        </p:txBody>
      </p:sp>
      <p:sp>
        <p:nvSpPr>
          <p:cNvPr id="20" name="Shape 18"/>
          <p:cNvSpPr/>
          <p:nvPr/>
        </p:nvSpPr>
        <p:spPr>
          <a:xfrm>
            <a:off x="3355848" y="2468880"/>
            <a:ext cx="2523744" cy="292608"/>
          </a:xfrm>
          <a:prstGeom prst="roundRect">
            <a:avLst>
              <a:gd name="adj" fmla="val 15625"/>
            </a:avLst>
          </a:prstGeom>
          <a:solidFill>
            <a:srgbClr val="FFFFFF"/>
          </a:solidFill>
          <a:ln w="12700">
            <a:solidFill>
              <a:srgbClr val="E2E8F0"/>
            </a:solidFill>
            <a:prstDash val="solid"/>
          </a:ln>
        </p:spPr>
      </p:sp>
      <p:sp>
        <p:nvSpPr>
          <p:cNvPr id="21" name="Text 19"/>
          <p:cNvSpPr/>
          <p:nvPr/>
        </p:nvSpPr>
        <p:spPr>
          <a:xfrm>
            <a:off x="3410712" y="2468880"/>
            <a:ext cx="2468880" cy="292608"/>
          </a:xfrm>
          <a:prstGeom prst="rect">
            <a:avLst/>
          </a:prstGeom>
          <a:noFill/>
          <a:ln/>
        </p:spPr>
        <p:txBody>
          <a:bodyPr wrap="square" lIns="0" tIns="0" rIns="0" bIns="0" rtlCol="0" anchor="ctr"/>
          <a:lstStyle/>
          <a:p>
            <a:pPr indent="0" marL="0">
              <a:buNone/>
            </a:pPr>
            <a:r>
              <a:rPr lang="en-US" sz="950" dirty="0">
                <a:solidFill>
                  <a:srgbClr val="1E293B"/>
                </a:solidFill>
              </a:rPr>
              <a:t>PUT /api/tasks/{id}</a:t>
            </a:r>
            <a:endParaRPr lang="en-US" sz="950" dirty="0"/>
          </a:p>
        </p:txBody>
      </p:sp>
      <p:sp>
        <p:nvSpPr>
          <p:cNvPr id="22" name="Shape 20"/>
          <p:cNvSpPr/>
          <p:nvPr/>
        </p:nvSpPr>
        <p:spPr>
          <a:xfrm>
            <a:off x="3355848" y="2852928"/>
            <a:ext cx="2523744" cy="292608"/>
          </a:xfrm>
          <a:prstGeom prst="roundRect">
            <a:avLst>
              <a:gd name="adj" fmla="val 15625"/>
            </a:avLst>
          </a:prstGeom>
          <a:solidFill>
            <a:srgbClr val="FFFFFF"/>
          </a:solidFill>
          <a:ln w="12700">
            <a:solidFill>
              <a:srgbClr val="E2E8F0"/>
            </a:solidFill>
            <a:prstDash val="solid"/>
          </a:ln>
        </p:spPr>
      </p:sp>
      <p:sp>
        <p:nvSpPr>
          <p:cNvPr id="23" name="Text 21"/>
          <p:cNvSpPr/>
          <p:nvPr/>
        </p:nvSpPr>
        <p:spPr>
          <a:xfrm>
            <a:off x="3410712" y="2852928"/>
            <a:ext cx="2468880" cy="292608"/>
          </a:xfrm>
          <a:prstGeom prst="rect">
            <a:avLst/>
          </a:prstGeom>
          <a:noFill/>
          <a:ln/>
        </p:spPr>
        <p:txBody>
          <a:bodyPr wrap="square" lIns="0" tIns="0" rIns="0" bIns="0" rtlCol="0" anchor="ctr"/>
          <a:lstStyle/>
          <a:p>
            <a:pPr indent="0" marL="0">
              <a:buNone/>
            </a:pPr>
            <a:r>
              <a:rPr lang="en-US" sz="950" dirty="0">
                <a:solidFill>
                  <a:srgbClr val="1E293B"/>
                </a:solidFill>
              </a:rPr>
              <a:t>PATCH /{id}/status</a:t>
            </a:r>
            <a:endParaRPr lang="en-US" sz="950" dirty="0"/>
          </a:p>
        </p:txBody>
      </p:sp>
      <p:sp>
        <p:nvSpPr>
          <p:cNvPr id="24" name="Shape 22"/>
          <p:cNvSpPr/>
          <p:nvPr/>
        </p:nvSpPr>
        <p:spPr>
          <a:xfrm>
            <a:off x="3355848" y="3236976"/>
            <a:ext cx="2523744" cy="292608"/>
          </a:xfrm>
          <a:prstGeom prst="roundRect">
            <a:avLst>
              <a:gd name="adj" fmla="val 15625"/>
            </a:avLst>
          </a:prstGeom>
          <a:solidFill>
            <a:srgbClr val="FFFFFF"/>
          </a:solidFill>
          <a:ln w="12700">
            <a:solidFill>
              <a:srgbClr val="E2E8F0"/>
            </a:solidFill>
            <a:prstDash val="solid"/>
          </a:ln>
        </p:spPr>
      </p:sp>
      <p:sp>
        <p:nvSpPr>
          <p:cNvPr id="25" name="Text 23"/>
          <p:cNvSpPr/>
          <p:nvPr/>
        </p:nvSpPr>
        <p:spPr>
          <a:xfrm>
            <a:off x="3410712" y="3236976"/>
            <a:ext cx="2468880" cy="292608"/>
          </a:xfrm>
          <a:prstGeom prst="rect">
            <a:avLst/>
          </a:prstGeom>
          <a:noFill/>
          <a:ln/>
        </p:spPr>
        <p:txBody>
          <a:bodyPr wrap="square" lIns="0" tIns="0" rIns="0" bIns="0" rtlCol="0" anchor="ctr"/>
          <a:lstStyle/>
          <a:p>
            <a:pPr indent="0" marL="0">
              <a:buNone/>
            </a:pPr>
            <a:r>
              <a:rPr lang="en-US" sz="950" dirty="0">
                <a:solidFill>
                  <a:srgbClr val="1E293B"/>
                </a:solidFill>
              </a:rPr>
              <a:t>DELETE /api/tasks/{id}</a:t>
            </a:r>
            <a:endParaRPr lang="en-US" sz="950" dirty="0"/>
          </a:p>
        </p:txBody>
      </p:sp>
      <p:sp>
        <p:nvSpPr>
          <p:cNvPr id="26" name="Shape 24"/>
          <p:cNvSpPr/>
          <p:nvPr/>
        </p:nvSpPr>
        <p:spPr>
          <a:xfrm>
            <a:off x="3355848" y="3621024"/>
            <a:ext cx="2523744" cy="292608"/>
          </a:xfrm>
          <a:prstGeom prst="roundRect">
            <a:avLst>
              <a:gd name="adj" fmla="val 15625"/>
            </a:avLst>
          </a:prstGeom>
          <a:solidFill>
            <a:srgbClr val="FFFFFF"/>
          </a:solidFill>
          <a:ln w="12700">
            <a:solidFill>
              <a:srgbClr val="E2E8F0"/>
            </a:solidFill>
            <a:prstDash val="solid"/>
          </a:ln>
        </p:spPr>
      </p:sp>
      <p:sp>
        <p:nvSpPr>
          <p:cNvPr id="27" name="Text 25"/>
          <p:cNvSpPr/>
          <p:nvPr/>
        </p:nvSpPr>
        <p:spPr>
          <a:xfrm>
            <a:off x="3410712" y="3621024"/>
            <a:ext cx="2468880" cy="292608"/>
          </a:xfrm>
          <a:prstGeom prst="rect">
            <a:avLst/>
          </a:prstGeom>
          <a:noFill/>
          <a:ln/>
        </p:spPr>
        <p:txBody>
          <a:bodyPr wrap="square" lIns="0" tIns="0" rIns="0" bIns="0" rtlCol="0" anchor="ctr"/>
          <a:lstStyle/>
          <a:p>
            <a:pPr indent="0" marL="0">
              <a:buNone/>
            </a:pPr>
            <a:r>
              <a:rPr lang="en-US" sz="950" dirty="0">
                <a:solidFill>
                  <a:srgbClr val="1E293B"/>
                </a:solidFill>
              </a:rPr>
              <a:t>GET /api/tasks/overdue</a:t>
            </a:r>
            <a:endParaRPr lang="en-US" sz="950" dirty="0"/>
          </a:p>
        </p:txBody>
      </p:sp>
      <p:sp>
        <p:nvSpPr>
          <p:cNvPr id="28" name="Shape 26"/>
          <p:cNvSpPr/>
          <p:nvPr/>
        </p:nvSpPr>
        <p:spPr>
          <a:xfrm>
            <a:off x="6217920" y="1188720"/>
            <a:ext cx="2651760" cy="2606040"/>
          </a:xfrm>
          <a:prstGeom prst="roundRect">
            <a:avLst>
              <a:gd name="adj" fmla="val 3509"/>
            </a:avLst>
          </a:prstGeom>
          <a:solidFill>
            <a:srgbClr val="F8FAFC"/>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9" name="Shape 27"/>
          <p:cNvSpPr/>
          <p:nvPr/>
        </p:nvSpPr>
        <p:spPr>
          <a:xfrm>
            <a:off x="6217920" y="1188720"/>
            <a:ext cx="2651760" cy="384048"/>
          </a:xfrm>
          <a:prstGeom prst="roundRect">
            <a:avLst>
              <a:gd name="adj" fmla="val 23810"/>
            </a:avLst>
          </a:prstGeom>
          <a:solidFill>
            <a:srgbClr val="EF4444"/>
          </a:solidFill>
          <a:ln w="12700">
            <a:solidFill>
              <a:srgbClr val="EF4444"/>
            </a:solidFill>
            <a:prstDash val="solid"/>
          </a:ln>
        </p:spPr>
      </p:sp>
      <p:sp>
        <p:nvSpPr>
          <p:cNvPr id="30" name="Shape 28"/>
          <p:cNvSpPr/>
          <p:nvPr/>
        </p:nvSpPr>
        <p:spPr>
          <a:xfrm>
            <a:off x="6217920" y="1389888"/>
            <a:ext cx="2651760" cy="182880"/>
          </a:xfrm>
          <a:prstGeom prst="rect">
            <a:avLst/>
          </a:prstGeom>
          <a:solidFill>
            <a:srgbClr val="EF4444"/>
          </a:solidFill>
          <a:ln w="12700">
            <a:solidFill>
              <a:srgbClr val="EF4444"/>
            </a:solidFill>
            <a:prstDash val="solid"/>
          </a:ln>
        </p:spPr>
      </p:sp>
      <p:sp>
        <p:nvSpPr>
          <p:cNvPr id="31" name="Text 29"/>
          <p:cNvSpPr/>
          <p:nvPr/>
        </p:nvSpPr>
        <p:spPr>
          <a:xfrm>
            <a:off x="6217920" y="1188720"/>
            <a:ext cx="2651760" cy="384048"/>
          </a:xfrm>
          <a:prstGeom prst="rect">
            <a:avLst/>
          </a:prstGeom>
          <a:noFill/>
          <a:ln/>
        </p:spPr>
        <p:txBody>
          <a:bodyPr wrap="square" lIns="0" tIns="0" rIns="0" bIns="0" rtlCol="0" anchor="ctr"/>
          <a:lstStyle/>
          <a:p>
            <a:pPr algn="ctr" indent="0" marL="0">
              <a:buNone/>
            </a:pPr>
            <a:r>
              <a:rPr lang="en-US" sz="1100" b="1" dirty="0">
                <a:solidFill>
                  <a:srgbClr val="FFFFFF"/>
                </a:solidFill>
              </a:rPr>
              <a:t>Admin Only</a:t>
            </a:r>
            <a:endParaRPr lang="en-US" sz="1100" dirty="0"/>
          </a:p>
        </p:txBody>
      </p:sp>
      <p:sp>
        <p:nvSpPr>
          <p:cNvPr id="32" name="Shape 30"/>
          <p:cNvSpPr/>
          <p:nvPr/>
        </p:nvSpPr>
        <p:spPr>
          <a:xfrm>
            <a:off x="6327648" y="1700784"/>
            <a:ext cx="2432304" cy="292608"/>
          </a:xfrm>
          <a:prstGeom prst="roundRect">
            <a:avLst>
              <a:gd name="adj" fmla="val 15625"/>
            </a:avLst>
          </a:prstGeom>
          <a:solidFill>
            <a:srgbClr val="FFFFFF"/>
          </a:solidFill>
          <a:ln w="12700">
            <a:solidFill>
              <a:srgbClr val="E2E8F0"/>
            </a:solidFill>
            <a:prstDash val="solid"/>
          </a:ln>
        </p:spPr>
      </p:sp>
      <p:sp>
        <p:nvSpPr>
          <p:cNvPr id="33" name="Text 31"/>
          <p:cNvSpPr/>
          <p:nvPr/>
        </p:nvSpPr>
        <p:spPr>
          <a:xfrm>
            <a:off x="6382512" y="1700784"/>
            <a:ext cx="2377440" cy="292608"/>
          </a:xfrm>
          <a:prstGeom prst="rect">
            <a:avLst/>
          </a:prstGeom>
          <a:noFill/>
          <a:ln/>
        </p:spPr>
        <p:txBody>
          <a:bodyPr wrap="square" lIns="0" tIns="0" rIns="0" bIns="0" rtlCol="0" anchor="ctr"/>
          <a:lstStyle/>
          <a:p>
            <a:pPr indent="0" marL="0">
              <a:buNone/>
            </a:pPr>
            <a:r>
              <a:rPr lang="en-US" sz="950" dirty="0">
                <a:solidFill>
                  <a:srgbClr val="1E293B"/>
                </a:solidFill>
              </a:rPr>
              <a:t>GET /api/admin/users</a:t>
            </a:r>
            <a:endParaRPr lang="en-US" sz="950" dirty="0"/>
          </a:p>
        </p:txBody>
      </p:sp>
      <p:sp>
        <p:nvSpPr>
          <p:cNvPr id="34" name="Shape 32"/>
          <p:cNvSpPr/>
          <p:nvPr/>
        </p:nvSpPr>
        <p:spPr>
          <a:xfrm>
            <a:off x="6327648" y="2084832"/>
            <a:ext cx="2432304" cy="292608"/>
          </a:xfrm>
          <a:prstGeom prst="roundRect">
            <a:avLst>
              <a:gd name="adj" fmla="val 15625"/>
            </a:avLst>
          </a:prstGeom>
          <a:solidFill>
            <a:srgbClr val="FFFFFF"/>
          </a:solidFill>
          <a:ln w="12700">
            <a:solidFill>
              <a:srgbClr val="E2E8F0"/>
            </a:solidFill>
            <a:prstDash val="solid"/>
          </a:ln>
        </p:spPr>
      </p:sp>
      <p:sp>
        <p:nvSpPr>
          <p:cNvPr id="35" name="Text 33"/>
          <p:cNvSpPr/>
          <p:nvPr/>
        </p:nvSpPr>
        <p:spPr>
          <a:xfrm>
            <a:off x="6382512" y="2084832"/>
            <a:ext cx="2377440" cy="292608"/>
          </a:xfrm>
          <a:prstGeom prst="rect">
            <a:avLst/>
          </a:prstGeom>
          <a:noFill/>
          <a:ln/>
        </p:spPr>
        <p:txBody>
          <a:bodyPr wrap="square" lIns="0" tIns="0" rIns="0" bIns="0" rtlCol="0" anchor="ctr"/>
          <a:lstStyle/>
          <a:p>
            <a:pPr indent="0" marL="0">
              <a:buNone/>
            </a:pPr>
            <a:r>
              <a:rPr lang="en-US" sz="950" dirty="0">
                <a:solidFill>
                  <a:srgbClr val="1E293B"/>
                </a:solidFill>
              </a:rPr>
              <a:t>PATCH /users/{id}/role</a:t>
            </a:r>
            <a:endParaRPr lang="en-US" sz="950" dirty="0"/>
          </a:p>
        </p:txBody>
      </p:sp>
      <p:sp>
        <p:nvSpPr>
          <p:cNvPr id="36" name="Shape 34"/>
          <p:cNvSpPr/>
          <p:nvPr/>
        </p:nvSpPr>
        <p:spPr>
          <a:xfrm>
            <a:off x="6327648" y="2468880"/>
            <a:ext cx="2432304" cy="292608"/>
          </a:xfrm>
          <a:prstGeom prst="roundRect">
            <a:avLst>
              <a:gd name="adj" fmla="val 15625"/>
            </a:avLst>
          </a:prstGeom>
          <a:solidFill>
            <a:srgbClr val="FFFFFF"/>
          </a:solidFill>
          <a:ln w="12700">
            <a:solidFill>
              <a:srgbClr val="E2E8F0"/>
            </a:solidFill>
            <a:prstDash val="solid"/>
          </a:ln>
        </p:spPr>
      </p:sp>
      <p:sp>
        <p:nvSpPr>
          <p:cNvPr id="37" name="Text 35"/>
          <p:cNvSpPr/>
          <p:nvPr/>
        </p:nvSpPr>
        <p:spPr>
          <a:xfrm>
            <a:off x="6382512" y="2468880"/>
            <a:ext cx="2377440" cy="292608"/>
          </a:xfrm>
          <a:prstGeom prst="rect">
            <a:avLst/>
          </a:prstGeom>
          <a:noFill/>
          <a:ln/>
        </p:spPr>
        <p:txBody>
          <a:bodyPr wrap="square" lIns="0" tIns="0" rIns="0" bIns="0" rtlCol="0" anchor="ctr"/>
          <a:lstStyle/>
          <a:p>
            <a:pPr indent="0" marL="0">
              <a:buNone/>
            </a:pPr>
            <a:r>
              <a:rPr lang="en-US" sz="950" dirty="0">
                <a:solidFill>
                  <a:srgbClr val="1E293B"/>
                </a:solidFill>
              </a:rPr>
              <a:t>DELETE /users/{id}</a:t>
            </a:r>
            <a:endParaRPr lang="en-US" sz="950" dirty="0"/>
          </a:p>
        </p:txBody>
      </p:sp>
      <p:sp>
        <p:nvSpPr>
          <p:cNvPr id="38" name="Shape 36"/>
          <p:cNvSpPr/>
          <p:nvPr/>
        </p:nvSpPr>
        <p:spPr>
          <a:xfrm>
            <a:off x="6327648" y="2852928"/>
            <a:ext cx="2432304" cy="292608"/>
          </a:xfrm>
          <a:prstGeom prst="roundRect">
            <a:avLst>
              <a:gd name="adj" fmla="val 15625"/>
            </a:avLst>
          </a:prstGeom>
          <a:solidFill>
            <a:srgbClr val="FFFFFF"/>
          </a:solidFill>
          <a:ln w="12700">
            <a:solidFill>
              <a:srgbClr val="E2E8F0"/>
            </a:solidFill>
            <a:prstDash val="solid"/>
          </a:ln>
        </p:spPr>
      </p:sp>
      <p:sp>
        <p:nvSpPr>
          <p:cNvPr id="39" name="Text 37"/>
          <p:cNvSpPr/>
          <p:nvPr/>
        </p:nvSpPr>
        <p:spPr>
          <a:xfrm>
            <a:off x="6382512" y="2852928"/>
            <a:ext cx="2377440" cy="292608"/>
          </a:xfrm>
          <a:prstGeom prst="rect">
            <a:avLst/>
          </a:prstGeom>
          <a:noFill/>
          <a:ln/>
        </p:spPr>
        <p:txBody>
          <a:bodyPr wrap="square" lIns="0" tIns="0" rIns="0" bIns="0" rtlCol="0" anchor="ctr"/>
          <a:lstStyle/>
          <a:p>
            <a:pPr indent="0" marL="0">
              <a:buNone/>
            </a:pPr>
            <a:r>
              <a:rPr lang="en-US" sz="950" dirty="0">
                <a:solidFill>
                  <a:srgbClr val="1E293B"/>
                </a:solidFill>
              </a:rPr>
              <a:t>GET /api/admin/stats</a:t>
            </a:r>
            <a:endParaRPr lang="en-US" sz="950" dirty="0"/>
          </a:p>
        </p:txBody>
      </p:sp>
      <p:sp>
        <p:nvSpPr>
          <p:cNvPr id="40" name="Shape 38"/>
          <p:cNvSpPr/>
          <p:nvPr/>
        </p:nvSpPr>
        <p:spPr>
          <a:xfrm>
            <a:off x="6327648" y="3236976"/>
            <a:ext cx="2432304" cy="292608"/>
          </a:xfrm>
          <a:prstGeom prst="roundRect">
            <a:avLst>
              <a:gd name="adj" fmla="val 15625"/>
            </a:avLst>
          </a:prstGeom>
          <a:solidFill>
            <a:srgbClr val="FFFFFF"/>
          </a:solidFill>
          <a:ln w="12700">
            <a:solidFill>
              <a:srgbClr val="E2E8F0"/>
            </a:solidFill>
            <a:prstDash val="solid"/>
          </a:ln>
        </p:spPr>
      </p:sp>
      <p:sp>
        <p:nvSpPr>
          <p:cNvPr id="41" name="Text 39"/>
          <p:cNvSpPr/>
          <p:nvPr/>
        </p:nvSpPr>
        <p:spPr>
          <a:xfrm>
            <a:off x="6382512" y="3236976"/>
            <a:ext cx="2377440" cy="292608"/>
          </a:xfrm>
          <a:prstGeom prst="rect">
            <a:avLst/>
          </a:prstGeom>
          <a:noFill/>
          <a:ln/>
        </p:spPr>
        <p:txBody>
          <a:bodyPr wrap="square" lIns="0" tIns="0" rIns="0" bIns="0" rtlCol="0" anchor="ctr"/>
          <a:lstStyle/>
          <a:p>
            <a:pPr indent="0" marL="0">
              <a:buNone/>
            </a:pPr>
            <a:r>
              <a:rPr lang="en-US" sz="950" dirty="0">
                <a:solidFill>
                  <a:srgbClr val="1E293B"/>
                </a:solidFill>
              </a:rPr>
              <a:t>PATCH /tasks/{id}/assign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rtlCol="0" anchor="ctr"/>
          <a:lstStyle/>
          <a:p>
            <a:pPr indent="0" marL="0">
              <a:buNone/>
            </a:pPr>
            <a:r>
              <a:rPr lang="en-US" sz="3200" b="1" dirty="0">
                <a:solidFill>
                  <a:srgbClr val="0A1628"/>
                </a:solidFill>
              </a:rPr>
              <a:t>Project Structure</a:t>
            </a:r>
            <a:endParaRPr lang="en-US" sz="3200" dirty="0"/>
          </a:p>
        </p:txBody>
      </p:sp>
      <p:sp>
        <p:nvSpPr>
          <p:cNvPr id="3" name="Text 1"/>
          <p:cNvSpPr/>
          <p:nvPr/>
        </p:nvSpPr>
        <p:spPr>
          <a:xfrm>
            <a:off x="457200" y="804672"/>
            <a:ext cx="8229600" cy="274320"/>
          </a:xfrm>
          <a:prstGeom prst="rect">
            <a:avLst/>
          </a:prstGeom>
          <a:noFill/>
          <a:ln/>
        </p:spPr>
        <p:txBody>
          <a:bodyPr wrap="square" rtlCol="0" anchor="ctr"/>
          <a:lstStyle/>
          <a:p>
            <a:pPr indent="0" marL="0">
              <a:buNone/>
            </a:pPr>
            <a:r>
              <a:rPr lang="en-US" sz="1300" dirty="0">
                <a:solidFill>
                  <a:srgbClr val="64748B"/>
                </a:solidFill>
              </a:rPr>
              <a:t>Clean layered architecture — Controller → Service → Repository → Model</a:t>
            </a:r>
            <a:endParaRPr lang="en-US" sz="1300" dirty="0"/>
          </a:p>
        </p:txBody>
      </p:sp>
      <p:sp>
        <p:nvSpPr>
          <p:cNvPr id="4" name="Shape 2"/>
          <p:cNvSpPr/>
          <p:nvPr/>
        </p:nvSpPr>
        <p:spPr>
          <a:xfrm>
            <a:off x="365760" y="1188720"/>
            <a:ext cx="8412480" cy="658368"/>
          </a:xfrm>
          <a:prstGeom prst="roundRect">
            <a:avLst>
              <a:gd name="adj" fmla="val 11111"/>
            </a:avLst>
          </a:prstGeom>
          <a:solidFill>
            <a:srgbClr val="F8FAFC"/>
          </a:solidFill>
          <a:ln w="12700">
            <a:solidFill>
              <a:srgbClr val="E2E8F0"/>
            </a:solidFill>
            <a:prstDash val="solid"/>
          </a:ln>
        </p:spPr>
      </p:sp>
      <p:sp>
        <p:nvSpPr>
          <p:cNvPr id="5" name="Shape 3"/>
          <p:cNvSpPr/>
          <p:nvPr/>
        </p:nvSpPr>
        <p:spPr>
          <a:xfrm>
            <a:off x="365760" y="1188720"/>
            <a:ext cx="1737360" cy="658368"/>
          </a:xfrm>
          <a:prstGeom prst="roundRect">
            <a:avLst>
              <a:gd name="adj" fmla="val 11111"/>
            </a:avLst>
          </a:prstGeom>
          <a:solidFill>
            <a:srgbClr val="1B4F9C"/>
          </a:solidFill>
          <a:ln w="12700">
            <a:solidFill>
              <a:srgbClr val="1B4F9C"/>
            </a:solidFill>
            <a:prstDash val="solid"/>
          </a:ln>
        </p:spPr>
      </p:sp>
      <p:sp>
        <p:nvSpPr>
          <p:cNvPr id="6" name="Shape 4"/>
          <p:cNvSpPr/>
          <p:nvPr/>
        </p:nvSpPr>
        <p:spPr>
          <a:xfrm>
            <a:off x="1371600" y="1188720"/>
            <a:ext cx="731520" cy="658368"/>
          </a:xfrm>
          <a:prstGeom prst="rect">
            <a:avLst/>
          </a:prstGeom>
          <a:solidFill>
            <a:srgbClr val="1B4F9C"/>
          </a:solidFill>
          <a:ln w="12700">
            <a:solidFill>
              <a:srgbClr val="1B4F9C"/>
            </a:solidFill>
            <a:prstDash val="solid"/>
          </a:ln>
        </p:spPr>
      </p:sp>
      <p:sp>
        <p:nvSpPr>
          <p:cNvPr id="7" name="Text 5"/>
          <p:cNvSpPr/>
          <p:nvPr/>
        </p:nvSpPr>
        <p:spPr>
          <a:xfrm>
            <a:off x="411480" y="1188720"/>
            <a:ext cx="1645920" cy="658368"/>
          </a:xfrm>
          <a:prstGeom prst="rect">
            <a:avLst/>
          </a:prstGeom>
          <a:noFill/>
          <a:ln/>
        </p:spPr>
        <p:txBody>
          <a:bodyPr wrap="square" lIns="0" tIns="0" rIns="0" bIns="0" rtlCol="0" anchor="ctr"/>
          <a:lstStyle/>
          <a:p>
            <a:pPr algn="ctr" indent="0" marL="0">
              <a:buNone/>
            </a:pPr>
            <a:r>
              <a:rPr lang="en-US" sz="1000" b="1" dirty="0">
                <a:solidFill>
                  <a:srgbClr val="FFFFFF"/>
                </a:solidFill>
              </a:rPr>
              <a:t>Controller Layer</a:t>
            </a:r>
            <a:endParaRPr lang="en-US" sz="1000" dirty="0"/>
          </a:p>
        </p:txBody>
      </p:sp>
      <p:sp>
        <p:nvSpPr>
          <p:cNvPr id="8" name="Text 6"/>
          <p:cNvSpPr/>
          <p:nvPr/>
        </p:nvSpPr>
        <p:spPr>
          <a:xfrm>
            <a:off x="2240280" y="1243584"/>
            <a:ext cx="6400800" cy="256032"/>
          </a:xfrm>
          <a:prstGeom prst="rect">
            <a:avLst/>
          </a:prstGeom>
          <a:noFill/>
          <a:ln/>
        </p:spPr>
        <p:txBody>
          <a:bodyPr wrap="square" lIns="0" tIns="0" rIns="0" bIns="0" rtlCol="0" anchor="ctr"/>
          <a:lstStyle/>
          <a:p>
            <a:pPr indent="0" marL="0">
              <a:buNone/>
            </a:pPr>
            <a:r>
              <a:rPr lang="en-US" sz="1000" b="1" dirty="0">
                <a:solidFill>
                  <a:srgbClr val="1E293B"/>
                </a:solidFill>
              </a:rPr>
              <a:t>AuthController  •  TaskController  •  AdminController (W4)</a:t>
            </a:r>
            <a:endParaRPr lang="en-US" sz="1000" dirty="0"/>
          </a:p>
        </p:txBody>
      </p:sp>
      <p:sp>
        <p:nvSpPr>
          <p:cNvPr id="9" name="Text 7"/>
          <p:cNvSpPr/>
          <p:nvPr/>
        </p:nvSpPr>
        <p:spPr>
          <a:xfrm>
            <a:off x="2240280" y="1536192"/>
            <a:ext cx="6400800" cy="219456"/>
          </a:xfrm>
          <a:prstGeom prst="rect">
            <a:avLst/>
          </a:prstGeom>
          <a:noFill/>
          <a:ln/>
        </p:spPr>
        <p:txBody>
          <a:bodyPr wrap="square" lIns="0" tIns="0" rIns="0" bIns="0" rtlCol="0" anchor="ctr"/>
          <a:lstStyle/>
          <a:p>
            <a:pPr indent="0" marL="0">
              <a:buNone/>
            </a:pPr>
            <a:r>
              <a:rPr lang="en-US" sz="1000" dirty="0">
                <a:solidFill>
                  <a:srgbClr val="64748B"/>
                </a:solidFill>
              </a:rPr>
              <a:t>Handles HTTP requests, applies @PreAuthorize (Week 4)</a:t>
            </a:r>
            <a:endParaRPr lang="en-US" sz="1000" dirty="0"/>
          </a:p>
        </p:txBody>
      </p:sp>
      <p:sp>
        <p:nvSpPr>
          <p:cNvPr id="10" name="Shape 8"/>
          <p:cNvSpPr/>
          <p:nvPr/>
        </p:nvSpPr>
        <p:spPr>
          <a:xfrm>
            <a:off x="365760" y="1947672"/>
            <a:ext cx="8412480" cy="658368"/>
          </a:xfrm>
          <a:prstGeom prst="roundRect">
            <a:avLst>
              <a:gd name="adj" fmla="val 11111"/>
            </a:avLst>
          </a:prstGeom>
          <a:solidFill>
            <a:srgbClr val="F8FAFC"/>
          </a:solidFill>
          <a:ln w="12700">
            <a:solidFill>
              <a:srgbClr val="E2E8F0"/>
            </a:solidFill>
            <a:prstDash val="solid"/>
          </a:ln>
        </p:spPr>
      </p:sp>
      <p:sp>
        <p:nvSpPr>
          <p:cNvPr id="11" name="Shape 9"/>
          <p:cNvSpPr/>
          <p:nvPr/>
        </p:nvSpPr>
        <p:spPr>
          <a:xfrm>
            <a:off x="365760" y="1947672"/>
            <a:ext cx="1737360" cy="658368"/>
          </a:xfrm>
          <a:prstGeom prst="roundRect">
            <a:avLst>
              <a:gd name="adj" fmla="val 11111"/>
            </a:avLst>
          </a:prstGeom>
          <a:solidFill>
            <a:srgbClr val="0891B2"/>
          </a:solidFill>
          <a:ln w="12700">
            <a:solidFill>
              <a:srgbClr val="0891B2"/>
            </a:solidFill>
            <a:prstDash val="solid"/>
          </a:ln>
        </p:spPr>
      </p:sp>
      <p:sp>
        <p:nvSpPr>
          <p:cNvPr id="12" name="Shape 10"/>
          <p:cNvSpPr/>
          <p:nvPr/>
        </p:nvSpPr>
        <p:spPr>
          <a:xfrm>
            <a:off x="1371600" y="1947672"/>
            <a:ext cx="731520" cy="658368"/>
          </a:xfrm>
          <a:prstGeom prst="rect">
            <a:avLst/>
          </a:prstGeom>
          <a:solidFill>
            <a:srgbClr val="0891B2"/>
          </a:solidFill>
          <a:ln w="12700">
            <a:solidFill>
              <a:srgbClr val="0891B2"/>
            </a:solidFill>
            <a:prstDash val="solid"/>
          </a:ln>
        </p:spPr>
      </p:sp>
      <p:sp>
        <p:nvSpPr>
          <p:cNvPr id="13" name="Text 11"/>
          <p:cNvSpPr/>
          <p:nvPr/>
        </p:nvSpPr>
        <p:spPr>
          <a:xfrm>
            <a:off x="411480" y="1947672"/>
            <a:ext cx="1645920" cy="658368"/>
          </a:xfrm>
          <a:prstGeom prst="rect">
            <a:avLst/>
          </a:prstGeom>
          <a:noFill/>
          <a:ln/>
        </p:spPr>
        <p:txBody>
          <a:bodyPr wrap="square" lIns="0" tIns="0" rIns="0" bIns="0" rtlCol="0" anchor="ctr"/>
          <a:lstStyle/>
          <a:p>
            <a:pPr algn="ctr" indent="0" marL="0">
              <a:buNone/>
            </a:pPr>
            <a:r>
              <a:rPr lang="en-US" sz="1000" b="1" dirty="0">
                <a:solidFill>
                  <a:srgbClr val="FFFFFF"/>
                </a:solidFill>
              </a:rPr>
              <a:t>Service Layer</a:t>
            </a:r>
            <a:endParaRPr lang="en-US" sz="1000" dirty="0"/>
          </a:p>
        </p:txBody>
      </p:sp>
      <p:sp>
        <p:nvSpPr>
          <p:cNvPr id="14" name="Text 12"/>
          <p:cNvSpPr/>
          <p:nvPr/>
        </p:nvSpPr>
        <p:spPr>
          <a:xfrm>
            <a:off x="2240280" y="2002536"/>
            <a:ext cx="6400800" cy="256032"/>
          </a:xfrm>
          <a:prstGeom prst="rect">
            <a:avLst/>
          </a:prstGeom>
          <a:noFill/>
          <a:ln/>
        </p:spPr>
        <p:txBody>
          <a:bodyPr wrap="square" lIns="0" tIns="0" rIns="0" bIns="0" rtlCol="0" anchor="ctr"/>
          <a:lstStyle/>
          <a:p>
            <a:pPr indent="0" marL="0">
              <a:buNone/>
            </a:pPr>
            <a:r>
              <a:rPr lang="en-US" sz="1000" b="1" dirty="0">
                <a:solidFill>
                  <a:srgbClr val="1E293B"/>
                </a:solidFill>
              </a:rPr>
              <a:t>AuthService  •  TaskService  •  AdminService (W4)  •  NotificationService (W4)</a:t>
            </a:r>
            <a:endParaRPr lang="en-US" sz="1000" dirty="0"/>
          </a:p>
        </p:txBody>
      </p:sp>
      <p:sp>
        <p:nvSpPr>
          <p:cNvPr id="15" name="Text 13"/>
          <p:cNvSpPr/>
          <p:nvPr/>
        </p:nvSpPr>
        <p:spPr>
          <a:xfrm>
            <a:off x="2240280" y="2295144"/>
            <a:ext cx="6400800" cy="219456"/>
          </a:xfrm>
          <a:prstGeom prst="rect">
            <a:avLst/>
          </a:prstGeom>
          <a:noFill/>
          <a:ln/>
        </p:spPr>
        <p:txBody>
          <a:bodyPr wrap="square" lIns="0" tIns="0" rIns="0" bIns="0" rtlCol="0" anchor="ctr"/>
          <a:lstStyle/>
          <a:p>
            <a:pPr indent="0" marL="0">
              <a:buNone/>
            </a:pPr>
            <a:r>
              <a:rPr lang="en-US" sz="1000" dirty="0">
                <a:solidFill>
                  <a:srgbClr val="64748B"/>
                </a:solidFill>
              </a:rPr>
              <a:t>Business logic, RBAC enforcement, overdue detection</a:t>
            </a:r>
            <a:endParaRPr lang="en-US" sz="1000" dirty="0"/>
          </a:p>
        </p:txBody>
      </p:sp>
      <p:sp>
        <p:nvSpPr>
          <p:cNvPr id="16" name="Shape 14"/>
          <p:cNvSpPr/>
          <p:nvPr/>
        </p:nvSpPr>
        <p:spPr>
          <a:xfrm>
            <a:off x="365760" y="2706624"/>
            <a:ext cx="8412480" cy="658368"/>
          </a:xfrm>
          <a:prstGeom prst="roundRect">
            <a:avLst>
              <a:gd name="adj" fmla="val 11111"/>
            </a:avLst>
          </a:prstGeom>
          <a:solidFill>
            <a:srgbClr val="F8FAFC"/>
          </a:solidFill>
          <a:ln w="12700">
            <a:solidFill>
              <a:srgbClr val="E2E8F0"/>
            </a:solidFill>
            <a:prstDash val="solid"/>
          </a:ln>
        </p:spPr>
      </p:sp>
      <p:sp>
        <p:nvSpPr>
          <p:cNvPr id="17" name="Shape 15"/>
          <p:cNvSpPr/>
          <p:nvPr/>
        </p:nvSpPr>
        <p:spPr>
          <a:xfrm>
            <a:off x="365760" y="2706624"/>
            <a:ext cx="1737360" cy="658368"/>
          </a:xfrm>
          <a:prstGeom prst="roundRect">
            <a:avLst>
              <a:gd name="adj" fmla="val 11111"/>
            </a:avLst>
          </a:prstGeom>
          <a:solidFill>
            <a:srgbClr val="0D9488"/>
          </a:solidFill>
          <a:ln w="12700">
            <a:solidFill>
              <a:srgbClr val="0D9488"/>
            </a:solidFill>
            <a:prstDash val="solid"/>
          </a:ln>
        </p:spPr>
      </p:sp>
      <p:sp>
        <p:nvSpPr>
          <p:cNvPr id="18" name="Shape 16"/>
          <p:cNvSpPr/>
          <p:nvPr/>
        </p:nvSpPr>
        <p:spPr>
          <a:xfrm>
            <a:off x="1371600" y="2706624"/>
            <a:ext cx="731520" cy="658368"/>
          </a:xfrm>
          <a:prstGeom prst="rect">
            <a:avLst/>
          </a:prstGeom>
          <a:solidFill>
            <a:srgbClr val="0D9488"/>
          </a:solidFill>
          <a:ln w="12700">
            <a:solidFill>
              <a:srgbClr val="0D9488"/>
            </a:solidFill>
            <a:prstDash val="solid"/>
          </a:ln>
        </p:spPr>
      </p:sp>
      <p:sp>
        <p:nvSpPr>
          <p:cNvPr id="19" name="Text 17"/>
          <p:cNvSpPr/>
          <p:nvPr/>
        </p:nvSpPr>
        <p:spPr>
          <a:xfrm>
            <a:off x="411480" y="2706624"/>
            <a:ext cx="1645920" cy="658368"/>
          </a:xfrm>
          <a:prstGeom prst="rect">
            <a:avLst/>
          </a:prstGeom>
          <a:noFill/>
          <a:ln/>
        </p:spPr>
        <p:txBody>
          <a:bodyPr wrap="square" lIns="0" tIns="0" rIns="0" bIns="0" rtlCol="0" anchor="ctr"/>
          <a:lstStyle/>
          <a:p>
            <a:pPr algn="ctr" indent="0" marL="0">
              <a:buNone/>
            </a:pPr>
            <a:r>
              <a:rPr lang="en-US" sz="1000" b="1" dirty="0">
                <a:solidFill>
                  <a:srgbClr val="FFFFFF"/>
                </a:solidFill>
              </a:rPr>
              <a:t>Repository Layer</a:t>
            </a:r>
            <a:endParaRPr lang="en-US" sz="1000" dirty="0"/>
          </a:p>
        </p:txBody>
      </p:sp>
      <p:sp>
        <p:nvSpPr>
          <p:cNvPr id="20" name="Text 18"/>
          <p:cNvSpPr/>
          <p:nvPr/>
        </p:nvSpPr>
        <p:spPr>
          <a:xfrm>
            <a:off x="2240280" y="2761488"/>
            <a:ext cx="6400800" cy="256032"/>
          </a:xfrm>
          <a:prstGeom prst="rect">
            <a:avLst/>
          </a:prstGeom>
          <a:noFill/>
          <a:ln/>
        </p:spPr>
        <p:txBody>
          <a:bodyPr wrap="square" lIns="0" tIns="0" rIns="0" bIns="0" rtlCol="0" anchor="ctr"/>
          <a:lstStyle/>
          <a:p>
            <a:pPr indent="0" marL="0">
              <a:buNone/>
            </a:pPr>
            <a:r>
              <a:rPr lang="en-US" sz="1000" b="1" dirty="0">
                <a:solidFill>
                  <a:srgbClr val="1E293B"/>
                </a:solidFill>
              </a:rPr>
              <a:t>UserRepository  •  TaskRepository</a:t>
            </a:r>
            <a:endParaRPr lang="en-US" sz="1000" dirty="0"/>
          </a:p>
        </p:txBody>
      </p:sp>
      <p:sp>
        <p:nvSpPr>
          <p:cNvPr id="21" name="Text 19"/>
          <p:cNvSpPr/>
          <p:nvPr/>
        </p:nvSpPr>
        <p:spPr>
          <a:xfrm>
            <a:off x="2240280" y="3054096"/>
            <a:ext cx="6400800" cy="219456"/>
          </a:xfrm>
          <a:prstGeom prst="rect">
            <a:avLst/>
          </a:prstGeom>
          <a:noFill/>
          <a:ln/>
        </p:spPr>
        <p:txBody>
          <a:bodyPr wrap="square" lIns="0" tIns="0" rIns="0" bIns="0" rtlCol="0" anchor="ctr"/>
          <a:lstStyle/>
          <a:p>
            <a:pPr indent="0" marL="0">
              <a:buNone/>
            </a:pPr>
            <a:r>
              <a:rPr lang="en-US" sz="1000" dirty="0">
                <a:solidFill>
                  <a:srgbClr val="64748B"/>
                </a:solidFill>
              </a:rPr>
              <a:t>Spring Data JPA — overdue queries added in Week 4</a:t>
            </a:r>
            <a:endParaRPr lang="en-US" sz="1000" dirty="0"/>
          </a:p>
        </p:txBody>
      </p:sp>
      <p:sp>
        <p:nvSpPr>
          <p:cNvPr id="22" name="Shape 20"/>
          <p:cNvSpPr/>
          <p:nvPr/>
        </p:nvSpPr>
        <p:spPr>
          <a:xfrm>
            <a:off x="365760" y="3465576"/>
            <a:ext cx="8412480" cy="658368"/>
          </a:xfrm>
          <a:prstGeom prst="roundRect">
            <a:avLst>
              <a:gd name="adj" fmla="val 11111"/>
            </a:avLst>
          </a:prstGeom>
          <a:solidFill>
            <a:srgbClr val="F8FAFC"/>
          </a:solidFill>
          <a:ln w="12700">
            <a:solidFill>
              <a:srgbClr val="E2E8F0"/>
            </a:solidFill>
            <a:prstDash val="solid"/>
          </a:ln>
        </p:spPr>
      </p:sp>
      <p:sp>
        <p:nvSpPr>
          <p:cNvPr id="23" name="Shape 21"/>
          <p:cNvSpPr/>
          <p:nvPr/>
        </p:nvSpPr>
        <p:spPr>
          <a:xfrm>
            <a:off x="365760" y="3465576"/>
            <a:ext cx="1737360" cy="658368"/>
          </a:xfrm>
          <a:prstGeom prst="roundRect">
            <a:avLst>
              <a:gd name="adj" fmla="val 11111"/>
            </a:avLst>
          </a:prstGeom>
          <a:solidFill>
            <a:srgbClr val="059669"/>
          </a:solidFill>
          <a:ln w="12700">
            <a:solidFill>
              <a:srgbClr val="059669"/>
            </a:solidFill>
            <a:prstDash val="solid"/>
          </a:ln>
        </p:spPr>
      </p:sp>
      <p:sp>
        <p:nvSpPr>
          <p:cNvPr id="24" name="Shape 22"/>
          <p:cNvSpPr/>
          <p:nvPr/>
        </p:nvSpPr>
        <p:spPr>
          <a:xfrm>
            <a:off x="1371600" y="3465576"/>
            <a:ext cx="731520" cy="658368"/>
          </a:xfrm>
          <a:prstGeom prst="rect">
            <a:avLst/>
          </a:prstGeom>
          <a:solidFill>
            <a:srgbClr val="059669"/>
          </a:solidFill>
          <a:ln w="12700">
            <a:solidFill>
              <a:srgbClr val="059669"/>
            </a:solidFill>
            <a:prstDash val="solid"/>
          </a:ln>
        </p:spPr>
      </p:sp>
      <p:sp>
        <p:nvSpPr>
          <p:cNvPr id="25" name="Text 23"/>
          <p:cNvSpPr/>
          <p:nvPr/>
        </p:nvSpPr>
        <p:spPr>
          <a:xfrm>
            <a:off x="411480" y="3465576"/>
            <a:ext cx="1645920" cy="658368"/>
          </a:xfrm>
          <a:prstGeom prst="rect">
            <a:avLst/>
          </a:prstGeom>
          <a:noFill/>
          <a:ln/>
        </p:spPr>
        <p:txBody>
          <a:bodyPr wrap="square" lIns="0" tIns="0" rIns="0" bIns="0" rtlCol="0" anchor="ctr"/>
          <a:lstStyle/>
          <a:p>
            <a:pPr algn="ctr" indent="0" marL="0">
              <a:buNone/>
            </a:pPr>
            <a:r>
              <a:rPr lang="en-US" sz="1000" b="1" dirty="0">
                <a:solidFill>
                  <a:srgbClr val="FFFFFF"/>
                </a:solidFill>
              </a:rPr>
              <a:t>Model / DTO</a:t>
            </a:r>
            <a:endParaRPr lang="en-US" sz="1000" dirty="0"/>
          </a:p>
        </p:txBody>
      </p:sp>
      <p:sp>
        <p:nvSpPr>
          <p:cNvPr id="26" name="Text 24"/>
          <p:cNvSpPr/>
          <p:nvPr/>
        </p:nvSpPr>
        <p:spPr>
          <a:xfrm>
            <a:off x="2240280" y="3520440"/>
            <a:ext cx="6400800" cy="256032"/>
          </a:xfrm>
          <a:prstGeom prst="rect">
            <a:avLst/>
          </a:prstGeom>
          <a:noFill/>
          <a:ln/>
        </p:spPr>
        <p:txBody>
          <a:bodyPr wrap="square" lIns="0" tIns="0" rIns="0" bIns="0" rtlCol="0" anchor="ctr"/>
          <a:lstStyle/>
          <a:p>
            <a:pPr indent="0" marL="0">
              <a:buNone/>
            </a:pPr>
            <a:r>
              <a:rPr lang="en-US" sz="1000" b="1" dirty="0">
                <a:solidFill>
                  <a:srgbClr val="1E293B"/>
                </a:solidFill>
              </a:rPr>
              <a:t>User  •  Task  •  TaskRequest/Response  •  UserResponse (W4)  •  DashboardStats (W4)</a:t>
            </a:r>
            <a:endParaRPr lang="en-US" sz="1000" dirty="0"/>
          </a:p>
        </p:txBody>
      </p:sp>
      <p:sp>
        <p:nvSpPr>
          <p:cNvPr id="27" name="Text 25"/>
          <p:cNvSpPr/>
          <p:nvPr/>
        </p:nvSpPr>
        <p:spPr>
          <a:xfrm>
            <a:off x="2240280" y="3813048"/>
            <a:ext cx="6400800" cy="219456"/>
          </a:xfrm>
          <a:prstGeom prst="rect">
            <a:avLst/>
          </a:prstGeom>
          <a:noFill/>
          <a:ln/>
        </p:spPr>
        <p:txBody>
          <a:bodyPr wrap="square" lIns="0" tIns="0" rIns="0" bIns="0" rtlCol="0" anchor="ctr"/>
          <a:lstStyle/>
          <a:p>
            <a:pPr indent="0" marL="0">
              <a:buNone/>
            </a:pPr>
            <a:r>
              <a:rPr lang="en-US" sz="1000" dirty="0">
                <a:solidFill>
                  <a:srgbClr val="64748B"/>
                </a:solidFill>
              </a:rPr>
              <a:t>Entities and data transfer objects</a:t>
            </a:r>
            <a:endParaRPr lang="en-US" sz="1000" dirty="0"/>
          </a:p>
        </p:txBody>
      </p:sp>
      <p:sp>
        <p:nvSpPr>
          <p:cNvPr id="28" name="Shape 26"/>
          <p:cNvSpPr/>
          <p:nvPr/>
        </p:nvSpPr>
        <p:spPr>
          <a:xfrm>
            <a:off x="365760" y="4224528"/>
            <a:ext cx="8412480" cy="658368"/>
          </a:xfrm>
          <a:prstGeom prst="roundRect">
            <a:avLst>
              <a:gd name="adj" fmla="val 11111"/>
            </a:avLst>
          </a:prstGeom>
          <a:solidFill>
            <a:srgbClr val="F8FAFC"/>
          </a:solidFill>
          <a:ln w="12700">
            <a:solidFill>
              <a:srgbClr val="E2E8F0"/>
            </a:solidFill>
            <a:prstDash val="solid"/>
          </a:ln>
        </p:spPr>
      </p:sp>
      <p:sp>
        <p:nvSpPr>
          <p:cNvPr id="29" name="Shape 27"/>
          <p:cNvSpPr/>
          <p:nvPr/>
        </p:nvSpPr>
        <p:spPr>
          <a:xfrm>
            <a:off x="365760" y="4224528"/>
            <a:ext cx="1737360" cy="658368"/>
          </a:xfrm>
          <a:prstGeom prst="roundRect">
            <a:avLst>
              <a:gd name="adj" fmla="val 11111"/>
            </a:avLst>
          </a:prstGeom>
          <a:solidFill>
            <a:srgbClr val="7C3AED"/>
          </a:solidFill>
          <a:ln w="12700">
            <a:solidFill>
              <a:srgbClr val="7C3AED"/>
            </a:solidFill>
            <a:prstDash val="solid"/>
          </a:ln>
        </p:spPr>
      </p:sp>
      <p:sp>
        <p:nvSpPr>
          <p:cNvPr id="30" name="Shape 28"/>
          <p:cNvSpPr/>
          <p:nvPr/>
        </p:nvSpPr>
        <p:spPr>
          <a:xfrm>
            <a:off x="1371600" y="4224528"/>
            <a:ext cx="731520" cy="658368"/>
          </a:xfrm>
          <a:prstGeom prst="rect">
            <a:avLst/>
          </a:prstGeom>
          <a:solidFill>
            <a:srgbClr val="7C3AED"/>
          </a:solidFill>
          <a:ln w="12700">
            <a:solidFill>
              <a:srgbClr val="7C3AED"/>
            </a:solidFill>
            <a:prstDash val="solid"/>
          </a:ln>
        </p:spPr>
      </p:sp>
      <p:sp>
        <p:nvSpPr>
          <p:cNvPr id="31" name="Text 29"/>
          <p:cNvSpPr/>
          <p:nvPr/>
        </p:nvSpPr>
        <p:spPr>
          <a:xfrm>
            <a:off x="411480" y="4224528"/>
            <a:ext cx="1645920" cy="658368"/>
          </a:xfrm>
          <a:prstGeom prst="rect">
            <a:avLst/>
          </a:prstGeom>
          <a:noFill/>
          <a:ln/>
        </p:spPr>
        <p:txBody>
          <a:bodyPr wrap="square" lIns="0" tIns="0" rIns="0" bIns="0" rtlCol="0" anchor="ctr"/>
          <a:lstStyle/>
          <a:p>
            <a:pPr algn="ctr" indent="0" marL="0">
              <a:buNone/>
            </a:pPr>
            <a:r>
              <a:rPr lang="en-US" sz="1000" b="1" dirty="0">
                <a:solidFill>
                  <a:srgbClr val="FFFFFF"/>
                </a:solidFill>
              </a:rPr>
              <a:t>Security</a:t>
            </a:r>
            <a:endParaRPr lang="en-US" sz="1000" dirty="0"/>
          </a:p>
        </p:txBody>
      </p:sp>
      <p:sp>
        <p:nvSpPr>
          <p:cNvPr id="32" name="Text 30"/>
          <p:cNvSpPr/>
          <p:nvPr/>
        </p:nvSpPr>
        <p:spPr>
          <a:xfrm>
            <a:off x="2240280" y="4279392"/>
            <a:ext cx="6400800" cy="256032"/>
          </a:xfrm>
          <a:prstGeom prst="rect">
            <a:avLst/>
          </a:prstGeom>
          <a:noFill/>
          <a:ln/>
        </p:spPr>
        <p:txBody>
          <a:bodyPr wrap="square" lIns="0" tIns="0" rIns="0" bIns="0" rtlCol="0" anchor="ctr"/>
          <a:lstStyle/>
          <a:p>
            <a:pPr indent="0" marL="0">
              <a:buNone/>
            </a:pPr>
            <a:r>
              <a:rPr lang="en-US" sz="1000" b="1" dirty="0">
                <a:solidFill>
                  <a:srgbClr val="1E293B"/>
                </a:solidFill>
              </a:rPr>
              <a:t>JwtAuthFilter  •  JwtUtil  •  SecurityConfig  •  UserDetailsServiceImpl</a:t>
            </a:r>
            <a:endParaRPr lang="en-US" sz="1000" dirty="0"/>
          </a:p>
        </p:txBody>
      </p:sp>
      <p:sp>
        <p:nvSpPr>
          <p:cNvPr id="33" name="Text 31"/>
          <p:cNvSpPr/>
          <p:nvPr/>
        </p:nvSpPr>
        <p:spPr>
          <a:xfrm>
            <a:off x="2240280" y="4572000"/>
            <a:ext cx="6400800" cy="219456"/>
          </a:xfrm>
          <a:prstGeom prst="rect">
            <a:avLst/>
          </a:prstGeom>
          <a:noFill/>
          <a:ln/>
        </p:spPr>
        <p:txBody>
          <a:bodyPr wrap="square" lIns="0" tIns="0" rIns="0" bIns="0" rtlCol="0" anchor="ctr"/>
          <a:lstStyle/>
          <a:p>
            <a:pPr indent="0" marL="0">
              <a:buNone/>
            </a:pPr>
            <a:r>
              <a:rPr lang="en-US" sz="1000" dirty="0">
                <a:solidFill>
                  <a:srgbClr val="64748B"/>
                </a:solidFill>
              </a:rPr>
              <a:t>JWT filter chain, CORS, route protection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rtlCol="0" anchor="ctr"/>
          <a:lstStyle/>
          <a:p>
            <a:pPr indent="0" marL="0">
              <a:buNone/>
            </a:pPr>
            <a:r>
              <a:rPr lang="en-US" sz="3000" b="1" dirty="0">
                <a:solidFill>
                  <a:srgbClr val="0A1628"/>
                </a:solidFill>
              </a:rPr>
              <a:t>Evaluation Criteria — Summary</a:t>
            </a:r>
            <a:endParaRPr lang="en-US" sz="3000" dirty="0"/>
          </a:p>
        </p:txBody>
      </p:sp>
      <p:sp>
        <p:nvSpPr>
          <p:cNvPr id="3" name="Shape 1"/>
          <p:cNvSpPr/>
          <p:nvPr/>
        </p:nvSpPr>
        <p:spPr>
          <a:xfrm>
            <a:off x="274320" y="1051560"/>
            <a:ext cx="2743200" cy="3749040"/>
          </a:xfrm>
          <a:prstGeom prst="roundRect">
            <a:avLst>
              <a:gd name="adj" fmla="val 400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4" name="Shape 2"/>
          <p:cNvSpPr/>
          <p:nvPr/>
        </p:nvSpPr>
        <p:spPr>
          <a:xfrm>
            <a:off x="274320" y="1051560"/>
            <a:ext cx="2743200" cy="502920"/>
          </a:xfrm>
          <a:prstGeom prst="roundRect">
            <a:avLst>
              <a:gd name="adj" fmla="val 21818"/>
            </a:avLst>
          </a:prstGeom>
          <a:solidFill>
            <a:srgbClr val="1B4F9C"/>
          </a:solidFill>
          <a:ln w="12700">
            <a:solidFill>
              <a:srgbClr val="1B4F9C"/>
            </a:solidFill>
            <a:prstDash val="solid"/>
          </a:ln>
        </p:spPr>
      </p:sp>
      <p:sp>
        <p:nvSpPr>
          <p:cNvPr id="5" name="Shape 3"/>
          <p:cNvSpPr/>
          <p:nvPr/>
        </p:nvSpPr>
        <p:spPr>
          <a:xfrm>
            <a:off x="274320" y="1325880"/>
            <a:ext cx="2743200" cy="228600"/>
          </a:xfrm>
          <a:prstGeom prst="rect">
            <a:avLst/>
          </a:prstGeom>
          <a:solidFill>
            <a:srgbClr val="1B4F9C"/>
          </a:solidFill>
          <a:ln w="12700">
            <a:solidFill>
              <a:srgbClr val="1B4F9C"/>
            </a:solidFill>
            <a:prstDash val="solid"/>
          </a:ln>
        </p:spPr>
      </p:sp>
      <p:sp>
        <p:nvSpPr>
          <p:cNvPr id="6" name="Text 4"/>
          <p:cNvSpPr/>
          <p:nvPr/>
        </p:nvSpPr>
        <p:spPr>
          <a:xfrm>
            <a:off x="274320" y="1051560"/>
            <a:ext cx="2743200" cy="502920"/>
          </a:xfrm>
          <a:prstGeom prst="rect">
            <a:avLst/>
          </a:prstGeom>
          <a:noFill/>
          <a:ln/>
        </p:spPr>
        <p:txBody>
          <a:bodyPr wrap="square" lIns="0" tIns="0" rIns="0" bIns="0" rtlCol="0" anchor="ctr"/>
          <a:lstStyle/>
          <a:p>
            <a:pPr algn="ctr" indent="0" marL="0">
              <a:buNone/>
            </a:pPr>
            <a:r>
              <a:rPr lang="en-US" sz="1200" b="1" dirty="0">
                <a:solidFill>
                  <a:srgbClr val="FFFFFF"/>
                </a:solidFill>
              </a:rPr>
              <a:t>Technical Implementation</a:t>
            </a:r>
            <a:endParaRPr lang="en-US" sz="1200" dirty="0"/>
          </a:p>
        </p:txBody>
      </p:sp>
      <p:sp>
        <p:nvSpPr>
          <p:cNvPr id="7" name="Shape 5"/>
          <p:cNvSpPr/>
          <p:nvPr/>
        </p:nvSpPr>
        <p:spPr>
          <a:xfrm>
            <a:off x="457200" y="1764792"/>
            <a:ext cx="201168" cy="201168"/>
          </a:xfrm>
          <a:prstGeom prst="ellipse">
            <a:avLst/>
          </a:prstGeom>
          <a:solidFill>
            <a:srgbClr val="1B4F9C"/>
          </a:solidFill>
          <a:ln w="12700">
            <a:solidFill>
              <a:srgbClr val="1B4F9C"/>
            </a:solidFill>
            <a:prstDash val="solid"/>
          </a:ln>
        </p:spPr>
      </p:sp>
      <p:sp>
        <p:nvSpPr>
          <p:cNvPr id="8" name="Text 6"/>
          <p:cNvSpPr/>
          <p:nvPr/>
        </p:nvSpPr>
        <p:spPr>
          <a:xfrm>
            <a:off x="731520" y="1691640"/>
            <a:ext cx="2194560" cy="347472"/>
          </a:xfrm>
          <a:prstGeom prst="rect">
            <a:avLst/>
          </a:prstGeom>
          <a:noFill/>
          <a:ln/>
        </p:spPr>
        <p:txBody>
          <a:bodyPr wrap="square" lIns="0" tIns="0" rIns="0" bIns="0" rtlCol="0" anchor="ctr"/>
          <a:lstStyle/>
          <a:p>
            <a:pPr indent="0" marL="0">
              <a:buNone/>
            </a:pPr>
            <a:r>
              <a:rPr lang="en-US" sz="1050" dirty="0">
                <a:solidFill>
                  <a:srgbClr val="1E293B"/>
                </a:solidFill>
              </a:rPr>
              <a:t>JWT Authentication + Spring Security</a:t>
            </a:r>
            <a:endParaRPr lang="en-US" sz="1050" dirty="0"/>
          </a:p>
        </p:txBody>
      </p:sp>
      <p:sp>
        <p:nvSpPr>
          <p:cNvPr id="9" name="Shape 7"/>
          <p:cNvSpPr/>
          <p:nvPr/>
        </p:nvSpPr>
        <p:spPr>
          <a:xfrm>
            <a:off x="457200" y="2377440"/>
            <a:ext cx="201168" cy="201168"/>
          </a:xfrm>
          <a:prstGeom prst="ellipse">
            <a:avLst/>
          </a:prstGeom>
          <a:solidFill>
            <a:srgbClr val="1B4F9C"/>
          </a:solidFill>
          <a:ln w="12700">
            <a:solidFill>
              <a:srgbClr val="1B4F9C"/>
            </a:solidFill>
            <a:prstDash val="solid"/>
          </a:ln>
        </p:spPr>
      </p:sp>
      <p:sp>
        <p:nvSpPr>
          <p:cNvPr id="10" name="Text 8"/>
          <p:cNvSpPr/>
          <p:nvPr/>
        </p:nvSpPr>
        <p:spPr>
          <a:xfrm>
            <a:off x="731520" y="2304288"/>
            <a:ext cx="2194560" cy="347472"/>
          </a:xfrm>
          <a:prstGeom prst="rect">
            <a:avLst/>
          </a:prstGeom>
          <a:noFill/>
          <a:ln/>
        </p:spPr>
        <p:txBody>
          <a:bodyPr wrap="square" lIns="0" tIns="0" rIns="0" bIns="0" rtlCol="0" anchor="ctr"/>
          <a:lstStyle/>
          <a:p>
            <a:pPr indent="0" marL="0">
              <a:buNone/>
            </a:pPr>
            <a:r>
              <a:rPr lang="en-US" sz="1050" dirty="0">
                <a:solidFill>
                  <a:srgbClr val="1E293B"/>
                </a:solidFill>
              </a:rPr>
              <a:t>RBAC with @PreAuthorize annotations</a:t>
            </a:r>
            <a:endParaRPr lang="en-US" sz="1050" dirty="0"/>
          </a:p>
        </p:txBody>
      </p:sp>
      <p:sp>
        <p:nvSpPr>
          <p:cNvPr id="11" name="Shape 9"/>
          <p:cNvSpPr/>
          <p:nvPr/>
        </p:nvSpPr>
        <p:spPr>
          <a:xfrm>
            <a:off x="457200" y="2990088"/>
            <a:ext cx="201168" cy="201168"/>
          </a:xfrm>
          <a:prstGeom prst="ellipse">
            <a:avLst/>
          </a:prstGeom>
          <a:solidFill>
            <a:srgbClr val="1B4F9C"/>
          </a:solidFill>
          <a:ln w="12700">
            <a:solidFill>
              <a:srgbClr val="1B4F9C"/>
            </a:solidFill>
            <a:prstDash val="solid"/>
          </a:ln>
        </p:spPr>
      </p:sp>
      <p:sp>
        <p:nvSpPr>
          <p:cNvPr id="12" name="Text 10"/>
          <p:cNvSpPr/>
          <p:nvPr/>
        </p:nvSpPr>
        <p:spPr>
          <a:xfrm>
            <a:off x="731520" y="2916936"/>
            <a:ext cx="2194560" cy="347472"/>
          </a:xfrm>
          <a:prstGeom prst="rect">
            <a:avLst/>
          </a:prstGeom>
          <a:noFill/>
          <a:ln/>
        </p:spPr>
        <p:txBody>
          <a:bodyPr wrap="square" lIns="0" tIns="0" rIns="0" bIns="0" rtlCol="0" anchor="ctr"/>
          <a:lstStyle/>
          <a:p>
            <a:pPr indent="0" marL="0">
              <a:buNone/>
            </a:pPr>
            <a:r>
              <a:rPr lang="en-US" sz="1050" dirty="0">
                <a:solidFill>
                  <a:srgbClr val="1E293B"/>
                </a:solidFill>
              </a:rPr>
              <a:t>Overdue detection + Email notifications</a:t>
            </a:r>
            <a:endParaRPr lang="en-US" sz="1050" dirty="0"/>
          </a:p>
        </p:txBody>
      </p:sp>
      <p:sp>
        <p:nvSpPr>
          <p:cNvPr id="13" name="Shape 11"/>
          <p:cNvSpPr/>
          <p:nvPr/>
        </p:nvSpPr>
        <p:spPr>
          <a:xfrm>
            <a:off x="457200" y="3602736"/>
            <a:ext cx="201168" cy="201168"/>
          </a:xfrm>
          <a:prstGeom prst="ellipse">
            <a:avLst/>
          </a:prstGeom>
          <a:solidFill>
            <a:srgbClr val="1B4F9C"/>
          </a:solidFill>
          <a:ln w="12700">
            <a:solidFill>
              <a:srgbClr val="1B4F9C"/>
            </a:solidFill>
            <a:prstDash val="solid"/>
          </a:ln>
        </p:spPr>
      </p:sp>
      <p:sp>
        <p:nvSpPr>
          <p:cNvPr id="14" name="Text 12"/>
          <p:cNvSpPr/>
          <p:nvPr/>
        </p:nvSpPr>
        <p:spPr>
          <a:xfrm>
            <a:off x="731520" y="3529584"/>
            <a:ext cx="2194560" cy="347472"/>
          </a:xfrm>
          <a:prstGeom prst="rect">
            <a:avLst/>
          </a:prstGeom>
          <a:noFill/>
          <a:ln/>
        </p:spPr>
        <p:txBody>
          <a:bodyPr wrap="square" lIns="0" tIns="0" rIns="0" bIns="0" rtlCol="0" anchor="ctr"/>
          <a:lstStyle/>
          <a:p>
            <a:pPr indent="0" marL="0">
              <a:buNone/>
            </a:pPr>
            <a:r>
              <a:rPr lang="en-US" sz="1050" dirty="0">
                <a:solidFill>
                  <a:srgbClr val="1E293B"/>
                </a:solidFill>
              </a:rPr>
              <a:t>Admin panel + Dashboard stats</a:t>
            </a:r>
            <a:endParaRPr lang="en-US" sz="1050" dirty="0"/>
          </a:p>
        </p:txBody>
      </p:sp>
      <p:sp>
        <p:nvSpPr>
          <p:cNvPr id="15" name="Shape 13"/>
          <p:cNvSpPr/>
          <p:nvPr/>
        </p:nvSpPr>
        <p:spPr>
          <a:xfrm>
            <a:off x="457200" y="4215384"/>
            <a:ext cx="201168" cy="201168"/>
          </a:xfrm>
          <a:prstGeom prst="ellipse">
            <a:avLst/>
          </a:prstGeom>
          <a:solidFill>
            <a:srgbClr val="1B4F9C"/>
          </a:solidFill>
          <a:ln w="12700">
            <a:solidFill>
              <a:srgbClr val="1B4F9C"/>
            </a:solidFill>
            <a:prstDash val="solid"/>
          </a:ln>
        </p:spPr>
      </p:sp>
      <p:sp>
        <p:nvSpPr>
          <p:cNvPr id="16" name="Text 14"/>
          <p:cNvSpPr/>
          <p:nvPr/>
        </p:nvSpPr>
        <p:spPr>
          <a:xfrm>
            <a:off x="731520" y="4142232"/>
            <a:ext cx="2194560" cy="347472"/>
          </a:xfrm>
          <a:prstGeom prst="rect">
            <a:avLst/>
          </a:prstGeom>
          <a:noFill/>
          <a:ln/>
        </p:spPr>
        <p:txBody>
          <a:bodyPr wrap="square" lIns="0" tIns="0" rIns="0" bIns="0" rtlCol="0" anchor="ctr"/>
          <a:lstStyle/>
          <a:p>
            <a:pPr indent="0" marL="0">
              <a:buNone/>
            </a:pPr>
            <a:r>
              <a:rPr lang="en-US" sz="1050" dirty="0">
                <a:solidFill>
                  <a:srgbClr val="1E293B"/>
                </a:solidFill>
              </a:rPr>
              <a:t>Docker deployment on Render</a:t>
            </a:r>
            <a:endParaRPr lang="en-US" sz="1050" dirty="0"/>
          </a:p>
        </p:txBody>
      </p:sp>
      <p:sp>
        <p:nvSpPr>
          <p:cNvPr id="17" name="Shape 15"/>
          <p:cNvSpPr/>
          <p:nvPr/>
        </p:nvSpPr>
        <p:spPr>
          <a:xfrm>
            <a:off x="3218688" y="1051560"/>
            <a:ext cx="2743200" cy="3749040"/>
          </a:xfrm>
          <a:prstGeom prst="roundRect">
            <a:avLst>
              <a:gd name="adj" fmla="val 400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8" name="Shape 16"/>
          <p:cNvSpPr/>
          <p:nvPr/>
        </p:nvSpPr>
        <p:spPr>
          <a:xfrm>
            <a:off x="3218688" y="1051560"/>
            <a:ext cx="2743200" cy="502920"/>
          </a:xfrm>
          <a:prstGeom prst="roundRect">
            <a:avLst>
              <a:gd name="adj" fmla="val 21818"/>
            </a:avLst>
          </a:prstGeom>
          <a:solidFill>
            <a:srgbClr val="0EA5E9"/>
          </a:solidFill>
          <a:ln w="12700">
            <a:solidFill>
              <a:srgbClr val="0EA5E9"/>
            </a:solidFill>
            <a:prstDash val="solid"/>
          </a:ln>
        </p:spPr>
      </p:sp>
      <p:sp>
        <p:nvSpPr>
          <p:cNvPr id="19" name="Shape 17"/>
          <p:cNvSpPr/>
          <p:nvPr/>
        </p:nvSpPr>
        <p:spPr>
          <a:xfrm>
            <a:off x="3218688" y="1325880"/>
            <a:ext cx="2743200" cy="228600"/>
          </a:xfrm>
          <a:prstGeom prst="rect">
            <a:avLst/>
          </a:prstGeom>
          <a:solidFill>
            <a:srgbClr val="0EA5E9"/>
          </a:solidFill>
          <a:ln w="12700">
            <a:solidFill>
              <a:srgbClr val="0EA5E9"/>
            </a:solidFill>
            <a:prstDash val="solid"/>
          </a:ln>
        </p:spPr>
      </p:sp>
      <p:sp>
        <p:nvSpPr>
          <p:cNvPr id="20" name="Text 18"/>
          <p:cNvSpPr/>
          <p:nvPr/>
        </p:nvSpPr>
        <p:spPr>
          <a:xfrm>
            <a:off x="3218688" y="1051560"/>
            <a:ext cx="2743200" cy="502920"/>
          </a:xfrm>
          <a:prstGeom prst="rect">
            <a:avLst/>
          </a:prstGeom>
          <a:noFill/>
          <a:ln/>
        </p:spPr>
        <p:txBody>
          <a:bodyPr wrap="square" lIns="0" tIns="0" rIns="0" bIns="0" rtlCol="0" anchor="ctr"/>
          <a:lstStyle/>
          <a:p>
            <a:pPr algn="ctr" indent="0" marL="0">
              <a:buNone/>
            </a:pPr>
            <a:r>
              <a:rPr lang="en-US" sz="1200" b="1" dirty="0">
                <a:solidFill>
                  <a:srgbClr val="FFFFFF"/>
                </a:solidFill>
              </a:rPr>
              <a:t>Code Quality</a:t>
            </a:r>
            <a:endParaRPr lang="en-US" sz="1200" dirty="0"/>
          </a:p>
        </p:txBody>
      </p:sp>
      <p:sp>
        <p:nvSpPr>
          <p:cNvPr id="21" name="Shape 19"/>
          <p:cNvSpPr/>
          <p:nvPr/>
        </p:nvSpPr>
        <p:spPr>
          <a:xfrm>
            <a:off x="3401568" y="1764792"/>
            <a:ext cx="201168" cy="201168"/>
          </a:xfrm>
          <a:prstGeom prst="ellipse">
            <a:avLst/>
          </a:prstGeom>
          <a:solidFill>
            <a:srgbClr val="0EA5E9"/>
          </a:solidFill>
          <a:ln w="12700">
            <a:solidFill>
              <a:srgbClr val="0EA5E9"/>
            </a:solidFill>
            <a:prstDash val="solid"/>
          </a:ln>
        </p:spPr>
      </p:sp>
      <p:sp>
        <p:nvSpPr>
          <p:cNvPr id="22" name="Text 20"/>
          <p:cNvSpPr/>
          <p:nvPr/>
        </p:nvSpPr>
        <p:spPr>
          <a:xfrm>
            <a:off x="3675888" y="1691640"/>
            <a:ext cx="2194560" cy="347472"/>
          </a:xfrm>
          <a:prstGeom prst="rect">
            <a:avLst/>
          </a:prstGeom>
          <a:noFill/>
          <a:ln/>
        </p:spPr>
        <p:txBody>
          <a:bodyPr wrap="square" lIns="0" tIns="0" rIns="0" bIns="0" rtlCol="0" anchor="ctr"/>
          <a:lstStyle/>
          <a:p>
            <a:pPr indent="0" marL="0">
              <a:buNone/>
            </a:pPr>
            <a:r>
              <a:rPr lang="en-US" sz="1050" dirty="0">
                <a:solidFill>
                  <a:srgbClr val="1E293B"/>
                </a:solidFill>
              </a:rPr>
              <a:t>Layered architecture (Controller→Service→Repo)</a:t>
            </a:r>
            <a:endParaRPr lang="en-US" sz="1050" dirty="0"/>
          </a:p>
        </p:txBody>
      </p:sp>
      <p:sp>
        <p:nvSpPr>
          <p:cNvPr id="23" name="Shape 21"/>
          <p:cNvSpPr/>
          <p:nvPr/>
        </p:nvSpPr>
        <p:spPr>
          <a:xfrm>
            <a:off x="3401568" y="2377440"/>
            <a:ext cx="201168" cy="201168"/>
          </a:xfrm>
          <a:prstGeom prst="ellipse">
            <a:avLst/>
          </a:prstGeom>
          <a:solidFill>
            <a:srgbClr val="0EA5E9"/>
          </a:solidFill>
          <a:ln w="12700">
            <a:solidFill>
              <a:srgbClr val="0EA5E9"/>
            </a:solidFill>
            <a:prstDash val="solid"/>
          </a:ln>
        </p:spPr>
      </p:sp>
      <p:sp>
        <p:nvSpPr>
          <p:cNvPr id="24" name="Text 22"/>
          <p:cNvSpPr/>
          <p:nvPr/>
        </p:nvSpPr>
        <p:spPr>
          <a:xfrm>
            <a:off x="3675888" y="2304288"/>
            <a:ext cx="2194560" cy="347472"/>
          </a:xfrm>
          <a:prstGeom prst="rect">
            <a:avLst/>
          </a:prstGeom>
          <a:noFill/>
          <a:ln/>
        </p:spPr>
        <p:txBody>
          <a:bodyPr wrap="square" lIns="0" tIns="0" rIns="0" bIns="0" rtlCol="0" anchor="ctr"/>
          <a:lstStyle/>
          <a:p>
            <a:pPr indent="0" marL="0">
              <a:buNone/>
            </a:pPr>
            <a:r>
              <a:rPr lang="en-US" sz="1050" dirty="0">
                <a:solidFill>
                  <a:srgbClr val="1E293B"/>
                </a:solidFill>
              </a:rPr>
              <a:t>@Valid on all request bodies</a:t>
            </a:r>
            <a:endParaRPr lang="en-US" sz="1050" dirty="0"/>
          </a:p>
        </p:txBody>
      </p:sp>
      <p:sp>
        <p:nvSpPr>
          <p:cNvPr id="25" name="Shape 23"/>
          <p:cNvSpPr/>
          <p:nvPr/>
        </p:nvSpPr>
        <p:spPr>
          <a:xfrm>
            <a:off x="3401568" y="2990088"/>
            <a:ext cx="201168" cy="201168"/>
          </a:xfrm>
          <a:prstGeom prst="ellipse">
            <a:avLst/>
          </a:prstGeom>
          <a:solidFill>
            <a:srgbClr val="0EA5E9"/>
          </a:solidFill>
          <a:ln w="12700">
            <a:solidFill>
              <a:srgbClr val="0EA5E9"/>
            </a:solidFill>
            <a:prstDash val="solid"/>
          </a:ln>
        </p:spPr>
      </p:sp>
      <p:sp>
        <p:nvSpPr>
          <p:cNvPr id="26" name="Text 24"/>
          <p:cNvSpPr/>
          <p:nvPr/>
        </p:nvSpPr>
        <p:spPr>
          <a:xfrm>
            <a:off x="3675888" y="2916936"/>
            <a:ext cx="2194560" cy="347472"/>
          </a:xfrm>
          <a:prstGeom prst="rect">
            <a:avLst/>
          </a:prstGeom>
          <a:noFill/>
          <a:ln/>
        </p:spPr>
        <p:txBody>
          <a:bodyPr wrap="square" lIns="0" tIns="0" rIns="0" bIns="0" rtlCol="0" anchor="ctr"/>
          <a:lstStyle/>
          <a:p>
            <a:pPr indent="0" marL="0">
              <a:buNone/>
            </a:pPr>
            <a:r>
              <a:rPr lang="en-US" sz="1050" dirty="0">
                <a:solidFill>
                  <a:srgbClr val="1E293B"/>
                </a:solidFill>
              </a:rPr>
              <a:t>Global exception handler</a:t>
            </a:r>
            <a:endParaRPr lang="en-US" sz="1050" dirty="0"/>
          </a:p>
        </p:txBody>
      </p:sp>
      <p:sp>
        <p:nvSpPr>
          <p:cNvPr id="27" name="Shape 25"/>
          <p:cNvSpPr/>
          <p:nvPr/>
        </p:nvSpPr>
        <p:spPr>
          <a:xfrm>
            <a:off x="3401568" y="3602736"/>
            <a:ext cx="201168" cy="201168"/>
          </a:xfrm>
          <a:prstGeom prst="ellipse">
            <a:avLst/>
          </a:prstGeom>
          <a:solidFill>
            <a:srgbClr val="0EA5E9"/>
          </a:solidFill>
          <a:ln w="12700">
            <a:solidFill>
              <a:srgbClr val="0EA5E9"/>
            </a:solidFill>
            <a:prstDash val="solid"/>
          </a:ln>
        </p:spPr>
      </p:sp>
      <p:sp>
        <p:nvSpPr>
          <p:cNvPr id="28" name="Text 26"/>
          <p:cNvSpPr/>
          <p:nvPr/>
        </p:nvSpPr>
        <p:spPr>
          <a:xfrm>
            <a:off x="3675888" y="3529584"/>
            <a:ext cx="2194560" cy="347472"/>
          </a:xfrm>
          <a:prstGeom prst="rect">
            <a:avLst/>
          </a:prstGeom>
          <a:noFill/>
          <a:ln/>
        </p:spPr>
        <p:txBody>
          <a:bodyPr wrap="square" lIns="0" tIns="0" rIns="0" bIns="0" rtlCol="0" anchor="ctr"/>
          <a:lstStyle/>
          <a:p>
            <a:pPr indent="0" marL="0">
              <a:buNone/>
            </a:pPr>
            <a:r>
              <a:rPr lang="en-US" sz="1050" dirty="0">
                <a:solidFill>
                  <a:srgbClr val="1E293B"/>
                </a:solidFill>
              </a:rPr>
              <a:t>Async notifications (@Async)</a:t>
            </a:r>
            <a:endParaRPr lang="en-US" sz="1050" dirty="0"/>
          </a:p>
        </p:txBody>
      </p:sp>
      <p:sp>
        <p:nvSpPr>
          <p:cNvPr id="29" name="Shape 27"/>
          <p:cNvSpPr/>
          <p:nvPr/>
        </p:nvSpPr>
        <p:spPr>
          <a:xfrm>
            <a:off x="3401568" y="4215384"/>
            <a:ext cx="201168" cy="201168"/>
          </a:xfrm>
          <a:prstGeom prst="ellipse">
            <a:avLst/>
          </a:prstGeom>
          <a:solidFill>
            <a:srgbClr val="0EA5E9"/>
          </a:solidFill>
          <a:ln w="12700">
            <a:solidFill>
              <a:srgbClr val="0EA5E9"/>
            </a:solidFill>
            <a:prstDash val="solid"/>
          </a:ln>
        </p:spPr>
      </p:sp>
      <p:sp>
        <p:nvSpPr>
          <p:cNvPr id="30" name="Text 28"/>
          <p:cNvSpPr/>
          <p:nvPr/>
        </p:nvSpPr>
        <p:spPr>
          <a:xfrm>
            <a:off x="3675888" y="4142232"/>
            <a:ext cx="2194560" cy="347472"/>
          </a:xfrm>
          <a:prstGeom prst="rect">
            <a:avLst/>
          </a:prstGeom>
          <a:noFill/>
          <a:ln/>
        </p:spPr>
        <p:txBody>
          <a:bodyPr wrap="square" lIns="0" tIns="0" rIns="0" bIns="0" rtlCol="0" anchor="ctr"/>
          <a:lstStyle/>
          <a:p>
            <a:pPr indent="0" marL="0">
              <a:buNone/>
            </a:pPr>
            <a:r>
              <a:rPr lang="en-US" sz="1050" dirty="0">
                <a:solidFill>
                  <a:srgbClr val="1E293B"/>
                </a:solidFill>
              </a:rPr>
              <a:t>Clean DTOs — no entity exposure</a:t>
            </a:r>
            <a:endParaRPr lang="en-US" sz="1050" dirty="0"/>
          </a:p>
        </p:txBody>
      </p:sp>
      <p:sp>
        <p:nvSpPr>
          <p:cNvPr id="31" name="Shape 29"/>
          <p:cNvSpPr/>
          <p:nvPr/>
        </p:nvSpPr>
        <p:spPr>
          <a:xfrm>
            <a:off x="6163056" y="1051560"/>
            <a:ext cx="2743200" cy="3749040"/>
          </a:xfrm>
          <a:prstGeom prst="roundRect">
            <a:avLst>
              <a:gd name="adj" fmla="val 400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32" name="Shape 30"/>
          <p:cNvSpPr/>
          <p:nvPr/>
        </p:nvSpPr>
        <p:spPr>
          <a:xfrm>
            <a:off x="6163056" y="1051560"/>
            <a:ext cx="2743200" cy="502920"/>
          </a:xfrm>
          <a:prstGeom prst="roundRect">
            <a:avLst>
              <a:gd name="adj" fmla="val 21818"/>
            </a:avLst>
          </a:prstGeom>
          <a:solidFill>
            <a:srgbClr val="22C55E"/>
          </a:solidFill>
          <a:ln w="12700">
            <a:solidFill>
              <a:srgbClr val="22C55E"/>
            </a:solidFill>
            <a:prstDash val="solid"/>
          </a:ln>
        </p:spPr>
      </p:sp>
      <p:sp>
        <p:nvSpPr>
          <p:cNvPr id="33" name="Shape 31"/>
          <p:cNvSpPr/>
          <p:nvPr/>
        </p:nvSpPr>
        <p:spPr>
          <a:xfrm>
            <a:off x="6163056" y="1325880"/>
            <a:ext cx="2743200" cy="228600"/>
          </a:xfrm>
          <a:prstGeom prst="rect">
            <a:avLst/>
          </a:prstGeom>
          <a:solidFill>
            <a:srgbClr val="22C55E"/>
          </a:solidFill>
          <a:ln w="12700">
            <a:solidFill>
              <a:srgbClr val="22C55E"/>
            </a:solidFill>
            <a:prstDash val="solid"/>
          </a:ln>
        </p:spPr>
      </p:sp>
      <p:sp>
        <p:nvSpPr>
          <p:cNvPr id="34" name="Text 32"/>
          <p:cNvSpPr/>
          <p:nvPr/>
        </p:nvSpPr>
        <p:spPr>
          <a:xfrm>
            <a:off x="6163056" y="1051560"/>
            <a:ext cx="2743200" cy="502920"/>
          </a:xfrm>
          <a:prstGeom prst="rect">
            <a:avLst/>
          </a:prstGeom>
          <a:noFill/>
          <a:ln/>
        </p:spPr>
        <p:txBody>
          <a:bodyPr wrap="square" lIns="0" tIns="0" rIns="0" bIns="0" rtlCol="0" anchor="ctr"/>
          <a:lstStyle/>
          <a:p>
            <a:pPr algn="ctr" indent="0" marL="0">
              <a:buNone/>
            </a:pPr>
            <a:r>
              <a:rPr lang="en-US" sz="1200" b="1" dirty="0">
                <a:solidFill>
                  <a:srgbClr val="FFFFFF"/>
                </a:solidFill>
              </a:rPr>
              <a:t>Documentation</a:t>
            </a:r>
            <a:endParaRPr lang="en-US" sz="1200" dirty="0"/>
          </a:p>
        </p:txBody>
      </p:sp>
      <p:sp>
        <p:nvSpPr>
          <p:cNvPr id="35" name="Shape 33"/>
          <p:cNvSpPr/>
          <p:nvPr/>
        </p:nvSpPr>
        <p:spPr>
          <a:xfrm>
            <a:off x="6345936" y="1764792"/>
            <a:ext cx="201168" cy="201168"/>
          </a:xfrm>
          <a:prstGeom prst="ellipse">
            <a:avLst/>
          </a:prstGeom>
          <a:solidFill>
            <a:srgbClr val="22C55E"/>
          </a:solidFill>
          <a:ln w="12700">
            <a:solidFill>
              <a:srgbClr val="22C55E"/>
            </a:solidFill>
            <a:prstDash val="solid"/>
          </a:ln>
        </p:spPr>
      </p:sp>
      <p:sp>
        <p:nvSpPr>
          <p:cNvPr id="36" name="Text 34"/>
          <p:cNvSpPr/>
          <p:nvPr/>
        </p:nvSpPr>
        <p:spPr>
          <a:xfrm>
            <a:off x="6620256" y="1691640"/>
            <a:ext cx="2194560" cy="347472"/>
          </a:xfrm>
          <a:prstGeom prst="rect">
            <a:avLst/>
          </a:prstGeom>
          <a:noFill/>
          <a:ln/>
        </p:spPr>
        <p:txBody>
          <a:bodyPr wrap="square" lIns="0" tIns="0" rIns="0" bIns="0" rtlCol="0" anchor="ctr"/>
          <a:lstStyle/>
          <a:p>
            <a:pPr indent="0" marL="0">
              <a:buNone/>
            </a:pPr>
            <a:r>
              <a:rPr lang="en-US" sz="1050" dirty="0">
                <a:solidFill>
                  <a:srgbClr val="1E293B"/>
                </a:solidFill>
              </a:rPr>
              <a:t>Swagger UI — live interactive API docs</a:t>
            </a:r>
            <a:endParaRPr lang="en-US" sz="1050" dirty="0"/>
          </a:p>
        </p:txBody>
      </p:sp>
      <p:sp>
        <p:nvSpPr>
          <p:cNvPr id="37" name="Shape 35"/>
          <p:cNvSpPr/>
          <p:nvPr/>
        </p:nvSpPr>
        <p:spPr>
          <a:xfrm>
            <a:off x="6345936" y="2377440"/>
            <a:ext cx="201168" cy="201168"/>
          </a:xfrm>
          <a:prstGeom prst="ellipse">
            <a:avLst/>
          </a:prstGeom>
          <a:solidFill>
            <a:srgbClr val="22C55E"/>
          </a:solidFill>
          <a:ln w="12700">
            <a:solidFill>
              <a:srgbClr val="22C55E"/>
            </a:solidFill>
            <a:prstDash val="solid"/>
          </a:ln>
        </p:spPr>
      </p:sp>
      <p:sp>
        <p:nvSpPr>
          <p:cNvPr id="38" name="Text 36"/>
          <p:cNvSpPr/>
          <p:nvPr/>
        </p:nvSpPr>
        <p:spPr>
          <a:xfrm>
            <a:off x="6620256" y="2304288"/>
            <a:ext cx="2194560" cy="347472"/>
          </a:xfrm>
          <a:prstGeom prst="rect">
            <a:avLst/>
          </a:prstGeom>
          <a:noFill/>
          <a:ln/>
        </p:spPr>
        <p:txBody>
          <a:bodyPr wrap="square" lIns="0" tIns="0" rIns="0" bIns="0" rtlCol="0" anchor="ctr"/>
          <a:lstStyle/>
          <a:p>
            <a:pPr indent="0" marL="0">
              <a:buNone/>
            </a:pPr>
            <a:r>
              <a:rPr lang="en-US" sz="1050" dirty="0">
                <a:solidFill>
                  <a:srgbClr val="1E293B"/>
                </a:solidFill>
              </a:rPr>
              <a:t>README with Week 3 &amp; Week 4 clearly separated</a:t>
            </a:r>
            <a:endParaRPr lang="en-US" sz="1050" dirty="0"/>
          </a:p>
        </p:txBody>
      </p:sp>
      <p:sp>
        <p:nvSpPr>
          <p:cNvPr id="39" name="Shape 37"/>
          <p:cNvSpPr/>
          <p:nvPr/>
        </p:nvSpPr>
        <p:spPr>
          <a:xfrm>
            <a:off x="6345936" y="2990088"/>
            <a:ext cx="201168" cy="201168"/>
          </a:xfrm>
          <a:prstGeom prst="ellipse">
            <a:avLst/>
          </a:prstGeom>
          <a:solidFill>
            <a:srgbClr val="22C55E"/>
          </a:solidFill>
          <a:ln w="12700">
            <a:solidFill>
              <a:srgbClr val="22C55E"/>
            </a:solidFill>
            <a:prstDash val="solid"/>
          </a:ln>
        </p:spPr>
      </p:sp>
      <p:sp>
        <p:nvSpPr>
          <p:cNvPr id="40" name="Text 38"/>
          <p:cNvSpPr/>
          <p:nvPr/>
        </p:nvSpPr>
        <p:spPr>
          <a:xfrm>
            <a:off x="6620256" y="2916936"/>
            <a:ext cx="2194560" cy="347472"/>
          </a:xfrm>
          <a:prstGeom prst="rect">
            <a:avLst/>
          </a:prstGeom>
          <a:noFill/>
          <a:ln/>
        </p:spPr>
        <p:txBody>
          <a:bodyPr wrap="square" lIns="0" tIns="0" rIns="0" bIns="0" rtlCol="0" anchor="ctr"/>
          <a:lstStyle/>
          <a:p>
            <a:pPr indent="0" marL="0">
              <a:buNone/>
            </a:pPr>
            <a:r>
              <a:rPr lang="en-US" sz="1050" dirty="0">
                <a:solidFill>
                  <a:srgbClr val="1E293B"/>
                </a:solidFill>
              </a:rPr>
              <a:t>API endpoint tables</a:t>
            </a:r>
            <a:endParaRPr lang="en-US" sz="1050" dirty="0"/>
          </a:p>
        </p:txBody>
      </p:sp>
      <p:sp>
        <p:nvSpPr>
          <p:cNvPr id="41" name="Shape 39"/>
          <p:cNvSpPr/>
          <p:nvPr/>
        </p:nvSpPr>
        <p:spPr>
          <a:xfrm>
            <a:off x="6345936" y="3602736"/>
            <a:ext cx="201168" cy="201168"/>
          </a:xfrm>
          <a:prstGeom prst="ellipse">
            <a:avLst/>
          </a:prstGeom>
          <a:solidFill>
            <a:srgbClr val="22C55E"/>
          </a:solidFill>
          <a:ln w="12700">
            <a:solidFill>
              <a:srgbClr val="22C55E"/>
            </a:solidFill>
            <a:prstDash val="solid"/>
          </a:ln>
        </p:spPr>
      </p:sp>
      <p:sp>
        <p:nvSpPr>
          <p:cNvPr id="42" name="Text 40"/>
          <p:cNvSpPr/>
          <p:nvPr/>
        </p:nvSpPr>
        <p:spPr>
          <a:xfrm>
            <a:off x="6620256" y="3529584"/>
            <a:ext cx="2194560" cy="347472"/>
          </a:xfrm>
          <a:prstGeom prst="rect">
            <a:avLst/>
          </a:prstGeom>
          <a:noFill/>
          <a:ln/>
        </p:spPr>
        <p:txBody>
          <a:bodyPr wrap="square" lIns="0" tIns="0" rIns="0" bIns="0" rtlCol="0" anchor="ctr"/>
          <a:lstStyle/>
          <a:p>
            <a:pPr indent="0" marL="0">
              <a:buNone/>
            </a:pPr>
            <a:r>
              <a:rPr lang="en-US" sz="1050" dirty="0">
                <a:solidFill>
                  <a:srgbClr val="1E293B"/>
                </a:solidFill>
              </a:rPr>
              <a:t>Access control matrix</a:t>
            </a:r>
            <a:endParaRPr lang="en-US" sz="1050" dirty="0"/>
          </a:p>
        </p:txBody>
      </p:sp>
      <p:sp>
        <p:nvSpPr>
          <p:cNvPr id="43" name="Shape 41"/>
          <p:cNvSpPr/>
          <p:nvPr/>
        </p:nvSpPr>
        <p:spPr>
          <a:xfrm>
            <a:off x="6345936" y="4215384"/>
            <a:ext cx="201168" cy="201168"/>
          </a:xfrm>
          <a:prstGeom prst="ellipse">
            <a:avLst/>
          </a:prstGeom>
          <a:solidFill>
            <a:srgbClr val="22C55E"/>
          </a:solidFill>
          <a:ln w="12700">
            <a:solidFill>
              <a:srgbClr val="22C55E"/>
            </a:solidFill>
            <a:prstDash val="solid"/>
          </a:ln>
        </p:spPr>
      </p:sp>
      <p:sp>
        <p:nvSpPr>
          <p:cNvPr id="44" name="Text 42"/>
          <p:cNvSpPr/>
          <p:nvPr/>
        </p:nvSpPr>
        <p:spPr>
          <a:xfrm>
            <a:off x="6620256" y="4142232"/>
            <a:ext cx="2194560" cy="347472"/>
          </a:xfrm>
          <a:prstGeom prst="rect">
            <a:avLst/>
          </a:prstGeom>
          <a:noFill/>
          <a:ln/>
        </p:spPr>
        <p:txBody>
          <a:bodyPr wrap="square" lIns="0" tIns="0" rIns="0" bIns="0" rtlCol="0" anchor="ctr"/>
          <a:lstStyle/>
          <a:p>
            <a:pPr indent="0" marL="0">
              <a:buNone/>
            </a:pPr>
            <a:r>
              <a:rPr lang="en-US" sz="1050" dirty="0">
                <a:solidFill>
                  <a:srgbClr val="1E293B"/>
                </a:solidFill>
              </a:rPr>
              <a:t>.env.example for deployment reference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1B4F9C">
              <a:alpha val="25000"/>
            </a:srgbClr>
          </a:solidFill>
          <a:ln w="12700">
            <a:solidFill>
              <a:srgbClr val="1B4F9C">
                <a:alpha val="25000"/>
              </a:srgbClr>
            </a:solidFill>
            <a:prstDash val="solid"/>
          </a:ln>
        </p:spPr>
      </p:sp>
      <p:sp>
        <p:nvSpPr>
          <p:cNvPr id="3" name="Shape 1"/>
          <p:cNvSpPr/>
          <p:nvPr/>
        </p:nvSpPr>
        <p:spPr>
          <a:xfrm>
            <a:off x="6400800" y="1828800"/>
            <a:ext cx="3657600" cy="3657600"/>
          </a:xfrm>
          <a:prstGeom prst="ellipse">
            <a:avLst/>
          </a:prstGeom>
          <a:solidFill>
            <a:srgbClr val="0EA5E9">
              <a:alpha val="20000"/>
            </a:srgbClr>
          </a:solidFill>
          <a:ln w="12700">
            <a:solidFill>
              <a:srgbClr val="0EA5E9">
                <a:alpha val="20000"/>
              </a:srgbClr>
            </a:solidFill>
            <a:prstDash val="solid"/>
          </a:ln>
        </p:spPr>
      </p:sp>
      <p:sp>
        <p:nvSpPr>
          <p:cNvPr id="4" name="Text 2"/>
          <p:cNvSpPr/>
          <p:nvPr/>
        </p:nvSpPr>
        <p:spPr>
          <a:xfrm>
            <a:off x="457200" y="914400"/>
            <a:ext cx="8229600" cy="914400"/>
          </a:xfrm>
          <a:prstGeom prst="rect">
            <a:avLst/>
          </a:prstGeom>
          <a:noFill/>
          <a:ln/>
        </p:spPr>
        <p:txBody>
          <a:bodyPr wrap="square" rtlCol="0" anchor="ctr"/>
          <a:lstStyle/>
          <a:p>
            <a:pPr algn="ctr" indent="0" marL="0">
              <a:buNone/>
            </a:pPr>
            <a:r>
              <a:rPr lang="en-US" sz="5200" b="1" dirty="0">
                <a:solidFill>
                  <a:srgbClr val="FFFFFF"/>
                </a:solidFill>
              </a:rPr>
              <a:t>Thank You!</a:t>
            </a:r>
            <a:endParaRPr lang="en-US" sz="5200" dirty="0"/>
          </a:p>
        </p:txBody>
      </p:sp>
      <p:sp>
        <p:nvSpPr>
          <p:cNvPr id="5" name="Text 3"/>
          <p:cNvSpPr/>
          <p:nvPr/>
        </p:nvSpPr>
        <p:spPr>
          <a:xfrm>
            <a:off x="457200" y="1874520"/>
            <a:ext cx="8229600" cy="457200"/>
          </a:xfrm>
          <a:prstGeom prst="rect">
            <a:avLst/>
          </a:prstGeom>
          <a:noFill/>
          <a:ln/>
        </p:spPr>
        <p:txBody>
          <a:bodyPr wrap="square" rtlCol="0" anchor="ctr"/>
          <a:lstStyle/>
          <a:p>
            <a:pPr algn="ctr" indent="0" marL="0">
              <a:buNone/>
            </a:pPr>
            <a:r>
              <a:rPr lang="en-US" sz="2000" dirty="0">
                <a:solidFill>
                  <a:srgbClr val="0EA5E9"/>
                </a:solidFill>
              </a:rPr>
              <a:t>Questions &amp; Live Demo</a:t>
            </a:r>
            <a:endParaRPr lang="en-US" sz="2000" dirty="0"/>
          </a:p>
        </p:txBody>
      </p:sp>
      <p:sp>
        <p:nvSpPr>
          <p:cNvPr id="6" name="Shape 4"/>
          <p:cNvSpPr/>
          <p:nvPr/>
        </p:nvSpPr>
        <p:spPr>
          <a:xfrm>
            <a:off x="3200400" y="2468880"/>
            <a:ext cx="2743200" cy="36576"/>
          </a:xfrm>
          <a:prstGeom prst="rect">
            <a:avLst/>
          </a:prstGeom>
          <a:solidFill>
            <a:srgbClr val="1B3A6B"/>
          </a:solidFill>
          <a:ln w="12700">
            <a:solidFill>
              <a:srgbClr val="1B3A6B"/>
            </a:solidFill>
            <a:prstDash val="solid"/>
          </a:ln>
        </p:spPr>
      </p:sp>
      <p:sp>
        <p:nvSpPr>
          <p:cNvPr id="7" name="Text 5"/>
          <p:cNvSpPr/>
          <p:nvPr/>
        </p:nvSpPr>
        <p:spPr>
          <a:xfrm>
            <a:off x="457200" y="2743200"/>
            <a:ext cx="8229600" cy="365760"/>
          </a:xfrm>
          <a:prstGeom prst="rect">
            <a:avLst/>
          </a:prstGeom>
          <a:noFill/>
          <a:ln/>
        </p:spPr>
        <p:txBody>
          <a:bodyPr wrap="square" rtlCol="0" anchor="ctr"/>
          <a:lstStyle/>
          <a:p>
            <a:pPr algn="ctr" indent="0" marL="0">
              <a:buNone/>
            </a:pPr>
            <a:r>
              <a:rPr lang="en-US" sz="1300" b="1" dirty="0">
                <a:solidFill>
                  <a:srgbClr val="94A3B8"/>
                </a:solidFill>
              </a:rPr>
              <a:t>🌐  Live App: </a:t>
            </a:r>
            <a:pPr algn="ctr" indent="0" marL="0">
              <a:buNone/>
            </a:pPr>
            <a:r>
              <a:rPr lang="en-US" sz="1300" dirty="0">
                <a:solidFill>
                  <a:srgbClr val="0EA5E9"/>
                </a:solidFill>
              </a:rPr>
              <a:t>https://week3-taskmanagement.onrender.com</a:t>
            </a:r>
            <a:endParaRPr lang="en-US" sz="1300" dirty="0"/>
          </a:p>
        </p:txBody>
      </p:sp>
      <p:sp>
        <p:nvSpPr>
          <p:cNvPr id="8" name="Text 6"/>
          <p:cNvSpPr/>
          <p:nvPr/>
        </p:nvSpPr>
        <p:spPr>
          <a:xfrm>
            <a:off x="457200" y="4297680"/>
            <a:ext cx="8229600" cy="365760"/>
          </a:xfrm>
          <a:prstGeom prst="rect">
            <a:avLst/>
          </a:prstGeom>
          <a:noFill/>
          <a:ln/>
        </p:spPr>
        <p:txBody>
          <a:bodyPr wrap="square" rtlCol="0" anchor="ctr"/>
          <a:lstStyle/>
          <a:p>
            <a:pPr algn="ctr" indent="0" marL="0">
              <a:buNone/>
            </a:pPr>
            <a:r>
              <a:rPr lang="en-US" sz="1200" b="1" dirty="0">
                <a:solidFill>
                  <a:srgbClr val="FFFFFF"/>
                </a:solidFill>
              </a:rPr>
              <a:t>Jeevan Kumar Gujja  </a:t>
            </a:r>
            <a:pPr algn="ctr" indent="0" marL="0">
              <a:buNone/>
            </a:pPr>
            <a:r>
              <a:rPr lang="en-US" sz="1200" dirty="0">
                <a:solidFill>
                  <a:srgbClr val="64748B"/>
                </a:solidFill>
              </a:rPr>
              <a:t>|  Java Developer Trainee  |  Hashclick Solutions LLC</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Management System - Hashclick Week 3 &amp; 4</dc:title>
  <dc:subject>PptxGenJS Presentation</dc:subject>
  <dc:creator>Jeevan Kumar Gujja</dc:creator>
  <cp:lastModifiedBy>Jeevan Kumar Gujja</cp:lastModifiedBy>
  <cp:revision>1</cp:revision>
  <dcterms:created xsi:type="dcterms:W3CDTF">2026-06-12T05:57:33Z</dcterms:created>
  <dcterms:modified xsi:type="dcterms:W3CDTF">2026-06-12T05:57:33Z</dcterms:modified>
</cp:coreProperties>
</file>